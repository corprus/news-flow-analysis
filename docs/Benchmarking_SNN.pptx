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Комментарий к доработке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В доработанной версии сужена ЦА до аналитика малого/среднего отраслевого или маркетингового исследовательского агентства, работающего для создания B2B-обзоров рынков.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Время подготовки обзора больше не используется как прямой benchmark продукта, так как зависит от процесса клиента. Оно оставлено как ожидаемый эффект пилота. Бенчмарки перенесены на измеримые характеристики выдачи: кластеризация инфоповодов, ошибочная склейка разных событий, дубли в Top-N, выявление значимых обновлений, ранжирование по новизне, семантический поиск и скорость обработки после импорта.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Прямые SaaS-конкуренты рассматриваются как функциональные и ценовые ориентиры. Численное сравнение выполняется относительно воспроизводимых baseline-методов и ручной экспертной разметки контрольной выборки.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502920" y="3200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Semantic News Novelty</a:t>
            </a:r>
            <a:endParaRPr/>
          </a:p>
        </p:txBody>
      </p:sp>
      <p:sp>
        <p:nvSpPr>
          <p:cNvPr id="13" name="Google Shape;13;p3"/>
          <p:cNvSpPr txBox="1"/>
          <p:nvPr/>
        </p:nvSpPr>
        <p:spPr>
          <a:xfrm>
            <a:off x="530352" y="93268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677388"/>
                </a:solidFill>
              </a:rPr>
              <a:t>Модуль постобработки открытого информационного потока для отраслевого desk research</a:t>
            </a:r>
            <a:endParaRPr sz="15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7388"/>
              </a:solidFill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365760" y="1417320"/>
            <a:ext cx="3520440" cy="1325880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22850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530352" y="1545336"/>
            <a:ext cx="3191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Что это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530352" y="1847088"/>
            <a:ext cx="3191256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модуль постобработки тематического</a:t>
            </a:r>
            <a:br>
              <a:rPr b="0" i="0" lang="en-US" sz="1650" u="none" cap="none" strike="noStrike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новостного потока</a:t>
            </a:r>
            <a:endParaRPr b="0" i="0" sz="1650" u="none" cap="none" strike="noStrike">
              <a:solidFill>
                <a:srgbClr val="6773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251960" y="1417320"/>
            <a:ext cx="3611880" cy="1325880"/>
          </a:xfrm>
          <a:prstGeom prst="roundRect">
            <a:avLst>
              <a:gd fmla="val 16667" name="adj"/>
            </a:avLst>
          </a:prstGeom>
          <a:solidFill>
            <a:srgbClr val="F6F1FF"/>
          </a:solidFill>
          <a:ln cap="flat" cmpd="sng" w="22850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416552" y="1545336"/>
            <a:ext cx="32826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32848"/>
                </a:solidFill>
              </a:rPr>
              <a:t>ЦА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4416552" y="1892808"/>
            <a:ext cx="3282696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E2632"/>
                </a:solidFill>
              </a:rPr>
              <a:t>аналитик малого/среднего исследовательского агентства</a:t>
            </a:r>
            <a:endParaRPr sz="1500"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30">
              <a:solidFill>
                <a:srgbClr val="677388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0" y="1417320"/>
            <a:ext cx="3749039" cy="1325880"/>
          </a:xfrm>
          <a:prstGeom prst="roundRect">
            <a:avLst>
              <a:gd fmla="val 16667" name="adj"/>
            </a:avLst>
          </a:prstGeom>
          <a:solidFill>
            <a:srgbClr val="F1F9F4"/>
          </a:solidFill>
          <a:ln cap="flat" cmpd="sng" w="22850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394192" y="1545336"/>
            <a:ext cx="34198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324400" y="1847125"/>
            <a:ext cx="3612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632"/>
                </a:solidFill>
              </a:rPr>
              <a:t>быстрее получить ключевую информацию для составления обзора без ручной вычитки с нуля</a:t>
            </a:r>
            <a:endParaRPr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80">
              <a:solidFill>
                <a:srgbClr val="677388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2926080"/>
            <a:ext cx="749808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85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530352" y="3127248"/>
            <a:ext cx="720547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Продукт помогает аналитикам: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627368" y="3493008"/>
            <a:ext cx="710845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1E2632"/>
                </a:solidFill>
              </a:rPr>
              <a:t>группировать публикации в инфоповоды</a:t>
            </a:r>
            <a:endParaRPr sz="15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1E2632"/>
                </a:solidFill>
              </a:rPr>
              <a:t>• находить дубли и близкие пересказы</a:t>
            </a:r>
            <a:endParaRPr sz="15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1E2632"/>
                </a:solidFill>
              </a:rPr>
              <a:t>• оставлять значимые обновления видимыми</a:t>
            </a:r>
            <a:endParaRPr sz="1550"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1E2632"/>
                </a:solidFill>
              </a:rPr>
              <a:t>• искать связанные материалы по смыслу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650">
              <a:solidFill>
                <a:srgbClr val="1E2632"/>
              </a:solidFill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097280" y="5623560"/>
            <a:ext cx="1783080" cy="384048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17775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1097280" y="5632704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166E6"/>
                </a:solidFill>
                <a:latin typeface="Arial"/>
                <a:ea typeface="Arial"/>
                <a:cs typeface="Arial"/>
                <a:sym typeface="Arial"/>
              </a:rPr>
              <a:t>кластеры тем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429000" y="5623560"/>
            <a:ext cx="1828800" cy="384048"/>
          </a:xfrm>
          <a:prstGeom prst="roundRect">
            <a:avLst>
              <a:gd fmla="val 16667" name="adj"/>
            </a:avLst>
          </a:prstGeom>
          <a:solidFill>
            <a:srgbClr val="F6F1FF"/>
          </a:solidFill>
          <a:ln cap="flat" cmpd="sng" w="17775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3429000" y="563270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A4BFF"/>
                </a:solidFill>
                <a:latin typeface="Arial"/>
                <a:ea typeface="Arial"/>
                <a:cs typeface="Arial"/>
                <a:sym typeface="Arial"/>
              </a:rPr>
              <a:t>дедупликация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806440" y="562356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F1F9F4"/>
          </a:solidFill>
          <a:ln cap="flat" cmpd="sng" w="17775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5806440" y="563270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E8A5B"/>
                </a:solidFill>
              </a:rPr>
              <a:t>сюжетная новизна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458200" y="5623560"/>
            <a:ext cx="2331720" cy="384048"/>
          </a:xfrm>
          <a:prstGeom prst="roundRect">
            <a:avLst>
              <a:gd fmla="val 16667" name="adj"/>
            </a:avLst>
          </a:prstGeom>
          <a:solidFill>
            <a:srgbClr val="FCF5EC"/>
          </a:solidFill>
          <a:ln cap="flat" cmpd="sng" w="17775">
            <a:solidFill>
              <a:srgbClr val="D17A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8458200" y="5632704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" u="none" cap="none" strike="noStrike">
                <a:solidFill>
                  <a:srgbClr val="D17A22"/>
                </a:solidFill>
                <a:latin typeface="Arial"/>
                <a:ea typeface="Arial"/>
                <a:cs typeface="Arial"/>
                <a:sym typeface="Arial"/>
              </a:rPr>
              <a:t>семантический поиск</a:t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229600" y="2926080"/>
            <a:ext cx="3749038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8394192" y="3127248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Позиционирование</a:t>
            </a:r>
            <a:endParaRPr b="1" i="0" sz="1800" u="none" cap="none" strike="noStrike">
              <a:solidFill>
                <a:srgbClr val="132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8394200" y="3547875"/>
            <a:ext cx="3542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  <a:t>не full-cycle мониторинг источников</a:t>
            </a:r>
            <a:br>
              <a:rPr b="0" i="0" lang="en-US" sz="1650" u="none" cap="none" strike="noStrike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  <a:t>работа поверх уже собранного потока клиента</a:t>
            </a:r>
            <a:br>
              <a:rPr b="0" i="0" lang="en-US" sz="1650" u="none" cap="none" strike="noStrike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50" u="none" cap="none" strike="noStrike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  <a:t>даём удобную </a:t>
            </a:r>
            <a:r>
              <a:rPr lang="en-US" sz="1650">
                <a:solidFill>
                  <a:srgbClr val="1E2632"/>
                </a:solidFill>
              </a:rPr>
              <a:t>базу для отчета</a:t>
            </a:r>
            <a:endParaRPr b="0" i="0" sz="1650" u="none" cap="none" strike="noStrike">
              <a:solidFill>
                <a:srgbClr val="1E26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458200" y="5623560"/>
            <a:ext cx="2331720" cy="384048"/>
          </a:xfrm>
          <a:prstGeom prst="roundRect">
            <a:avLst>
              <a:gd fmla="val 16667" name="adj"/>
            </a:avLst>
          </a:prstGeom>
          <a:solidFill>
            <a:srgbClr val="FCF5EC"/>
          </a:solidFill>
          <a:ln cap="flat" cmpd="sng" w="17775">
            <a:solidFill>
              <a:srgbClr val="D17A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8458200" y="5632704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" u="none" cap="none" strike="noStrike">
                <a:solidFill>
                  <a:srgbClr val="D17A22"/>
                </a:solidFill>
                <a:latin typeface="Arial"/>
                <a:ea typeface="Arial"/>
                <a:cs typeface="Arial"/>
                <a:sym typeface="Arial"/>
              </a:rPr>
              <a:t>семантический поиск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Потребность и текущий процесс</a:t>
            </a:r>
            <a:endParaRPr b="1" sz="3000">
              <a:solidFill>
                <a:srgbClr val="132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530350" y="932700"/>
            <a:ext cx="1060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677388"/>
                </a:solidFill>
              </a:rPr>
              <a:t>Фокус на ЦА: не “все аналитики”, а конкретно аналитические </a:t>
            </a:r>
            <a:r>
              <a:rPr lang="en-US" sz="1500">
                <a:solidFill>
                  <a:srgbClr val="677388"/>
                </a:solidFill>
              </a:rPr>
              <a:t>агентства</a:t>
            </a:r>
            <a:r>
              <a:rPr lang="en-US" sz="1500">
                <a:solidFill>
                  <a:srgbClr val="677388"/>
                </a:solidFill>
              </a:rPr>
              <a:t> для составления платного B2B-обзора рынка.</a:t>
            </a:r>
            <a:endParaRPr sz="1500">
              <a:solidFill>
                <a:srgbClr val="6773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7388"/>
              </a:solidFill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" y="1508760"/>
            <a:ext cx="534924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850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758952" y="1709928"/>
            <a:ext cx="4846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Кто </a:t>
            </a:r>
            <a:r>
              <a:rPr b="1" lang="en-US" sz="1850">
                <a:solidFill>
                  <a:srgbClr val="132848"/>
                </a:solidFill>
              </a:rPr>
              <a:t>пользователь сервиса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841248" y="2075688"/>
            <a:ext cx="4764024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400"/>
              <a:buChar char="●"/>
            </a:pPr>
            <a:r>
              <a:rPr lang="en-US">
                <a:solidFill>
                  <a:srgbClr val="1E2632"/>
                </a:solidFill>
              </a:rPr>
              <a:t>аналитик малого/среднего отраслевого или маркетингового исследовательского агентства</a:t>
            </a:r>
            <a:endParaRPr>
              <a:solidFill>
                <a:srgbClr val="1E263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400"/>
              <a:buChar char="●"/>
            </a:pPr>
            <a:r>
              <a:rPr lang="en-US">
                <a:solidFill>
                  <a:srgbClr val="1E2632"/>
                </a:solidFill>
              </a:rPr>
              <a:t>готовит B2B-обзоры рынков и тематические подборки для клиентов</a:t>
            </a:r>
            <a:endParaRPr>
              <a:solidFill>
                <a:srgbClr val="1E263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400"/>
              <a:buChar char="●"/>
            </a:pPr>
            <a:r>
              <a:rPr lang="en-US">
                <a:solidFill>
                  <a:srgbClr val="1E2632"/>
                </a:solidFill>
              </a:rPr>
              <a:t>использует открытые источники: новости, сайты компаний, пресс-релизы, Telegram/RSS</a:t>
            </a:r>
            <a:endParaRPr>
              <a:solidFill>
                <a:srgbClr val="1E263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400"/>
              <a:buChar char="●"/>
            </a:pPr>
            <a:r>
              <a:rPr lang="en-US">
                <a:solidFill>
                  <a:srgbClr val="1E2632"/>
                </a:solidFill>
              </a:rPr>
              <a:t>не имеет собственной ML-команды для обработки текстового потока</a:t>
            </a:r>
            <a:endParaRPr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E2632"/>
              </a:solidFill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217920" y="1508760"/>
            <a:ext cx="530352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850">
            <a:solidFill>
              <a:srgbClr val="E1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473952" y="1709928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Решаемые проблемы (боль клиента)</a:t>
            </a:r>
            <a:endParaRPr b="1" sz="1850">
              <a:solidFill>
                <a:srgbClr val="132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556616" y="2075688"/>
            <a:ext cx="471793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3111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300"/>
              <a:buChar char="●"/>
            </a:pPr>
            <a:r>
              <a:rPr lang="en-US" sz="1300">
                <a:solidFill>
                  <a:srgbClr val="1E2632"/>
                </a:solidFill>
              </a:rPr>
              <a:t>много источников и повторов одного инфоповода</a:t>
            </a:r>
            <a:endParaRPr sz="1300">
              <a:solidFill>
                <a:srgbClr val="1E2632"/>
              </a:solidFill>
            </a:endParaRPr>
          </a:p>
          <a:p>
            <a:pPr indent="-3111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300"/>
              <a:buChar char="●"/>
            </a:pPr>
            <a:r>
              <a:rPr lang="en-US" sz="1300">
                <a:solidFill>
                  <a:srgbClr val="1E2632"/>
                </a:solidFill>
              </a:rPr>
              <a:t>простые фильтры по словам не собирают публикации в рабочую структуру обзора</a:t>
            </a:r>
            <a:endParaRPr sz="1300">
              <a:solidFill>
                <a:srgbClr val="1E2632"/>
              </a:solidFill>
            </a:endParaRPr>
          </a:p>
          <a:p>
            <a:pPr indent="-3111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300"/>
              <a:buChar char="●"/>
            </a:pPr>
            <a:r>
              <a:rPr lang="en-US" sz="1300">
                <a:solidFill>
                  <a:srgbClr val="1E2632"/>
                </a:solidFill>
              </a:rPr>
              <a:t>нужно отличать повтор, уточнение и значимое обновление</a:t>
            </a:r>
            <a:endParaRPr sz="1300">
              <a:solidFill>
                <a:srgbClr val="1E2632"/>
              </a:solidFill>
            </a:endParaRPr>
          </a:p>
          <a:p>
            <a:pPr indent="-3111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300"/>
              <a:buChar char="●"/>
            </a:pPr>
            <a:r>
              <a:rPr lang="en-US" sz="1300">
                <a:solidFill>
                  <a:srgbClr val="1E2632"/>
                </a:solidFill>
              </a:rPr>
              <a:t>граница “дубль / новый инфоповод” субъективна и зависит от темы</a:t>
            </a:r>
            <a:endParaRPr sz="1300">
              <a:solidFill>
                <a:srgbClr val="1E2632"/>
              </a:solidFill>
            </a:endParaRPr>
          </a:p>
          <a:p>
            <a:pPr indent="-3111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632"/>
              </a:buClr>
              <a:buSzPts val="1300"/>
              <a:buChar char="●"/>
            </a:pPr>
            <a:r>
              <a:rPr lang="en-US" sz="1300">
                <a:solidFill>
                  <a:srgbClr val="1E2632"/>
                </a:solidFill>
              </a:rPr>
              <a:t>чем быстрее будет сделан анализ, тем он актуальнее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632"/>
              </a:solidFill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2920" y="5074920"/>
            <a:ext cx="11018520" cy="1143000"/>
          </a:xfrm>
          <a:prstGeom prst="roundRect">
            <a:avLst>
              <a:gd fmla="val 16667" name="adj"/>
            </a:avLst>
          </a:prstGeom>
          <a:solidFill>
            <a:srgbClr val="F2F7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58952" y="518464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0">
                <a:solidFill>
                  <a:srgbClr val="132848"/>
                </a:solidFill>
              </a:rPr>
              <a:t>Цель решения</a:t>
            </a:r>
            <a:endParaRPr b="1" sz="1530">
              <a:solidFill>
                <a:srgbClr val="132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58952" y="5446667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">
                <a:solidFill>
                  <a:srgbClr val="3166E6"/>
                </a:solidFill>
                <a:latin typeface="Arial"/>
                <a:ea typeface="Arial"/>
                <a:cs typeface="Arial"/>
                <a:sym typeface="Arial"/>
              </a:rPr>
              <a:t>время подготовки </a:t>
            </a:r>
            <a:r>
              <a:rPr b="1" lang="en-US" sz="1540">
                <a:solidFill>
                  <a:srgbClr val="3166E6"/>
                </a:solidFill>
              </a:rPr>
              <a:t>обзора - желаемый эффект для клиента</a:t>
            </a:r>
            <a:endParaRPr b="1" sz="1540">
              <a:solidFill>
                <a:srgbClr val="3166E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41248" y="5678260"/>
            <a:ext cx="9784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>
                <a:solidFill>
                  <a:srgbClr val="677388"/>
                </a:solidFill>
              </a:rPr>
              <a:t>Но при этом не является бенчмарком, так как эффект не может быть стально расчитан и сильно зависит от человеческого фактора</a:t>
            </a:r>
            <a:endParaRPr b="0" sz="1060">
              <a:solidFill>
                <a:srgbClr val="6773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502920" y="274320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Конкурентная карта: с чем сравниваемся</a:t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530350" y="841251"/>
            <a:ext cx="10607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Большие SaaS — ориентир по рынку и функциям.</a:t>
            </a:r>
            <a:r>
              <a:rPr lang="en-US" sz="1480">
                <a:solidFill>
                  <a:srgbClr val="677388"/>
                </a:solidFill>
              </a:rPr>
              <a:t> </a:t>
            </a:r>
            <a:r>
              <a:rPr lang="en-US" sz="1500">
                <a:solidFill>
                  <a:srgbClr val="677388"/>
                </a:solidFill>
              </a:rPr>
              <a:t>Численные бенчмарки строим не по закрытым SaaS-метрикам, а на воспроизводимых baseline.</a:t>
            </a:r>
            <a:endParaRPr sz="15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>
              <a:solidFill>
                <a:srgbClr val="677388"/>
              </a:solidFill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5" y="1353300"/>
            <a:ext cx="4798500" cy="1716900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18125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225" lIns="72500" spcFirstLastPara="1" rIns="72500" wrap="square" tIns="36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777100" y="1445542"/>
            <a:ext cx="4249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132848"/>
                </a:solidFill>
              </a:rPr>
              <a:t>Текущий процесс клиента</a:t>
            </a:r>
            <a:endParaRPr b="1" sz="1427">
              <a:solidFill>
                <a:srgbClr val="132848"/>
              </a:solidFill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777100" y="1759301"/>
            <a:ext cx="42498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632"/>
                </a:solidFill>
              </a:rPr>
              <a:t>Для входящего потока требуется скрупулезная экспертная вычитка для убирания дублей, выделения ключевых новостей.</a:t>
            </a:r>
            <a:endParaRPr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E2632"/>
              </a:solidFill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024550" y="1353300"/>
            <a:ext cx="5112900" cy="1716900"/>
          </a:xfrm>
          <a:prstGeom prst="roundRect">
            <a:avLst>
              <a:gd fmla="val 16667" name="adj"/>
            </a:avLst>
          </a:prstGeom>
          <a:solidFill>
            <a:srgbClr val="FEF3F3"/>
          </a:solidFill>
          <a:ln cap="flat" cmpd="sng" w="18125">
            <a:solidFill>
              <a:srgbClr val="E1454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225" lIns="72500" spcFirstLastPara="1" rIns="72500" wrap="square" tIns="36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6316720" y="1445550"/>
            <a:ext cx="45288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7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Простые </a:t>
            </a:r>
            <a:r>
              <a:rPr b="1" lang="en-US" sz="1427">
                <a:solidFill>
                  <a:srgbClr val="132848"/>
                </a:solidFill>
              </a:rPr>
              <a:t>альтернативные инструменты</a:t>
            </a:r>
            <a:endParaRPr sz="1110"/>
          </a:p>
        </p:txBody>
      </p:sp>
      <p:sp>
        <p:nvSpPr>
          <p:cNvPr id="68" name="Google Shape;68;p5"/>
          <p:cNvSpPr txBox="1"/>
          <p:nvPr/>
        </p:nvSpPr>
        <p:spPr>
          <a:xfrm>
            <a:off x="6316725" y="1759100"/>
            <a:ext cx="45288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632"/>
                </a:solidFill>
              </a:rPr>
              <a:t>RSS, Telegram, Google/Yandex поиск.</a:t>
            </a:r>
            <a:endParaRPr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E2632"/>
                </a:solidFill>
              </a:rPr>
              <a:t>Дают поток, но не структуру инфоповодов. Это нижний порог входа, baseline.</a:t>
            </a:r>
            <a:endParaRPr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E263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10"/>
          </a:p>
        </p:txBody>
      </p:sp>
      <p:sp>
        <p:nvSpPr>
          <p:cNvPr id="69" name="Google Shape;69;p5"/>
          <p:cNvSpPr/>
          <p:nvPr/>
        </p:nvSpPr>
        <p:spPr>
          <a:xfrm>
            <a:off x="530350" y="3402200"/>
            <a:ext cx="4771200" cy="1943400"/>
          </a:xfrm>
          <a:prstGeom prst="roundRect">
            <a:avLst>
              <a:gd fmla="val 16667" name="adj"/>
            </a:avLst>
          </a:prstGeom>
          <a:solidFill>
            <a:srgbClr val="F1F9F4"/>
          </a:solidFill>
          <a:ln cap="flat" cmpd="sng" w="28325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650" lIns="113300" spcFirstLastPara="1" rIns="113300" wrap="square" tIns="56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810253" y="3494834"/>
            <a:ext cx="42114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31">
                <a:solidFill>
                  <a:srgbClr val="132848"/>
                </a:solidFill>
              </a:rPr>
              <a:t>Full-cycle SaaS</a:t>
            </a:r>
            <a:endParaRPr sz="1735"/>
          </a:p>
        </p:txBody>
      </p:sp>
      <p:sp>
        <p:nvSpPr>
          <p:cNvPr id="71" name="Google Shape;71;p5"/>
          <p:cNvSpPr txBox="1"/>
          <p:nvPr/>
        </p:nvSpPr>
        <p:spPr>
          <a:xfrm>
            <a:off x="810250" y="3822474"/>
            <a:ext cx="42114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632"/>
                </a:solidFill>
              </a:rPr>
              <a:t>Feedly MI, NewsWhip, Медиалогия / Brand Analytics.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1E2632"/>
                </a:solidFill>
              </a:rPr>
              <a:t>Ориентир по рынку и функциям.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632"/>
                </a:solidFill>
              </a:rPr>
              <a:t>Дают обзор рынка в целом, не специализируясь на конкретном потоке информации, нужном для клиента, дороги для нашего клиента.</a:t>
            </a:r>
            <a:endParaRPr sz="1300"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620"/>
              </a:spcBef>
              <a:spcAft>
                <a:spcPts val="0"/>
              </a:spcAft>
              <a:buNone/>
            </a:pPr>
            <a:r>
              <a:t/>
            </a:r>
            <a:endParaRPr sz="1597">
              <a:solidFill>
                <a:srgbClr val="1E2632"/>
              </a:solidFill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5581642"/>
            <a:ext cx="10972800" cy="1143000"/>
          </a:xfrm>
          <a:prstGeom prst="roundRect">
            <a:avLst>
              <a:gd fmla="val 16667" name="adj"/>
            </a:avLst>
          </a:prstGeom>
          <a:solidFill>
            <a:srgbClr val="F2F7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22960" y="5819386"/>
            <a:ext cx="146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Вывод</a:t>
            </a:r>
            <a:endParaRPr b="1" sz="1580">
              <a:solidFill>
                <a:srgbClr val="1328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822950" y="6130273"/>
            <a:ext cx="100584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166E6"/>
                </a:solidFill>
              </a:rPr>
              <a:t>Вывод: быть лучше поиска по ключевым словам недостаточно. Минимальный стандарт — рабочая структура обзора: инфоповоды сгруппированы, ключевые обновления выделены, явные повторы скрыты</a:t>
            </a:r>
            <a:endParaRPr b="1" sz="1350">
              <a:solidFill>
                <a:srgbClr val="3166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0">
              <a:solidFill>
                <a:srgbClr val="3166E6"/>
              </a:solidFill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024550" y="3409350"/>
            <a:ext cx="5112900" cy="1936200"/>
          </a:xfrm>
          <a:prstGeom prst="roundRect">
            <a:avLst>
              <a:gd fmla="val 16667" name="adj"/>
            </a:avLst>
          </a:prstGeom>
          <a:solidFill>
            <a:srgbClr val="D9D2E9">
              <a:alpha val="68750"/>
            </a:srgbClr>
          </a:solidFill>
          <a:ln cap="flat" cmpd="sng" w="28325">
            <a:solidFill>
              <a:srgbClr val="99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6650" lIns="113300" spcFirstLastPara="1" rIns="113300" wrap="square" tIns="56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6324499" y="3501599"/>
            <a:ext cx="45129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848"/>
                </a:solidFill>
              </a:rPr>
              <a:t>Наш проект</a:t>
            </a:r>
            <a:endParaRPr b="1" sz="180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31">
              <a:solidFill>
                <a:srgbClr val="132848"/>
              </a:solidFill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6308625" y="3827875"/>
            <a:ext cx="46320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1E2632"/>
                </a:solidFill>
              </a:rPr>
              <a:t>Предоставляет первичную преобработку потока информации, предоставленном клиентом.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rgbClr val="1E2632"/>
                </a:solidFill>
              </a:rPr>
              <a:t>Позволяет убрать из потока рутину дедупликации, выделения ключевых сюжетов, и ключевых новостей в них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632"/>
                </a:solidFill>
              </a:rPr>
              <a:t>Позволяет эксперту быстрее переходить непосредственно анализу.</a:t>
            </a:r>
            <a:endParaRPr sz="130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620"/>
              </a:spcBef>
              <a:spcAft>
                <a:spcPts val="0"/>
              </a:spcAft>
              <a:buNone/>
            </a:pPr>
            <a:r>
              <a:t/>
            </a:r>
            <a:endParaRPr sz="1597">
              <a:solidFill>
                <a:srgbClr val="1E26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/>
        </p:nvSpPr>
        <p:spPr>
          <a:xfrm>
            <a:off x="502920" y="274320"/>
            <a:ext cx="10332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8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Минимальные требования к функциональности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530352" y="841248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MVP фокусируется не на полном мониторинге источников, а на качестве постобработки уже собранного потока.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30352" y="1353312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94944" y="1517904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3166E6"/>
          </a:solidFill>
          <a:ln cap="flat" cmpd="sng" w="9525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694944" y="1527048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1188720" y="1499616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Импорт потока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713232" y="2011680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CSV / API / RSS / выгрузки клиента; работа с уже собранными публикациями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041648" y="1353312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206240" y="1517904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8A4BFF"/>
          </a:solidFill>
          <a:ln cap="flat" cmpd="sng" w="9525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206240" y="1527048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4700016" y="1499616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Кластеры тем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4224528" y="2011680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объединение похожих публикаций в смысловые группы / сюжеты</a:t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552944" y="1353312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717536" y="1517904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2E8A5B"/>
          </a:solidFill>
          <a:ln cap="flat" cmpd="sng" w="9525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717536" y="1527048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8211312" y="1499616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Дедупликация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7735824" y="2011680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поиск дублей и близких пересказов, снижение ручного просмотра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30352" y="3401568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94944" y="3566160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D17A22"/>
          </a:solidFill>
          <a:ln cap="flat" cmpd="sng" w="9525">
            <a:solidFill>
              <a:srgbClr val="D17A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694944" y="3575304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1188720" y="3547872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Оценка смысловой новизны</a:t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713232" y="4059936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ранжирование внутри темы: что добавляет новое, а что повторяет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041648" y="3401568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206240" y="3566160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3166E6"/>
          </a:solidFill>
          <a:ln cap="flat" cmpd="sng" w="9525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4206240" y="3575304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4700016" y="3547872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Семантический поиск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4224528" y="4059936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поиск по смыслу внутри базы клиента, а не только по ключевым словам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552944" y="3401568"/>
            <a:ext cx="3154680" cy="1645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03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717536" y="3566160"/>
            <a:ext cx="402336" cy="310896"/>
          </a:xfrm>
          <a:prstGeom prst="roundRect">
            <a:avLst>
              <a:gd fmla="val 16667" name="adj"/>
            </a:avLst>
          </a:prstGeom>
          <a:solidFill>
            <a:srgbClr val="8A4BFF"/>
          </a:solidFill>
          <a:ln cap="flat" cmpd="sng" w="9525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7717536" y="3575304"/>
            <a:ext cx="4023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8211312" y="3547872"/>
            <a:ext cx="22951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Выгрузка результата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7735824" y="4059936"/>
            <a:ext cx="2807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8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дайджест / таблица / API для дальнейшей работы аналитика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30352" y="5468112"/>
            <a:ext cx="10881360" cy="566928"/>
          </a:xfrm>
          <a:prstGeom prst="roundRect">
            <a:avLst>
              <a:gd fmla="val 16667" name="adj"/>
            </a:avLst>
          </a:prstGeom>
          <a:solidFill>
            <a:srgbClr val="FCF5EC"/>
          </a:solidFill>
          <a:ln cap="flat" cmpd="sng" w="16500">
            <a:solidFill>
              <a:srgbClr val="EBCDA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804672" y="5632704"/>
            <a:ext cx="10149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85A3C"/>
                </a:solidFill>
                <a:latin typeface="Arial"/>
                <a:ea typeface="Arial"/>
                <a:cs typeface="Arial"/>
                <a:sym typeface="Arial"/>
              </a:rPr>
              <a:t>Post-MVP: объяснение “новых фактов”, фактчекинг, подготовка дайджеста / отчета — отдельно, не как обязательство MVP.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502920" y="274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132848"/>
                </a:solidFill>
              </a:rPr>
              <a:t>Пилот, монетизация и контроль качества</a:t>
            </a:r>
            <a:endParaRPr b="1" sz="250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80">
              <a:solidFill>
                <a:srgbClr val="132848"/>
              </a:solidFill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30352" y="841248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677388"/>
                </a:solidFill>
              </a:rPr>
              <a:t>Доказательство ценности для клиента строится через контрольную выборку, baseline и сравнение с ручной разметкой.</a:t>
            </a:r>
            <a:endParaRPr sz="15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>
              <a:solidFill>
                <a:srgbClr val="677388"/>
              </a:solidFill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30350" y="1353297"/>
            <a:ext cx="5257800" cy="4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850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31520" y="1517904"/>
            <a:ext cx="4855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848"/>
                </a:solidFill>
              </a:rPr>
              <a:t>Пилотная проверка + калибровка под клиента</a:t>
            </a:r>
            <a:endParaRPr b="1" sz="180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32848"/>
              </a:solidFill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49800" y="2184000"/>
            <a:ext cx="4818900" cy="3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E2632"/>
                </a:solidFill>
              </a:rPr>
              <a:t>• проводится на контрольной выборка 300–500 публикаций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1E2632"/>
                </a:solidFill>
              </a:rPr>
              <a:t>• сравнивается выдача модели с экспертной разметкой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эксперт — эталон, а не конкурент, поэтому возможны каблировки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В случае расхождения уровней кластеризации и выделения “важности”, пороги дедупликации, новизны и кластеризации могут подбираться исходя из необходимости клиента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Калибровка под клиента может проводиться в рамках пилота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</a:pPr>
            <a:r>
              <a:t/>
            </a:r>
            <a:endParaRPr sz="1350">
              <a:solidFill>
                <a:srgbClr val="1E2632"/>
              </a:solidFill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80750" y="1353297"/>
            <a:ext cx="5257800" cy="418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850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6281928" y="1517904"/>
            <a:ext cx="4855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Монетизация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6300216" y="1865376"/>
            <a:ext cx="4818888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B2B SaaS + платный пилот (в случае специфики клиента и необходимости калибровки)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бесплатный пилот на “дефолтных” настройках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1E2632"/>
                </a:solidFill>
              </a:rPr>
              <a:t>• стоимость “основной” версии после “калибровки” должны быть ниже full-cycle конкурентов</a:t>
            </a:r>
            <a:endParaRPr sz="1350">
              <a:solidFill>
                <a:srgbClr val="1E26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1E2632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632"/>
              </a:solidFill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30352" y="5642647"/>
            <a:ext cx="10808100" cy="1097400"/>
          </a:xfrm>
          <a:prstGeom prst="roundRect">
            <a:avLst>
              <a:gd fmla="val 16667" name="adj"/>
            </a:avLst>
          </a:prstGeom>
          <a:solidFill>
            <a:srgbClr val="FEF3F3"/>
          </a:solidFill>
          <a:ln cap="flat" cmpd="sng" w="17775">
            <a:solidFill>
              <a:srgbClr val="F0B4B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804672" y="5880391"/>
            <a:ext cx="347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0">
                <a:solidFill>
                  <a:srgbClr val="963C3C"/>
                </a:solidFill>
                <a:latin typeface="Arial"/>
                <a:ea typeface="Arial"/>
                <a:cs typeface="Arial"/>
                <a:sym typeface="Arial"/>
              </a:rPr>
              <a:t>Главный продуктовый риск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804672" y="6172999"/>
            <a:ext cx="996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40">
                <a:solidFill>
                  <a:srgbClr val="784646"/>
                </a:solidFill>
                <a:latin typeface="Arial"/>
                <a:ea typeface="Arial"/>
                <a:cs typeface="Arial"/>
                <a:sym typeface="Arial"/>
              </a:rPr>
              <a:t>клиент может быть удовлетворён текущим процессом или не считать экономию времени достаточной для покупки отдельного сервиса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/>
        </p:nvSpPr>
        <p:spPr>
          <a:xfrm>
            <a:off x="502920" y="292608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Минимальные бенчмарки MVP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530352" y="896112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677388"/>
                </a:solidFill>
              </a:rPr>
              <a:t>Бенчмарки считаются относительно ручной экспертной разметки / baseline на базовых алгоритмах</a:t>
            </a:r>
            <a:endParaRPr sz="145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7388"/>
              </a:solidFill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30352" y="144475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22850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694944" y="157276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0">
                <a:solidFill>
                  <a:srgbClr val="132848"/>
                </a:solidFill>
              </a:rPr>
              <a:t>Качество группировки</a:t>
            </a:r>
            <a:r>
              <a:rPr b="1" lang="en-US" sz="1450">
                <a:solidFill>
                  <a:srgbClr val="132848"/>
                </a:solidFill>
              </a:rPr>
              <a:t> инфорповодов</a:t>
            </a:r>
            <a:endParaRPr b="1" sz="145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0">
              <a:solidFill>
                <a:srgbClr val="132848"/>
              </a:solidFill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666241" y="2014796"/>
            <a:ext cx="2807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3166E6"/>
                </a:solidFill>
              </a:rPr>
              <a:t>Pairwise F1 ≥ 0.75–0.80</a:t>
            </a:r>
            <a:endParaRPr b="1" sz="1600">
              <a:solidFill>
                <a:srgbClr val="3166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3166E6"/>
              </a:solidFill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694944" y="2325692"/>
            <a:ext cx="2807208" cy="618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40">
                <a:solidFill>
                  <a:srgbClr val="677388"/>
                </a:solidFill>
                <a:latin typeface="Arial"/>
                <a:ea typeface="Arial"/>
                <a:cs typeface="Arial"/>
                <a:sym typeface="Arial"/>
              </a:rPr>
              <a:t>относительно ручной подготовки </a:t>
            </a:r>
            <a:r>
              <a:rPr lang="en-US" sz="1340">
                <a:solidFill>
                  <a:srgbClr val="677388"/>
                </a:solidFill>
              </a:rPr>
              <a:t>/ TF-IDF модели</a:t>
            </a:r>
            <a:endParaRPr b="0" sz="1340">
              <a:solidFill>
                <a:srgbClr val="6773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069080" y="144475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6F1FF"/>
          </a:solidFill>
          <a:ln cap="flat" cmpd="sng" w="22850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4233672" y="157276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132848"/>
                </a:solidFill>
              </a:rPr>
              <a:t>Объем ошибочной склейка</a:t>
            </a:r>
            <a:endParaRPr b="1" sz="145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0">
              <a:solidFill>
                <a:srgbClr val="132848"/>
              </a:solidFill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241032" y="2011680"/>
            <a:ext cx="28072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E14545"/>
                </a:solidFill>
              </a:rPr>
              <a:t>False merge ≤ 10–15%</a:t>
            </a:r>
            <a:endParaRPr b="1" sz="1600">
              <a:solidFill>
                <a:srgbClr val="E1454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8A4BFF"/>
              </a:solidFill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233672" y="2322576"/>
            <a:ext cx="28072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677388"/>
                </a:solidFill>
              </a:rPr>
              <a:t>Доля ошибочно “склеенных” новостей. Разные новости не должны склеиваться между собой</a:t>
            </a:r>
            <a:endParaRPr sz="12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rgbClr val="677388"/>
              </a:solidFill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607808" y="144475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1F9F4"/>
          </a:solidFill>
          <a:ln cap="flat" cmpd="sng" w="22850">
            <a:solidFill>
              <a:srgbClr val="2E8A5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7772400" y="157276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450">
                <a:solidFill>
                  <a:srgbClr val="132848"/>
                </a:solidFill>
              </a:rPr>
              <a:t>Дедупликация</a:t>
            </a:r>
            <a:endParaRPr b="1" sz="1450">
              <a:solidFill>
                <a:srgbClr val="13284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2E8A5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0">
              <a:solidFill>
                <a:srgbClr val="132848"/>
              </a:solidFill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7805204" y="2011680"/>
            <a:ext cx="2807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rgbClr val="2E8A5B"/>
                </a:solidFill>
              </a:rPr>
              <a:t>Повторы в Top-10 -30%</a:t>
            </a:r>
            <a:endParaRPr b="1" sz="1600">
              <a:solidFill>
                <a:srgbClr val="2E8A5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2E8A5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E8A5B"/>
              </a:solidFill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7772400" y="2322576"/>
            <a:ext cx="28072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доля дублей / пересказов в первых 10 материалах выдачи должна быть как минимум на 30% ниже, чем у baseline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2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rgbClr val="677388"/>
              </a:solidFill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30352" y="345643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CF5EC"/>
          </a:solidFill>
          <a:ln cap="flat" cmpd="sng" w="22850">
            <a:solidFill>
              <a:srgbClr val="D17A2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94944" y="358444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132848"/>
                </a:solidFill>
              </a:rPr>
              <a:t>F1 важных обновлений</a:t>
            </a:r>
            <a:endParaRPr b="1" sz="145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0">
              <a:solidFill>
                <a:srgbClr val="132848"/>
              </a:solidFill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694950" y="4042025"/>
            <a:ext cx="2908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17A22"/>
                </a:solidFill>
              </a:rPr>
              <a:t>&gt;=0.75</a:t>
            </a:r>
            <a:endParaRPr b="1" sz="2000">
              <a:solidFill>
                <a:srgbClr val="D17A2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17A22"/>
              </a:solidFill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94950" y="4374000"/>
            <a:ext cx="2807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Система должна важные новости помечать достаточно близко к эксперту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069080" y="345643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1F6FF"/>
          </a:solidFill>
          <a:ln cap="flat" cmpd="sng" w="22850">
            <a:solidFill>
              <a:srgbClr val="3166E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233672" y="358444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0">
                <a:solidFill>
                  <a:srgbClr val="13284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b="1" lang="en-US" sz="1620">
                <a:solidFill>
                  <a:srgbClr val="132848"/>
                </a:solidFill>
              </a:rPr>
              <a:t> важных обновлений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4233672" y="4023360"/>
            <a:ext cx="2807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166E6"/>
                </a:solidFill>
                <a:latin typeface="Arial"/>
                <a:ea typeface="Arial"/>
                <a:cs typeface="Arial"/>
                <a:sym typeface="Arial"/>
              </a:rPr>
              <a:t>≥ 0.</a:t>
            </a:r>
            <a:r>
              <a:rPr b="1" lang="en-US" sz="2000">
                <a:solidFill>
                  <a:srgbClr val="3166E6"/>
                </a:solidFill>
              </a:rPr>
              <a:t>8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4233672" y="4334256"/>
            <a:ext cx="28072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>
                <a:solidFill>
                  <a:srgbClr val="677388"/>
                </a:solidFill>
              </a:rPr>
              <a:t>Лучше показать чуть больше, чем скрыть важное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7602908" y="3456432"/>
            <a:ext cx="3136392" cy="1627632"/>
          </a:xfrm>
          <a:prstGeom prst="roundRect">
            <a:avLst>
              <a:gd fmla="val 16667" name="adj"/>
            </a:avLst>
          </a:prstGeom>
          <a:solidFill>
            <a:srgbClr val="F6F1FF"/>
          </a:solidFill>
          <a:ln cap="flat" cmpd="sng" w="22850">
            <a:solidFill>
              <a:srgbClr val="8A4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7772400" y="3584448"/>
            <a:ext cx="2807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132848"/>
                </a:solidFill>
              </a:rPr>
              <a:t>Семантический поиск</a:t>
            </a:r>
            <a:endParaRPr b="1" sz="145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20">
              <a:solidFill>
                <a:srgbClr val="132848"/>
              </a:solidFill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7772400" y="3959352"/>
            <a:ext cx="2807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3166E6"/>
                </a:solidFill>
              </a:rPr>
              <a:t>MRR@10 &gt; keyword</a:t>
            </a:r>
            <a:endParaRPr b="1" sz="1600">
              <a:solidFill>
                <a:srgbClr val="3166E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8A4BFF"/>
              </a:solidFill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7772400" y="4334256"/>
            <a:ext cx="28072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677388"/>
                </a:solidFill>
              </a:rPr>
              <a:t>наш “поиск по смыслу” должен показывать лучшую выдачу, нежели по ключевым словам</a:t>
            </a:r>
            <a:endParaRPr sz="12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>
              <a:solidFill>
                <a:srgbClr val="677388"/>
              </a:solidFill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30352" y="5376672"/>
            <a:ext cx="10881360" cy="658368"/>
          </a:xfrm>
          <a:prstGeom prst="roundRect">
            <a:avLst>
              <a:gd fmla="val 16667" name="adj"/>
            </a:avLst>
          </a:prstGeom>
          <a:solidFill>
            <a:srgbClr val="F2F7FF"/>
          </a:solidFill>
          <a:ln cap="flat" cmpd="sng" w="16500">
            <a:solidFill>
              <a:srgbClr val="C6D1E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04672" y="5468112"/>
            <a:ext cx="100584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132848"/>
                </a:solidFill>
              </a:rPr>
              <a:t>Время ручной вычитки — ожидаемый клиентский эффект пилота, а не прямой benchmark продукта.</a:t>
            </a:r>
            <a:endParaRPr b="1" sz="1450">
              <a:solidFill>
                <a:srgbClr val="13284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677388"/>
                </a:solidFill>
              </a:rPr>
              <a:t>Продукт успешен, если его выдача ближе к экспертной разметке, чем baseline, и проходит минимальные пороги качества.</a:t>
            </a:r>
            <a:endParaRPr sz="1200">
              <a:solidFill>
                <a:srgbClr val="67738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3284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0">
              <a:solidFill>
                <a:srgbClr val="13284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