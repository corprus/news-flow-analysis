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78" r:id="rId5"/>
    <p:sldId id="260" r:id="rId6"/>
    <p:sldId id="261" r:id="rId7"/>
    <p:sldId id="27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628" autoAdjust="0"/>
  </p:normalViewPr>
  <p:slideViewPr>
    <p:cSldViewPr snapToGrid="0" snapToObjects="1">
      <p:cViewPr varScale="1">
        <p:scale>
          <a:sx n="109" d="100"/>
          <a:sy n="109" d="100"/>
        </p:scale>
        <p:origin x="131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21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Идея проекта началась с простой личной боли: я устал от потока похожих новостей. Одно и то же событие пересказывается десятками публикаций, заголовки отличаются, а смысл часто остаётся тем же.</a:t>
            </a:r>
            <a:endParaRPr lang="en-US" dirty="0"/>
          </a:p>
          <a:p>
            <a:endParaRPr lang="ru-RU" dirty="0"/>
          </a:p>
          <a:p>
            <a:r>
              <a:rPr lang="ru-RU" dirty="0" err="1"/>
              <a:t>Semantic</a:t>
            </a:r>
            <a:r>
              <a:rPr lang="ru-RU" dirty="0"/>
              <a:t> News </a:t>
            </a:r>
            <a:r>
              <a:rPr lang="ru-RU" dirty="0" err="1"/>
              <a:t>Novelty</a:t>
            </a:r>
            <a:r>
              <a:rPr lang="ru-RU" dirty="0"/>
              <a:t> — это сервис для снижения </a:t>
            </a:r>
            <a:r>
              <a:rPr lang="ru-RU" dirty="0" err="1"/>
              <a:t>инфошума</a:t>
            </a:r>
            <a:r>
              <a:rPr lang="ru-RU" dirty="0"/>
              <a:t> в новостном потоке. Он помогает превратить поток отдельных публикаций в понятные сюжеты и быстрее увидеть, где действительно появилось что-то новое.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обычного читателя повторяющиеся новости — это раздражение. Для аналитика это уже рабочая проблема.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аналитик готовит обзор по большому новостному потоку, ему нужно быстро увидеть основные сюжеты и не пропустить в них главное. Если этого не сделать, часы уходят на ручную вычитку, а важное обновление можно просто не заметить среди пересказов.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Пользователями моего сервиса являются аналитики, а покупателями я вижу различные </a:t>
            </a:r>
            <a:r>
              <a:rPr lang="en-US" dirty="0"/>
              <a:t>PR</a:t>
            </a:r>
            <a:r>
              <a:rPr lang="ru-RU" dirty="0"/>
              <a:t>, коммуникационные и отраслевые аналитические </a:t>
            </a:r>
            <a:r>
              <a:rPr lang="ru-RU" dirty="0" err="1"/>
              <a:t>агенства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9415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Где возникает экономический эффект? По открытым данным, у 47% PR-специалистов отчёты по СМИ и упоминаниям занимают не меньше четверти времени, а при 100+ упоминаниях в сутки ручной разбор становится узким местом. По отраслевым обзорам, потенциальной аудиторией может являться до 500 компаний, при реалистичном сегменте в 100-200 организаций, и первых пилотах на нескольких компаниях. </a:t>
            </a:r>
          </a:p>
          <a:p>
            <a:r>
              <a:rPr lang="ru-RU" dirty="0"/>
              <a:t>Если придерживаться гипотезы цены на продукт как части стоимости  времени работы аналитика, можно оценить во время пилотов объем рынка 1-6 млн в год, впоследствии – от 20 до 80 млн р.</a:t>
            </a:r>
          </a:p>
          <a:p>
            <a:r>
              <a:rPr lang="ru-RU" dirty="0"/>
              <a:t>Поэтому SNN — не замена полному медиамониторингу, а постобработка уже собранного потока; цена-гипотеза ниже части ручной нагрузки.</a:t>
            </a:r>
          </a:p>
        </p:txBody>
      </p:sp>
    </p:spTree>
    <p:extLst>
      <p:ext uri="{BB962C8B-B14F-4D97-AF65-F5344CB8AC3E}">
        <p14:creationId xmlns:p14="http://schemas.microsoft.com/office/powerpoint/2010/main" val="3062573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 продукта максимально простая: он группирует новости и показывает новое.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Сервис берёт поток публикаций, собирает похожие новости в сюжеты, оценивает смысловую новизну внутри сюжета и позволяет искать связанные материалы по смыслу.</a:t>
            </a:r>
            <a:r>
              <a:rPr lang="en-US" dirty="0"/>
              <a:t> </a:t>
            </a:r>
            <a:r>
              <a:rPr lang="ru-RU" dirty="0"/>
              <a:t>Сюжеты не остаются безымянными: для кластера выбирается репрезентативное название по центральной новости, чтобы аналитику было проще быстро понять, о чём группа публикаций.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выходе аналитик получает не плоскую ленту публикаций, а структуру для обзора: сюжеты, новизну и поиск по смыслу.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Важно: это не замена аналитика. Редактор может проверить результат модели и исправить метки. Идея в том, чтобы убрать рутину и дать человеку более удобную структуру для анализа.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MVP уже есть основные продуктовые сценарии.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Пользователь может искать новости по смыслу и по датам, а также видеть историю поиска.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Редактор может импортировать CSV, работать с черновиками и вручную корректировать результат модели.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Администратор управляет пользователями, ролями, организациями, балансом и кредитами.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Под капотом это уже не просто ноутбук с моделью, а сервис с API, базой данных, очередью задач, модельным </a:t>
            </a:r>
            <a:r>
              <a:rPr lang="ru-RU" dirty="0" err="1"/>
              <a:t>воркером</a:t>
            </a:r>
            <a:r>
              <a:rPr lang="ru-RU" dirty="0"/>
              <a:t> и мониторингом. Технологии на слайде указаны мелко, потому что главное здесь — не стек сам по себе, а то, что MVP уже поддерживает рабочие сценарии.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Архитектура построена как сервис, а не как одиночный скрипт.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Пользователь работает через UI. Запросы идут в API. Тяжёлая обработка новостей уходит в очередь задач, чтобы интерфейс не блокировался.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ML-</a:t>
            </a:r>
            <a:r>
              <a:rPr lang="ru-RU" dirty="0" err="1"/>
              <a:t>воркер</a:t>
            </a:r>
            <a:r>
              <a:rPr lang="ru-RU" dirty="0"/>
              <a:t> считает эмбеддинги, собирает новости в кластеры и определяет новизну. Данные и векторы хранятся в </a:t>
            </a:r>
            <a:r>
              <a:rPr lang="ru-RU" dirty="0" err="1"/>
              <a:t>PostgreSQL</a:t>
            </a:r>
            <a:r>
              <a:rPr lang="ru-RU" dirty="0"/>
              <a:t> с </a:t>
            </a:r>
            <a:r>
              <a:rPr lang="ru-RU" dirty="0" err="1"/>
              <a:t>pgvector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Отдельно есть мониторинг через </a:t>
            </a:r>
            <a:r>
              <a:rPr lang="ru-RU" dirty="0" err="1"/>
              <a:t>Prometheus</a:t>
            </a:r>
            <a:r>
              <a:rPr lang="ru-RU" dirty="0"/>
              <a:t> и </a:t>
            </a:r>
            <a:r>
              <a:rPr lang="ru-RU" dirty="0" err="1"/>
              <a:t>Grafana</a:t>
            </a:r>
            <a:r>
              <a:rPr lang="ru-RU" dirty="0"/>
              <a:t>: можно видеть очередь, скорость обработки, ошибки и потребление ресурсов.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Такая схема позволяет масштабировать обработку: например, запускать несколько </a:t>
            </a:r>
            <a:r>
              <a:rPr lang="ru-RU" dirty="0" err="1"/>
              <a:t>воркеров</a:t>
            </a:r>
            <a:r>
              <a:rPr lang="ru-RU" dirty="0"/>
              <a:t> и использовать CPU или GPU-режимы.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AI использовался как помощник: для разбора ошибок, документации, ревью кода и сверки идей через разные модели. Но постановка задачи, метрики, данные, проверка результатов и финальные решения по продукту и архитектуре оставались за мной.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демо я не буду показывать весь продукт. Я покажу один основной сценарий.</a:t>
            </a:r>
          </a:p>
          <a:p>
            <a:r>
              <a:rPr lang="ru-RU" dirty="0"/>
              <a:t>Сначала редактор загружает заранее подготовленный CSV с новостями. Затем новости попадают в черновики, отправляются в модель и получают результат обработки.</a:t>
            </a:r>
          </a:p>
          <a:p>
            <a:r>
              <a:rPr lang="ru-RU" dirty="0"/>
              <a:t>После этого я покажу, как можно перейти к сюжетам или найти связанные материалы по смыслу.</a:t>
            </a:r>
          </a:p>
          <a:p>
            <a:r>
              <a:rPr lang="ru-RU" dirty="0"/>
              <a:t>Я буду комментировать каждый шаг по ходу. Типы аккаунтов, админка и </a:t>
            </a:r>
            <a:r>
              <a:rPr lang="ru-RU" dirty="0" err="1"/>
              <a:t>Grafana</a:t>
            </a:r>
            <a:r>
              <a:rPr lang="ru-RU" dirty="0"/>
              <a:t> тоже есть в MVP, но в коротком питче они не должны становиться центром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Преимущество продукта не в том, что он просто показывает новости. Новостных лент и поисковиков уже много.\</a:t>
            </a:r>
          </a:p>
          <a:p>
            <a:endParaRPr lang="ru-RU" dirty="0"/>
          </a:p>
          <a:p>
            <a:r>
              <a:rPr lang="ru-RU" dirty="0"/>
              <a:t>Сильная сторона — в постобработке потока. Аналитик быстрее получает структуру обзора, видит меньше повторов и меньше рискует пропустить значимое обновление.</a:t>
            </a:r>
          </a:p>
          <a:p>
            <a:endParaRPr lang="ru-RU" dirty="0"/>
          </a:p>
          <a:p>
            <a:r>
              <a:rPr lang="ru-RU" dirty="0"/>
              <a:t>Ещё одно важное преимущество — редакторский контроль. Модель предлагает метки, но человек может их исправить вручную. Поэтому продукт не превращается в чёрный ящик.</a:t>
            </a:r>
          </a:p>
          <a:p>
            <a:endParaRPr lang="ru-RU" dirty="0"/>
          </a:p>
          <a:p>
            <a:r>
              <a:rPr lang="ru-RU" dirty="0"/>
              <a:t>Итоговая идея простая: сервис не просто ищет новости — он превращает поток в рабочую структуру.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 честно разделяю техническую и продуктовую проверку.</a:t>
            </a:r>
          </a:p>
          <a:p>
            <a:endParaRPr lang="ru-RU" dirty="0"/>
          </a:p>
          <a:p>
            <a:r>
              <a:rPr lang="ru-RU" dirty="0"/>
              <a:t>В рамках проекта я проверил техническую гипотезу: можно ли собрать новости в сюжеты, выделить значимые обновления и обернуть это в работающий сервис.</a:t>
            </a:r>
          </a:p>
          <a:p>
            <a:endParaRPr lang="ru-RU" dirty="0"/>
          </a:p>
          <a:p>
            <a:r>
              <a:rPr lang="ru-RU" dirty="0"/>
              <a:t>Основные риски тоже понятны. </a:t>
            </a:r>
          </a:p>
          <a:p>
            <a:r>
              <a:rPr lang="ru-RU" dirty="0"/>
              <a:t>Во-первых, пока малый объём ручной разметки. </a:t>
            </a:r>
          </a:p>
          <a:p>
            <a:r>
              <a:rPr lang="ru-RU" dirty="0"/>
              <a:t>Во-вторых, ещё нет пилота с клиентом. </a:t>
            </a:r>
          </a:p>
          <a:p>
            <a:r>
              <a:rPr lang="ru-RU" dirty="0"/>
              <a:t>В-третьих, нужно учитывать конкуренцию с LLM-инструментами и крупными </a:t>
            </a:r>
            <a:r>
              <a:rPr lang="ru-RU" dirty="0" err="1"/>
              <a:t>SaaS</a:t>
            </a:r>
            <a:r>
              <a:rPr lang="ru-RU" dirty="0"/>
              <a:t>-решениями.</a:t>
            </a:r>
          </a:p>
          <a:p>
            <a:endParaRPr lang="ru-RU" dirty="0"/>
          </a:p>
          <a:p>
            <a:r>
              <a:rPr lang="ru-RU" dirty="0"/>
              <a:t>Следующие шаги — расширить ручную разметку, доработать ML-</a:t>
            </a:r>
            <a:r>
              <a:rPr lang="ru-RU" dirty="0" err="1"/>
              <a:t>пайплайн</a:t>
            </a:r>
            <a:r>
              <a:rPr lang="ru-RU" dirty="0"/>
              <a:t>, добавить пакетную обработку больших импортов, LLM-названия сюжетов и больше форматов интеграции, например RSS и API.</a:t>
            </a:r>
          </a:p>
          <a:p>
            <a:r>
              <a:rPr lang="ru-RU" dirty="0"/>
              <a:t>Отдельный продуктовый шаг — пилот на реальном новостном потоке, чтобы проверить ценность и монетизацию. Гипотеза монетизации — B2B-подписка или лицензия.</a:t>
            </a:r>
          </a:p>
          <a:p>
            <a:r>
              <a:rPr lang="ru-RU" dirty="0"/>
              <a:t>На этом всё. Спасибо, готов ответить на вопросы.</a:t>
            </a:r>
          </a:p>
          <a:p>
            <a:endParaRPr lang="ru-RU" dirty="0"/>
          </a:p>
          <a:p>
            <a:r>
              <a:rPr lang="ru-RU" dirty="0"/>
              <a:t>Сейчас я уже проверил импорт на 50 тысяч новостей: он прошёл успешно, скорость осталась около 40 новостей в секунду, VRAM в пике около 8 ГБ, RAM около 4 ГБ. Память на таком объёме не стала ограничением. Но архитектурно дальше правильнее не гнать большой импорт одной длинной задачей, а дробить его на пачки. Это поможет не упираться в таймауты очереди и проще восстанавливаться при сбоях.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5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118872" cy="507492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" name="Text 2"/>
          <p:cNvSpPr/>
          <p:nvPr/>
        </p:nvSpPr>
        <p:spPr>
          <a:xfrm>
            <a:off x="868680" y="713232"/>
            <a:ext cx="585216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4200" b="1" noProof="0" dirty="0" err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</a:t>
            </a:r>
            <a:endParaRPr lang="ru-RU" sz="4200" noProof="0" dirty="0"/>
          </a:p>
          <a:p>
            <a:pPr marL="0" indent="0">
              <a:buNone/>
            </a:pPr>
            <a:r>
              <a:rPr lang="ru-RU" sz="42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News</a:t>
            </a:r>
            <a:endParaRPr lang="ru-RU" sz="4200" noProof="0" dirty="0"/>
          </a:p>
          <a:p>
            <a:pPr marL="0" indent="0">
              <a:buNone/>
            </a:pPr>
            <a:r>
              <a:rPr lang="ru-RU" sz="4200" b="1" noProof="0" dirty="0" err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Novelty</a:t>
            </a:r>
            <a:endParaRPr lang="ru-RU" sz="4200" noProof="0" dirty="0"/>
          </a:p>
        </p:txBody>
      </p:sp>
      <p:sp>
        <p:nvSpPr>
          <p:cNvPr id="5" name="Text 3"/>
          <p:cNvSpPr/>
          <p:nvPr/>
        </p:nvSpPr>
        <p:spPr>
          <a:xfrm>
            <a:off x="896112" y="2852928"/>
            <a:ext cx="6309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500" b="1" noProof="0" dirty="0">
                <a:solidFill>
                  <a:srgbClr val="F05A4F"/>
                </a:solidFill>
              </a:rPr>
              <a:t>Сервис для снижения</a:t>
            </a:r>
            <a:endParaRPr lang="ru-RU" sz="2500" noProof="0" dirty="0"/>
          </a:p>
          <a:p>
            <a:pPr marL="0" indent="0">
              <a:buNone/>
            </a:pPr>
            <a:r>
              <a:rPr lang="ru-RU" sz="2500" b="1" noProof="0" dirty="0" err="1">
                <a:solidFill>
                  <a:srgbClr val="F05A4F"/>
                </a:solidFill>
              </a:rPr>
              <a:t>инфошума</a:t>
            </a:r>
            <a:r>
              <a:rPr lang="ru-RU" sz="2500" b="1" noProof="0" dirty="0">
                <a:solidFill>
                  <a:srgbClr val="F05A4F"/>
                </a:solidFill>
              </a:rPr>
              <a:t> в новостном потоке</a:t>
            </a:r>
            <a:endParaRPr lang="ru-RU" sz="25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6263640"/>
            <a:ext cx="3703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1800" b="1" noProof="0" dirty="0">
                <a:solidFill>
                  <a:srgbClr val="111827"/>
                </a:solidFill>
              </a:rPr>
              <a:t>Константин Лебедев</a:t>
            </a:r>
            <a:endParaRPr lang="ru-RU" sz="1800" noProof="0" dirty="0"/>
          </a:p>
        </p:txBody>
      </p:sp>
      <p:sp>
        <p:nvSpPr>
          <p:cNvPr id="7" name="Shape 5"/>
          <p:cNvSpPr/>
          <p:nvPr/>
        </p:nvSpPr>
        <p:spPr>
          <a:xfrm>
            <a:off x="7452360" y="1005840"/>
            <a:ext cx="333756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460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Text 6"/>
          <p:cNvSpPr/>
          <p:nvPr/>
        </p:nvSpPr>
        <p:spPr>
          <a:xfrm>
            <a:off x="7616952" y="1261872"/>
            <a:ext cx="3017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64748B"/>
                </a:solidFill>
              </a:rPr>
              <a:t>поток публикаций</a:t>
            </a:r>
            <a:endParaRPr lang="ru-RU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8887968" y="1883664"/>
            <a:ext cx="475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600" b="1" noProof="0" dirty="0">
                <a:solidFill>
                  <a:srgbClr val="F05A4F"/>
                </a:solidFill>
              </a:rPr>
              <a:t>↓</a:t>
            </a:r>
            <a:endParaRPr lang="ru-RU" sz="2600" noProof="0" dirty="0"/>
          </a:p>
        </p:txBody>
      </p:sp>
      <p:sp>
        <p:nvSpPr>
          <p:cNvPr id="10" name="Shape 8"/>
          <p:cNvSpPr/>
          <p:nvPr/>
        </p:nvSpPr>
        <p:spPr>
          <a:xfrm>
            <a:off x="7452360" y="2670048"/>
            <a:ext cx="333756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460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Text 9"/>
          <p:cNvSpPr/>
          <p:nvPr/>
        </p:nvSpPr>
        <p:spPr>
          <a:xfrm>
            <a:off x="7616952" y="2926080"/>
            <a:ext cx="3017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понятные сюжеты</a:t>
            </a:r>
            <a:endParaRPr lang="ru-RU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8887968" y="3547872"/>
            <a:ext cx="475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600" b="1" noProof="0" dirty="0">
                <a:solidFill>
                  <a:srgbClr val="F05A4F"/>
                </a:solidFill>
              </a:rPr>
              <a:t>↓</a:t>
            </a:r>
            <a:endParaRPr lang="ru-RU" sz="2600" noProof="0" dirty="0"/>
          </a:p>
        </p:txBody>
      </p:sp>
      <p:sp>
        <p:nvSpPr>
          <p:cNvPr id="13" name="Shape 11"/>
          <p:cNvSpPr/>
          <p:nvPr/>
        </p:nvSpPr>
        <p:spPr>
          <a:xfrm>
            <a:off x="7452360" y="4334256"/>
            <a:ext cx="333756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460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4" name="Text 12"/>
          <p:cNvSpPr/>
          <p:nvPr/>
        </p:nvSpPr>
        <p:spPr>
          <a:xfrm>
            <a:off x="7616952" y="4590288"/>
            <a:ext cx="3017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16A34A"/>
                </a:solidFill>
              </a:rPr>
              <a:t>что действительно новое?</a:t>
            </a:r>
            <a:endParaRPr lang="ru-RU" sz="2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02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3000" b="1" noProof="0" dirty="0">
                <a:solidFill>
                  <a:srgbClr val="111827"/>
                </a:solidFill>
              </a:rPr>
              <a:t>Новостей больше, чем нового смысла</a:t>
            </a:r>
            <a:endParaRPr lang="ru-RU" sz="3000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2395728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1143000" y="2569464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350" b="1" noProof="0" dirty="0">
                <a:solidFill>
                  <a:srgbClr val="FFFFFF"/>
                </a:solidFill>
              </a:rPr>
              <a:t>Когда</a:t>
            </a:r>
            <a:endParaRPr lang="ru-RU" sz="1350" noProof="0" dirty="0"/>
          </a:p>
        </p:txBody>
      </p:sp>
      <p:sp>
        <p:nvSpPr>
          <p:cNvPr id="10" name="Text 8"/>
          <p:cNvSpPr/>
          <p:nvPr/>
        </p:nvSpPr>
        <p:spPr>
          <a:xfrm>
            <a:off x="2880360" y="2615184"/>
            <a:ext cx="7909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50" b="1" noProof="0" dirty="0">
                <a:solidFill>
                  <a:srgbClr val="111827"/>
                </a:solidFill>
              </a:rPr>
              <a:t>готовлю обзор по большому новостному потоку</a:t>
            </a:r>
            <a:endParaRPr lang="ru-RU" sz="2050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1143000" y="355701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1143000" y="3639312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350" b="1" noProof="0" dirty="0">
                <a:solidFill>
                  <a:srgbClr val="FFFFFF"/>
                </a:solidFill>
              </a:rPr>
              <a:t>Хочу</a:t>
            </a:r>
            <a:endParaRPr lang="ru-RU" sz="1350" noProof="0" dirty="0"/>
          </a:p>
        </p:txBody>
      </p:sp>
      <p:sp>
        <p:nvSpPr>
          <p:cNvPr id="14" name="Text 12"/>
          <p:cNvSpPr/>
          <p:nvPr/>
        </p:nvSpPr>
        <p:spPr>
          <a:xfrm>
            <a:off x="2880360" y="3602736"/>
            <a:ext cx="7909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50" b="1" noProof="0" dirty="0">
                <a:solidFill>
                  <a:srgbClr val="111827"/>
                </a:solidFill>
              </a:rPr>
              <a:t>быстро увидеть сюжеты и главное в них</a:t>
            </a:r>
            <a:endParaRPr lang="ru-RU" sz="2050" noProof="0" dirty="0"/>
          </a:p>
        </p:txBody>
      </p:sp>
      <p:sp>
        <p:nvSpPr>
          <p:cNvPr id="15" name="Shape 13"/>
          <p:cNvSpPr/>
          <p:nvPr/>
        </p:nvSpPr>
        <p:spPr>
          <a:xfrm>
            <a:off x="914400" y="4370832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1143000" y="4544568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Text 15"/>
          <p:cNvSpPr/>
          <p:nvPr/>
        </p:nvSpPr>
        <p:spPr>
          <a:xfrm>
            <a:off x="1143000" y="4626864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350" b="1" noProof="0" dirty="0">
                <a:solidFill>
                  <a:srgbClr val="FFFFFF"/>
                </a:solidFill>
              </a:rPr>
              <a:t>Чтобы</a:t>
            </a:r>
            <a:endParaRPr lang="ru-RU" sz="1350" noProof="0" dirty="0"/>
          </a:p>
        </p:txBody>
      </p:sp>
      <p:sp>
        <p:nvSpPr>
          <p:cNvPr id="18" name="Text 16"/>
          <p:cNvSpPr/>
          <p:nvPr/>
        </p:nvSpPr>
        <p:spPr>
          <a:xfrm>
            <a:off x="2880360" y="4590288"/>
            <a:ext cx="7909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2050" b="1" noProof="0" dirty="0">
                <a:solidFill>
                  <a:srgbClr val="111827"/>
                </a:solidFill>
              </a:rPr>
              <a:t>не тратить часы на ручную вычитку</a:t>
            </a:r>
            <a:endParaRPr lang="ru-RU" sz="20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64592"/>
            <a:ext cx="8961120" cy="548640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lang="ru-RU" sz="3000" b="1" dirty="0">
                <a:solidFill>
                  <a:srgbClr val="111D34"/>
                </a:solidFill>
                <a:latin typeface="Aptos"/>
              </a:rPr>
              <a:t>Кому это нужно</a:t>
            </a:r>
            <a:endParaRPr sz="3000" b="1" dirty="0">
              <a:solidFill>
                <a:srgbClr val="111D3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384048" cy="310896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r"/>
            <a:r>
              <a:rPr sz="1400" b="1">
                <a:solidFill>
                  <a:srgbClr val="F15A4D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197864"/>
            <a:ext cx="11384280" cy="16459"/>
          </a:xfrm>
          <a:prstGeom prst="rect">
            <a:avLst/>
          </a:prstGeom>
          <a:solidFill>
            <a:srgbClr val="CD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352" y="2304288"/>
            <a:ext cx="3355848" cy="2359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3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7609" y="2327148"/>
            <a:ext cx="54864" cy="2313432"/>
          </a:xfrm>
          <a:prstGeom prst="rect">
            <a:avLst/>
          </a:prstGeom>
          <a:solidFill>
            <a:srgbClr val="2A6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2432304"/>
            <a:ext cx="3099816" cy="338554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2A62E9"/>
                </a:solidFill>
                <a:latin typeface="Aptos"/>
              </a:rPr>
              <a:t>PR / GR / </a:t>
            </a:r>
            <a:r>
              <a:rPr sz="1600" b="1" dirty="0" err="1">
                <a:solidFill>
                  <a:srgbClr val="2A62E9"/>
                </a:solidFill>
                <a:latin typeface="Aptos"/>
              </a:rPr>
              <a:t>коммуникации</a:t>
            </a:r>
            <a:endParaRPr sz="1600" b="1" dirty="0">
              <a:solidFill>
                <a:srgbClr val="2A62E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6656" y="2816352"/>
            <a:ext cx="3099816" cy="1954381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1600" b="1" dirty="0" err="1">
                <a:solidFill>
                  <a:srgbClr val="161F30"/>
                </a:solidFill>
                <a:latin typeface="Aptos"/>
              </a:rPr>
              <a:t>мониторят</a:t>
            </a:r>
            <a:r>
              <a:rPr sz="1600" b="1" dirty="0">
                <a:solidFill>
                  <a:srgbClr val="161F30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1F30"/>
                </a:solidFill>
                <a:latin typeface="Aptos"/>
              </a:rPr>
              <a:t>инфоповоды</a:t>
            </a:r>
            <a:r>
              <a:rPr sz="1600" b="1" dirty="0">
                <a:solidFill>
                  <a:srgbClr val="161F30"/>
                </a:solidFill>
                <a:latin typeface="Aptos"/>
              </a:rPr>
              <a:t> и
</a:t>
            </a:r>
            <a:r>
              <a:rPr sz="1600" b="1" dirty="0" err="1">
                <a:solidFill>
                  <a:srgbClr val="161F30"/>
                </a:solidFill>
                <a:latin typeface="Aptos"/>
              </a:rPr>
              <a:t>репутационные</a:t>
            </a:r>
            <a:r>
              <a:rPr sz="1600" b="1" dirty="0">
                <a:solidFill>
                  <a:srgbClr val="161F30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1F30"/>
                </a:solidFill>
                <a:latin typeface="Aptos"/>
              </a:rPr>
              <a:t>риски</a:t>
            </a:r>
            <a:endParaRPr lang="ru-RU" sz="1600" b="1" dirty="0">
              <a:solidFill>
                <a:srgbClr val="161F30"/>
              </a:solidFill>
              <a:latin typeface="Aptos"/>
            </a:endParaRPr>
          </a:p>
          <a:p>
            <a:pPr algn="l"/>
            <a:endParaRPr lang="ru-RU" sz="1600" b="1" dirty="0">
              <a:solidFill>
                <a:srgbClr val="161F30"/>
              </a:solidFill>
              <a:latin typeface="Aptos"/>
            </a:endParaRPr>
          </a:p>
          <a:p>
            <a:r>
              <a:rPr lang="ru-RU" sz="1400" dirty="0">
                <a:solidFill>
                  <a:srgbClr val="161F30"/>
                </a:solidFill>
              </a:rPr>
              <a:t>• готовят внутренние дайджесты
и отчёты</a:t>
            </a:r>
          </a:p>
          <a:p>
            <a:r>
              <a:rPr lang="ru-RU" sz="1400" dirty="0">
                <a:solidFill>
                  <a:srgbClr val="161F30"/>
                </a:solidFill>
              </a:rPr>
              <a:t>• хотят быстрее видеть значимые
обновления</a:t>
            </a:r>
          </a:p>
          <a:p>
            <a:pPr algn="l"/>
            <a:endParaRPr sz="1700" b="1" dirty="0">
              <a:solidFill>
                <a:srgbClr val="161F30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61688" y="2304288"/>
            <a:ext cx="3355848" cy="2359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3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58945" y="2327148"/>
            <a:ext cx="54864" cy="2313432"/>
          </a:xfrm>
          <a:prstGeom prst="rect">
            <a:avLst/>
          </a:prstGeom>
          <a:solidFill>
            <a:srgbClr val="F15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2432304"/>
            <a:ext cx="3099816" cy="338554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1600" b="1" dirty="0" err="1">
                <a:solidFill>
                  <a:srgbClr val="F15A4D"/>
                </a:solidFill>
                <a:latin typeface="Aptos"/>
              </a:rPr>
              <a:t>Коммуникационные</a:t>
            </a:r>
            <a:r>
              <a:rPr sz="1600" b="1" dirty="0">
                <a:solidFill>
                  <a:srgbClr val="F15A4D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15A4D"/>
                </a:solidFill>
                <a:latin typeface="Aptos"/>
              </a:rPr>
              <a:t>агентства</a:t>
            </a:r>
            <a:endParaRPr sz="1600" b="1" dirty="0">
              <a:solidFill>
                <a:srgbClr val="F15A4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07991" y="2816352"/>
            <a:ext cx="3171969" cy="1754326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1600" b="1" dirty="0" err="1">
                <a:solidFill>
                  <a:srgbClr val="161F30"/>
                </a:solidFill>
                <a:latin typeface="Aptos"/>
              </a:rPr>
              <a:t>ведут</a:t>
            </a:r>
            <a:r>
              <a:rPr sz="1600" b="1" dirty="0">
                <a:solidFill>
                  <a:srgbClr val="161F30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1F30"/>
                </a:solidFill>
                <a:latin typeface="Aptos"/>
              </a:rPr>
              <a:t>несколько</a:t>
            </a:r>
            <a:r>
              <a:rPr sz="1600" b="1" dirty="0">
                <a:solidFill>
                  <a:srgbClr val="161F30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1F30"/>
                </a:solidFill>
                <a:latin typeface="Aptos"/>
              </a:rPr>
              <a:t>клиентов</a:t>
            </a:r>
            <a:r>
              <a:rPr sz="1600" b="1" dirty="0">
                <a:solidFill>
                  <a:srgbClr val="161F30"/>
                </a:solidFill>
                <a:latin typeface="Aptos"/>
              </a:rPr>
              <a:t> и </a:t>
            </a:r>
            <a:r>
              <a:rPr sz="1600" b="1" dirty="0" err="1">
                <a:solidFill>
                  <a:srgbClr val="161F30"/>
                </a:solidFill>
                <a:latin typeface="Aptos"/>
              </a:rPr>
              <a:t>тем</a:t>
            </a:r>
            <a:endParaRPr lang="ru-RU" sz="1600" b="1" dirty="0">
              <a:solidFill>
                <a:srgbClr val="161F30"/>
              </a:solidFill>
              <a:latin typeface="Aptos"/>
            </a:endParaRPr>
          </a:p>
          <a:p>
            <a:pPr algn="l"/>
            <a:endParaRPr lang="ru-RU" sz="1600" b="1" dirty="0">
              <a:solidFill>
                <a:srgbClr val="161F30"/>
              </a:solidFill>
              <a:latin typeface="Aptos"/>
            </a:endParaRPr>
          </a:p>
          <a:p>
            <a:pPr algn="l"/>
            <a:endParaRPr lang="ru-RU" sz="1600" b="1" dirty="0">
              <a:solidFill>
                <a:srgbClr val="161F30"/>
              </a:solidFill>
              <a:latin typeface="Aptos"/>
            </a:endParaRPr>
          </a:p>
          <a:p>
            <a:r>
              <a:rPr lang="ru-RU" sz="1400" dirty="0">
                <a:solidFill>
                  <a:srgbClr val="161F30"/>
                </a:solidFill>
              </a:rPr>
              <a:t>• тратят время на ручную вычитку</a:t>
            </a:r>
          </a:p>
          <a:p>
            <a:r>
              <a:rPr lang="ru-RU" sz="1400" dirty="0">
                <a:solidFill>
                  <a:srgbClr val="161F30"/>
                </a:solidFill>
              </a:rPr>
              <a:t>• хотят выпускать обзоры быстрее</a:t>
            </a:r>
          </a:p>
          <a:p>
            <a:endParaRPr lang="ru-RU" sz="1600" dirty="0">
              <a:solidFill>
                <a:srgbClr val="161F30"/>
              </a:solidFill>
            </a:endParaRPr>
          </a:p>
          <a:p>
            <a:pPr algn="l"/>
            <a:endParaRPr sz="1600" b="1" dirty="0">
              <a:solidFill>
                <a:srgbClr val="161F3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93024" y="2304288"/>
            <a:ext cx="3355848" cy="2359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3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90281" y="2327148"/>
            <a:ext cx="54864" cy="2313432"/>
          </a:xfrm>
          <a:prstGeom prst="rect">
            <a:avLst/>
          </a:prstGeom>
          <a:solidFill>
            <a:srgbClr val="23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2432304"/>
            <a:ext cx="3099816" cy="292608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1800" b="1" dirty="0" err="1">
                <a:solidFill>
                  <a:srgbClr val="23B05B"/>
                </a:solidFill>
                <a:latin typeface="Aptos"/>
              </a:rPr>
              <a:t>Отраслевые</a:t>
            </a:r>
            <a:r>
              <a:rPr sz="1800" b="1" dirty="0">
                <a:solidFill>
                  <a:srgbClr val="23B05B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23B05B"/>
                </a:solidFill>
                <a:latin typeface="Aptos"/>
              </a:rPr>
              <a:t>аналитики</a:t>
            </a:r>
            <a:endParaRPr sz="1800" b="1" dirty="0">
              <a:solidFill>
                <a:srgbClr val="23B05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39328" y="2816352"/>
            <a:ext cx="3099816" cy="1800493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1600" b="1" dirty="0" err="1">
                <a:solidFill>
                  <a:srgbClr val="161F30"/>
                </a:solidFill>
                <a:latin typeface="Aptos"/>
              </a:rPr>
              <a:t>следят</a:t>
            </a:r>
            <a:r>
              <a:rPr sz="1600" b="1" dirty="0">
                <a:solidFill>
                  <a:srgbClr val="161F30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1F30"/>
                </a:solidFill>
                <a:latin typeface="Aptos"/>
              </a:rPr>
              <a:t>за</a:t>
            </a:r>
            <a:r>
              <a:rPr sz="1600" b="1" dirty="0">
                <a:solidFill>
                  <a:srgbClr val="161F30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61F30"/>
                </a:solidFill>
                <a:latin typeface="Aptos"/>
              </a:rPr>
              <a:t>рынком</a:t>
            </a:r>
            <a:r>
              <a:rPr sz="1600" b="1" dirty="0">
                <a:solidFill>
                  <a:srgbClr val="161F30"/>
                </a:solidFill>
                <a:latin typeface="Aptos"/>
              </a:rPr>
              <a:t> и </a:t>
            </a:r>
            <a:r>
              <a:rPr sz="1600" b="1" dirty="0" err="1">
                <a:solidFill>
                  <a:srgbClr val="161F30"/>
                </a:solidFill>
                <a:latin typeface="Aptos"/>
              </a:rPr>
              <a:t>конкурентами</a:t>
            </a:r>
            <a:endParaRPr lang="ru-RU" sz="1600" b="1" dirty="0">
              <a:solidFill>
                <a:srgbClr val="161F30"/>
              </a:solidFill>
              <a:latin typeface="Aptos"/>
            </a:endParaRPr>
          </a:p>
          <a:p>
            <a:pPr algn="l"/>
            <a:endParaRPr lang="ru-RU" sz="1600" b="1" dirty="0">
              <a:solidFill>
                <a:srgbClr val="161F30"/>
              </a:solidFill>
              <a:latin typeface="Aptos"/>
            </a:endParaRPr>
          </a:p>
          <a:p>
            <a:r>
              <a:rPr lang="ru-RU" sz="1400" dirty="0">
                <a:solidFill>
                  <a:srgbClr val="161F30"/>
                </a:solidFill>
              </a:rPr>
              <a:t>• ищут сюжеты и новые сигналы</a:t>
            </a:r>
          </a:p>
          <a:p>
            <a:r>
              <a:rPr lang="ru-RU" sz="1400" dirty="0">
                <a:solidFill>
                  <a:srgbClr val="161F30"/>
                </a:solidFill>
              </a:rPr>
              <a:t>• хотят снизить шум и повторы</a:t>
            </a:r>
          </a:p>
          <a:p>
            <a:endParaRPr lang="ru-RU" dirty="0">
              <a:solidFill>
                <a:srgbClr val="161F30"/>
              </a:solidFill>
            </a:endParaRPr>
          </a:p>
          <a:p>
            <a:pPr algn="l"/>
            <a:endParaRPr sz="1700" b="1" dirty="0">
              <a:solidFill>
                <a:srgbClr val="161F30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0352" y="6007608"/>
            <a:ext cx="10954512" cy="512064"/>
          </a:xfrm>
          <a:prstGeom prst="roundRect">
            <a:avLst>
              <a:gd name="adj" fmla="val 7000"/>
            </a:avLst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rgbClr val="111D34"/>
                </a:solidFill>
              </a:rPr>
              <a:t>Фокус: </a:t>
            </a:r>
            <a:r>
              <a:rPr lang="ru-RU" sz="1600" dirty="0">
                <a:solidFill>
                  <a:srgbClr val="111D34"/>
                </a:solidFill>
              </a:rPr>
              <a:t>команды, которым полный мониторинг избыточен, а ручная вычитка уже дорога.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46304"/>
            <a:ext cx="731520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000" b="1" dirty="0">
                <a:solidFill>
                  <a:srgbClr val="111D34"/>
                </a:solidFill>
                <a:latin typeface="Aptos"/>
              </a:rPr>
              <a:t>Рынок и монетизация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400" b="1" dirty="0">
                <a:solidFill>
                  <a:srgbClr val="F15A4D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133856"/>
            <a:ext cx="11393424" cy="13716"/>
          </a:xfrm>
          <a:prstGeom prst="rect">
            <a:avLst/>
          </a:prstGeom>
          <a:solidFill>
            <a:srgbClr val="CD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84048" y="1408176"/>
            <a:ext cx="7772400" cy="3785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ru-RU" sz="2100" b="1" dirty="0">
                <a:solidFill>
                  <a:srgbClr val="111D34"/>
                </a:solidFill>
                <a:latin typeface="Aptos"/>
              </a:rPr>
              <a:t>Где возникает экономический эффект?</a:t>
            </a:r>
            <a:endParaRPr sz="2100" b="1" dirty="0">
              <a:solidFill>
                <a:srgbClr val="111D3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4048" y="1847088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3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384048" y="1874519"/>
            <a:ext cx="54864" cy="1362456"/>
          </a:xfrm>
          <a:prstGeom prst="rect">
            <a:avLst/>
          </a:prstGeom>
          <a:solidFill>
            <a:srgbClr val="2E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585216" y="2029968"/>
            <a:ext cx="402336" cy="402336"/>
          </a:xfrm>
          <a:prstGeom prst="ellipse">
            <a:avLst/>
          </a:prstGeom>
          <a:solidFill>
            <a:srgbClr val="EB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2109978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dirty="0">
                <a:solidFill>
                  <a:srgbClr val="2E66E8"/>
                </a:solidFill>
                <a:latin typeface="Aptos"/>
              </a:rP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002536"/>
            <a:ext cx="45720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ru-RU" sz="1600" b="1" dirty="0">
                <a:solidFill>
                  <a:srgbClr val="2E66E8"/>
                </a:solidFill>
                <a:latin typeface="Aptos"/>
              </a:rPr>
              <a:t>Дорогая ручная работа</a:t>
            </a:r>
            <a:endParaRPr sz="1600" b="1" dirty="0">
              <a:solidFill>
                <a:srgbClr val="2E66E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52144" y="2432304"/>
            <a:ext cx="457200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 dirty="0">
                <a:solidFill>
                  <a:srgbClr val="111D34"/>
                </a:solidFill>
                <a:latin typeface="Aptos"/>
              </a:rPr>
              <a:t>47% PR-специалистов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843784"/>
            <a:ext cx="4572000" cy="26314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ru-RU" sz="1350" b="0" dirty="0">
                <a:solidFill>
                  <a:srgbClr val="606978"/>
                </a:solidFill>
                <a:latin typeface="Aptos"/>
              </a:rPr>
              <a:t>тратят </a:t>
            </a:r>
            <a:r>
              <a:rPr sz="1350" b="0" dirty="0">
                <a:solidFill>
                  <a:srgbClr val="606978"/>
                </a:solidFill>
                <a:latin typeface="Aptos"/>
              </a:rPr>
              <a:t>≥25% времени на отчёты по СМИ и упоминаниям¹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47088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3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199632" y="1874519"/>
            <a:ext cx="54864" cy="1362456"/>
          </a:xfrm>
          <a:prstGeom prst="rect">
            <a:avLst/>
          </a:prstGeom>
          <a:solidFill>
            <a:srgbClr val="F15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Oval 14"/>
          <p:cNvSpPr/>
          <p:nvPr/>
        </p:nvSpPr>
        <p:spPr>
          <a:xfrm>
            <a:off x="6400800" y="2029968"/>
            <a:ext cx="402336" cy="402336"/>
          </a:xfrm>
          <a:prstGeom prst="ellipse">
            <a:avLst/>
          </a:prstGeom>
          <a:solidFill>
            <a:srgbClr val="FC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400800" y="2122732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dirty="0">
                <a:solidFill>
                  <a:srgbClr val="F15A4D"/>
                </a:solidFill>
                <a:latin typeface="Aptos"/>
              </a:rPr>
              <a:t>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002536"/>
            <a:ext cx="45720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ru-RU" sz="1600" b="1" dirty="0">
                <a:solidFill>
                  <a:srgbClr val="F15A4D"/>
                </a:solidFill>
                <a:latin typeface="Aptos"/>
              </a:rPr>
              <a:t>Рост потока повышает затраты</a:t>
            </a:r>
            <a:endParaRPr sz="1600" b="1" dirty="0">
              <a:solidFill>
                <a:srgbClr val="F15A4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67728" y="2432304"/>
            <a:ext cx="457200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 dirty="0">
                <a:solidFill>
                  <a:srgbClr val="111D34"/>
                </a:solidFill>
                <a:latin typeface="Aptos"/>
              </a:rPr>
              <a:t>100+ упоминаний/сутки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843784"/>
            <a:ext cx="4572000" cy="26314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ru-RU" sz="1350" dirty="0">
                <a:solidFill>
                  <a:srgbClr val="606978"/>
                </a:solidFill>
                <a:latin typeface="Aptos"/>
              </a:rPr>
              <a:t>р</a:t>
            </a:r>
            <a:r>
              <a:rPr lang="ru-RU" sz="1350" b="0" dirty="0">
                <a:solidFill>
                  <a:srgbClr val="606978"/>
                </a:solidFill>
                <a:latin typeface="Aptos"/>
              </a:rPr>
              <a:t>учной разбор ленты становится узким местом</a:t>
            </a:r>
            <a:r>
              <a:rPr sz="1350" b="0" dirty="0">
                <a:solidFill>
                  <a:srgbClr val="606978"/>
                </a:solidFill>
                <a:latin typeface="Aptos"/>
              </a:rPr>
              <a:t>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703320"/>
            <a:ext cx="2993736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ru-RU" sz="2000" b="1" dirty="0">
                <a:solidFill>
                  <a:srgbClr val="111D34"/>
                </a:solidFill>
                <a:latin typeface="Aptos"/>
              </a:rPr>
              <a:t>Рынок и гипотеза цены</a:t>
            </a:r>
            <a:endParaRPr sz="2000" b="1" dirty="0">
              <a:solidFill>
                <a:srgbClr val="111D34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84048" y="4133087"/>
            <a:ext cx="3630168" cy="1417320"/>
          </a:xfrm>
          <a:prstGeom prst="roundRect">
            <a:avLst>
              <a:gd name="adj" fmla="val 8000"/>
            </a:avLst>
          </a:prstGeom>
          <a:solidFill>
            <a:srgbClr val="2E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4251959"/>
            <a:ext cx="3264408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SAM ≈ 100–200 организаций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4562855"/>
            <a:ext cx="326440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адресный сегмент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4882896"/>
            <a:ext cx="3264408" cy="58631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ru-RU" sz="1150" b="0" dirty="0">
                <a:solidFill>
                  <a:srgbClr val="FFFFFF"/>
                </a:solidFill>
                <a:latin typeface="Aptos"/>
              </a:rPr>
              <a:t>команды с регулярным мониторингом и подготовкой обзоров</a:t>
            </a:r>
            <a:r>
              <a:rPr lang="en-US" sz="1150" b="0" dirty="0">
                <a:solidFill>
                  <a:srgbClr val="FFFFFF"/>
                </a:solidFill>
                <a:latin typeface="Aptos"/>
              </a:rPr>
              <a:t>;</a:t>
            </a:r>
            <a:endParaRPr lang="ru-RU" sz="115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ru-RU" sz="1150" b="0" dirty="0">
                <a:solidFill>
                  <a:srgbClr val="FFFFFF"/>
                </a:solidFill>
                <a:latin typeface="Aptos"/>
              </a:rPr>
              <a:t>20–80 млн ₽/год</a:t>
            </a:r>
            <a:endParaRPr sz="11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42816" y="4133087"/>
            <a:ext cx="3630168" cy="1417320"/>
          </a:xfrm>
          <a:prstGeom prst="roundRect">
            <a:avLst>
              <a:gd name="adj" fmla="val 8000"/>
            </a:avLst>
          </a:prstGeom>
          <a:solidFill>
            <a:srgbClr val="2E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43984" y="4251959"/>
            <a:ext cx="3264408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SOM 3–10 клиентов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4562855"/>
            <a:ext cx="326440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первые пилоты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4882896"/>
            <a:ext cx="3264408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12–18 месяцев;
1–6 млн ₽/год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4" y="4133087"/>
            <a:ext cx="363016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3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01584" y="4160520"/>
            <a:ext cx="54864" cy="1362456"/>
          </a:xfrm>
          <a:prstGeom prst="rect">
            <a:avLst/>
          </a:prstGeom>
          <a:solidFill>
            <a:srgbClr val="2E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02752" y="4270248"/>
            <a:ext cx="3264408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ru-RU" sz="1500" b="1" dirty="0">
                <a:solidFill>
                  <a:srgbClr val="2E66E8"/>
                </a:solidFill>
                <a:latin typeface="Aptos"/>
              </a:rPr>
              <a:t>Гипотеза цены</a:t>
            </a:r>
            <a:endParaRPr sz="1500" b="1" dirty="0">
              <a:solidFill>
                <a:srgbClr val="2E66E8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02752" y="4562855"/>
            <a:ext cx="326440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900" b="1">
                <a:solidFill>
                  <a:srgbClr val="111D34"/>
                </a:solidFill>
                <a:latin typeface="Aptos"/>
              </a:rPr>
              <a:t>15–35 тыс. ₽/мес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2726" y="4855463"/>
            <a:ext cx="2844933" cy="23237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ru-RU" sz="1150" b="0" dirty="0">
                <a:solidFill>
                  <a:srgbClr val="606978"/>
                </a:solidFill>
                <a:latin typeface="Aptos"/>
              </a:rPr>
              <a:t>ниже стоимости части ручной нагрузки</a:t>
            </a:r>
            <a:r>
              <a:rPr sz="1150" b="0" dirty="0">
                <a:solidFill>
                  <a:srgbClr val="606978"/>
                </a:solidFill>
                <a:latin typeface="Aptos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4216" y="3797234"/>
            <a:ext cx="385876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dirty="0">
                <a:solidFill>
                  <a:srgbClr val="606978"/>
                </a:solidFill>
                <a:latin typeface="Aptos"/>
              </a:rPr>
              <a:t>TAM ≈ 500+ </a:t>
            </a:r>
            <a:r>
              <a:rPr lang="ru-RU" sz="1200" b="0" dirty="0">
                <a:solidFill>
                  <a:srgbClr val="606978"/>
                </a:solidFill>
                <a:latin typeface="Aptos"/>
              </a:rPr>
              <a:t>организаций</a:t>
            </a:r>
            <a:r>
              <a:rPr sz="1200" b="0" dirty="0">
                <a:solidFill>
                  <a:srgbClr val="606978"/>
                </a:solidFill>
                <a:latin typeface="Aptos"/>
              </a:rPr>
              <a:t> — </a:t>
            </a:r>
            <a:r>
              <a:rPr lang="ru-RU" sz="1200" b="0" dirty="0">
                <a:solidFill>
                  <a:srgbClr val="606978"/>
                </a:solidFill>
                <a:latin typeface="Aptos"/>
              </a:rPr>
              <a:t> потенциальная аудитория</a:t>
            </a:r>
            <a:endParaRPr sz="1200" b="0" dirty="0">
              <a:solidFill>
                <a:srgbClr val="606978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47472" y="6327648"/>
            <a:ext cx="11393424" cy="13716"/>
          </a:xfrm>
          <a:prstGeom prst="rect">
            <a:avLst/>
          </a:prstGeom>
          <a:solidFill>
            <a:srgbClr val="CD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6428232"/>
            <a:ext cx="5486400" cy="1463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19" b="0">
                <a:solidFill>
                  <a:srgbClr val="606978"/>
                </a:solidFill>
                <a:latin typeface="Aptos"/>
              </a:rPr>
              <a:t>Источники: ¹Muck Rack, State of PR Measurement 2023; ²Brand Analytics.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6428232"/>
            <a:ext cx="6080760" cy="1463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19" b="0">
                <a:solidFill>
                  <a:srgbClr val="606978"/>
                </a:solidFill>
                <a:latin typeface="Aptos"/>
              </a:rPr>
              <a:t>Оценка рынка: АКАР/АКОС, НР2К, Медиалогия. Цена — гипотеза, проверяется пилотом.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2C58BE-1E12-4A00-E27A-9FF039F405FA}"/>
              </a:ext>
            </a:extLst>
          </p:cNvPr>
          <p:cNvSpPr txBox="1"/>
          <p:nvPr/>
        </p:nvSpPr>
        <p:spPr>
          <a:xfrm>
            <a:off x="8342726" y="5087410"/>
            <a:ext cx="246888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dirty="0">
                <a:solidFill>
                  <a:srgbClr val="1F59DF"/>
                </a:solidFill>
                <a:latin typeface="Aptos"/>
              </a:rPr>
              <a:t>30–60 </a:t>
            </a:r>
            <a:r>
              <a:rPr sz="1400" b="1" dirty="0" err="1">
                <a:solidFill>
                  <a:srgbClr val="1F59DF"/>
                </a:solidFill>
                <a:latin typeface="Aptos"/>
              </a:rPr>
              <a:t>тыс</a:t>
            </a:r>
            <a:r>
              <a:rPr sz="1400" b="1" dirty="0">
                <a:solidFill>
                  <a:srgbClr val="1F59DF"/>
                </a:solidFill>
                <a:latin typeface="Aptos"/>
              </a:rPr>
              <a:t>. ₽/</a:t>
            </a:r>
            <a:r>
              <a:rPr sz="1400" b="1" dirty="0" err="1">
                <a:solidFill>
                  <a:srgbClr val="1F59DF"/>
                </a:solidFill>
                <a:latin typeface="Aptos"/>
              </a:rPr>
              <a:t>мес</a:t>
            </a:r>
            <a:endParaRPr sz="1400" b="1" dirty="0">
              <a:solidFill>
                <a:srgbClr val="1F59DF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7C63B3-7783-1840-F758-B1D260432383}"/>
              </a:ext>
            </a:extLst>
          </p:cNvPr>
          <p:cNvSpPr txBox="1"/>
          <p:nvPr/>
        </p:nvSpPr>
        <p:spPr>
          <a:xfrm>
            <a:off x="8342726" y="5270290"/>
            <a:ext cx="2468880" cy="23237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ru-RU" sz="1150" dirty="0">
                <a:solidFill>
                  <a:srgbClr val="606978"/>
                </a:solidFill>
                <a:latin typeface="Aptos"/>
              </a:rPr>
              <a:t>агентства</a:t>
            </a:r>
            <a:r>
              <a:rPr sz="1050" b="0" dirty="0">
                <a:solidFill>
                  <a:srgbClr val="606978"/>
                </a:solidFill>
                <a:latin typeface="Aptos"/>
              </a:rPr>
              <a:t> / </a:t>
            </a:r>
            <a:r>
              <a:rPr lang="ru-RU" sz="1050" b="0" dirty="0">
                <a:solidFill>
                  <a:srgbClr val="606978"/>
                </a:solidFill>
                <a:latin typeface="Aptos"/>
              </a:rPr>
              <a:t>несколько</a:t>
            </a:r>
            <a:r>
              <a:rPr sz="1050" b="0" dirty="0">
                <a:solidFill>
                  <a:srgbClr val="606978"/>
                </a:solidFill>
                <a:latin typeface="Aptos"/>
              </a:rPr>
              <a:t> </a:t>
            </a:r>
            <a:r>
              <a:rPr lang="ru-RU" sz="1050" b="0" dirty="0">
                <a:solidFill>
                  <a:srgbClr val="606978"/>
                </a:solidFill>
                <a:latin typeface="Aptos"/>
              </a:rPr>
              <a:t>тем</a:t>
            </a:r>
            <a:endParaRPr sz="1050" b="0" dirty="0">
              <a:solidFill>
                <a:srgbClr val="606978"/>
              </a:solidFill>
              <a:latin typeface="Aptos"/>
            </a:endParaRPr>
          </a:p>
        </p:txBody>
      </p:sp>
      <p:sp>
        <p:nvSpPr>
          <p:cNvPr id="40" name="Rounded Rectangle 22">
            <a:extLst>
              <a:ext uri="{FF2B5EF4-FFF2-40B4-BE49-F238E27FC236}">
                <a16:creationId xmlns:a16="http://schemas.microsoft.com/office/drawing/2014/main" id="{221965A2-A88C-9DFC-8EEB-E96A9D338EB3}"/>
              </a:ext>
            </a:extLst>
          </p:cNvPr>
          <p:cNvSpPr/>
          <p:nvPr/>
        </p:nvSpPr>
        <p:spPr>
          <a:xfrm>
            <a:off x="384048" y="5685542"/>
            <a:ext cx="11347704" cy="512064"/>
          </a:xfrm>
          <a:prstGeom prst="roundRect">
            <a:avLst>
              <a:gd name="adj" fmla="val 7000"/>
            </a:avLst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rgbClr val="111D34"/>
                </a:solidFill>
              </a:rPr>
              <a:t>Ниша: </a:t>
            </a:r>
            <a:r>
              <a:rPr lang="ru-RU" sz="1600" dirty="0">
                <a:solidFill>
                  <a:srgbClr val="111D34"/>
                </a:solidFill>
              </a:rPr>
              <a:t>SNN — слой постобработки поверх уже собранного новостного потока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Продукт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05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16736"/>
            <a:ext cx="10607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 err="1">
                <a:solidFill>
                  <a:srgbClr val="111827"/>
                </a:solidFill>
              </a:rPr>
              <a:t>Semantic</a:t>
            </a:r>
            <a:r>
              <a:rPr lang="ru-RU" sz="2200" b="1" noProof="0" dirty="0">
                <a:solidFill>
                  <a:srgbClr val="111827"/>
                </a:solidFill>
              </a:rPr>
              <a:t> News </a:t>
            </a:r>
            <a:r>
              <a:rPr lang="ru-RU" sz="2200" b="1" noProof="0" dirty="0" err="1">
                <a:solidFill>
                  <a:srgbClr val="111827"/>
                </a:solidFill>
              </a:rPr>
              <a:t>Novelty</a:t>
            </a:r>
            <a:r>
              <a:rPr lang="ru-RU" sz="2200" b="1" noProof="0" dirty="0">
                <a:solidFill>
                  <a:srgbClr val="111827"/>
                </a:solidFill>
              </a:rPr>
              <a:t>: от новостной ленты к структуре обзора</a:t>
            </a:r>
            <a:endParaRPr lang="ru-RU" sz="2200" noProof="0" dirty="0"/>
          </a:p>
        </p:txBody>
      </p:sp>
      <p:sp>
        <p:nvSpPr>
          <p:cNvPr id="11" name="Shape 9"/>
          <p:cNvSpPr/>
          <p:nvPr/>
        </p:nvSpPr>
        <p:spPr>
          <a:xfrm>
            <a:off x="8488219" y="3322136"/>
            <a:ext cx="631093" cy="0"/>
          </a:xfrm>
          <a:prstGeom prst="line">
            <a:avLst/>
          </a:prstGeom>
          <a:noFill/>
          <a:ln w="30480">
            <a:solidFill>
              <a:srgbClr val="F05A4F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777241" y="2673604"/>
            <a:ext cx="2169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64748B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dirty="0">
                <a:solidFill>
                  <a:srgbClr val="64748B"/>
                </a:solidFill>
              </a:rPr>
              <a:t>Поток</a:t>
            </a:r>
            <a:endParaRPr lang="ru-RU" dirty="0"/>
          </a:p>
          <a:p>
            <a:pPr algn="ctr"/>
            <a:r>
              <a:rPr lang="ru-RU" b="1" dirty="0">
                <a:solidFill>
                  <a:srgbClr val="64748B"/>
                </a:solidFill>
              </a:rPr>
              <a:t>новостей</a:t>
            </a:r>
            <a:endParaRPr lang="ru-RU" noProof="0" dirty="0"/>
          </a:p>
        </p:txBody>
      </p:sp>
      <p:sp>
        <p:nvSpPr>
          <p:cNvPr id="14" name="Shape 12"/>
          <p:cNvSpPr/>
          <p:nvPr/>
        </p:nvSpPr>
        <p:spPr>
          <a:xfrm>
            <a:off x="3552801" y="2673604"/>
            <a:ext cx="212780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dirty="0">
                <a:solidFill>
                  <a:srgbClr val="2563EB"/>
                </a:solidFill>
              </a:rPr>
              <a:t>Группируем</a:t>
            </a:r>
            <a:endParaRPr lang="ru-RU" dirty="0"/>
          </a:p>
          <a:p>
            <a:pPr algn="ctr"/>
            <a:r>
              <a:rPr lang="ru-RU" b="1" dirty="0">
                <a:solidFill>
                  <a:srgbClr val="2563EB"/>
                </a:solidFill>
              </a:rPr>
              <a:t>в сюжеты</a:t>
            </a:r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6328360" y="2672912"/>
            <a:ext cx="2169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F05A4F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noProof="0" dirty="0">
                <a:solidFill>
                  <a:srgbClr val="F05A4F"/>
                </a:solidFill>
              </a:rPr>
              <a:t>Оцениваем</a:t>
            </a:r>
            <a:endParaRPr lang="ru-RU" noProof="0" dirty="0"/>
          </a:p>
          <a:p>
            <a:pPr algn="ctr"/>
            <a:r>
              <a:rPr lang="ru-RU" b="1" noProof="0" dirty="0">
                <a:solidFill>
                  <a:srgbClr val="F05A4F"/>
                </a:solidFill>
              </a:rPr>
              <a:t>новизну</a:t>
            </a:r>
            <a:endParaRPr lang="ru-RU" noProof="0" dirty="0"/>
          </a:p>
        </p:txBody>
      </p:sp>
      <p:sp>
        <p:nvSpPr>
          <p:cNvPr id="18" name="Shape 16"/>
          <p:cNvSpPr/>
          <p:nvPr/>
        </p:nvSpPr>
        <p:spPr>
          <a:xfrm>
            <a:off x="9119312" y="2672912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320">
            <a:solidFill>
              <a:srgbClr val="16A34A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b="1" noProof="0" dirty="0">
                <a:solidFill>
                  <a:srgbClr val="16A34A"/>
                </a:solidFill>
              </a:rPr>
              <a:t>Ищем</a:t>
            </a:r>
            <a:endParaRPr lang="ru-RU" noProof="0" dirty="0"/>
          </a:p>
          <a:p>
            <a:pPr algn="ctr"/>
            <a:r>
              <a:rPr lang="ru-RU" b="1" noProof="0" dirty="0">
                <a:solidFill>
                  <a:srgbClr val="16A34A"/>
                </a:solidFill>
              </a:rPr>
              <a:t>по смыслу</a:t>
            </a:r>
            <a:endParaRPr lang="ru-RU" noProof="0" dirty="0"/>
          </a:p>
        </p:txBody>
      </p:sp>
      <p:sp>
        <p:nvSpPr>
          <p:cNvPr id="21" name="Text 19"/>
          <p:cNvSpPr/>
          <p:nvPr/>
        </p:nvSpPr>
        <p:spPr>
          <a:xfrm>
            <a:off x="777240" y="5257800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ru-RU" b="1" dirty="0"/>
              <a:t>На выходе:</a:t>
            </a:r>
            <a:r>
              <a:rPr lang="ru-RU" dirty="0"/>
              <a:t> сюжеты, новизна и поиск по смыслу.</a:t>
            </a:r>
            <a:endParaRPr lang="ru-RU" noProof="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C4F02C73-BBB9-A11F-560E-BC6010B5E8C9}"/>
              </a:ext>
            </a:extLst>
          </p:cNvPr>
          <p:cNvSpPr/>
          <p:nvPr/>
        </p:nvSpPr>
        <p:spPr>
          <a:xfrm>
            <a:off x="5696634" y="3282558"/>
            <a:ext cx="631093" cy="0"/>
          </a:xfrm>
          <a:prstGeom prst="line">
            <a:avLst/>
          </a:prstGeom>
          <a:noFill/>
          <a:ln w="30480">
            <a:solidFill>
              <a:srgbClr val="F05A4F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E884F3D3-C295-1C81-36AD-2E5C48E629BD}"/>
              </a:ext>
            </a:extLst>
          </p:cNvPr>
          <p:cNvSpPr/>
          <p:nvPr/>
        </p:nvSpPr>
        <p:spPr>
          <a:xfrm>
            <a:off x="2946402" y="3290824"/>
            <a:ext cx="606400" cy="0"/>
          </a:xfrm>
          <a:prstGeom prst="line">
            <a:avLst/>
          </a:prstGeom>
          <a:noFill/>
          <a:ln w="30480">
            <a:solidFill>
              <a:srgbClr val="F05A4F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900" b="1" dirty="0">
                <a:latin typeface="+mj-lt"/>
              </a:rPr>
              <a:t>MVP: от модели к рабочему сервису</a:t>
            </a:r>
            <a:endParaRPr lang="ru-RU" sz="2900" b="1" noProof="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06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8229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96012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2563EB"/>
                </a:solidFill>
              </a:rPr>
              <a:t>Пользователь</a:t>
            </a:r>
            <a:endParaRPr lang="ru-RU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960120" y="2633472"/>
            <a:ext cx="295351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семантический поиск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новости по датам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история поиска</a:t>
            </a:r>
          </a:p>
          <a:p>
            <a:r>
              <a:rPr lang="ru-RU" sz="1350" dirty="0">
                <a:solidFill>
                  <a:srgbClr val="111827"/>
                </a:solidFill>
              </a:rPr>
              <a:t>• сюжеты с названиями</a:t>
            </a:r>
            <a:endParaRPr lang="ru-RU" sz="1350" noProof="0" dirty="0"/>
          </a:p>
        </p:txBody>
      </p:sp>
      <p:sp>
        <p:nvSpPr>
          <p:cNvPr id="11" name="Shape 9"/>
          <p:cNvSpPr/>
          <p:nvPr/>
        </p:nvSpPr>
        <p:spPr>
          <a:xfrm>
            <a:off x="4434840" y="20574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4434840" y="2057400"/>
            <a:ext cx="82296" cy="214884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46634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F05A4F"/>
                </a:solidFill>
              </a:rPr>
              <a:t>Редактор</a:t>
            </a:r>
            <a:endParaRPr lang="ru-RU" sz="1550" noProof="0" dirty="0"/>
          </a:p>
        </p:txBody>
      </p:sp>
      <p:sp>
        <p:nvSpPr>
          <p:cNvPr id="14" name="Text 12"/>
          <p:cNvSpPr/>
          <p:nvPr/>
        </p:nvSpPr>
        <p:spPr>
          <a:xfrm>
            <a:off x="4663440" y="2633472"/>
            <a:ext cx="295351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импорт CSV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черновики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ручная правка меток</a:t>
            </a:r>
            <a:endParaRPr lang="ru-RU" sz="1350" noProof="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8138160" y="2057400"/>
            <a:ext cx="82296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Text 15"/>
          <p:cNvSpPr/>
          <p:nvPr/>
        </p:nvSpPr>
        <p:spPr>
          <a:xfrm>
            <a:off x="836676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sz="1550" b="1" noProof="0" dirty="0">
                <a:solidFill>
                  <a:srgbClr val="16A34A"/>
                </a:solidFill>
              </a:rPr>
              <a:t>Администратор</a:t>
            </a:r>
            <a:endParaRPr lang="ru-RU" sz="1550" noProof="0" dirty="0"/>
          </a:p>
        </p:txBody>
      </p:sp>
      <p:sp>
        <p:nvSpPr>
          <p:cNvPr id="18" name="Text 16"/>
          <p:cNvSpPr/>
          <p:nvPr/>
        </p:nvSpPr>
        <p:spPr>
          <a:xfrm>
            <a:off x="8366760" y="2633472"/>
            <a:ext cx="295351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пользователи и роли</a:t>
            </a:r>
          </a:p>
          <a:p>
            <a:r>
              <a:rPr lang="ru-RU" sz="1350" dirty="0">
                <a:solidFill>
                  <a:srgbClr val="111827"/>
                </a:solidFill>
              </a:rPr>
              <a:t>• организации</a:t>
            </a:r>
            <a:r>
              <a:rPr lang="en-US" sz="1350" dirty="0">
                <a:solidFill>
                  <a:srgbClr val="111827"/>
                </a:solidFill>
              </a:rPr>
              <a:t> </a:t>
            </a:r>
            <a:endParaRPr lang="ru-RU" sz="1350" dirty="0">
              <a:solidFill>
                <a:srgbClr val="111827"/>
              </a:solidFill>
            </a:endParaRPr>
          </a:p>
          <a:p>
            <a:r>
              <a:rPr lang="ru-RU" sz="1350" dirty="0">
                <a:solidFill>
                  <a:srgbClr val="111827"/>
                </a:solidFill>
              </a:rPr>
              <a:t>• изоляция данных</a:t>
            </a:r>
            <a:endParaRPr lang="ru-RU" sz="1350" noProof="0" dirty="0"/>
          </a:p>
          <a:p>
            <a:pPr marL="0" indent="0">
              <a:buNone/>
            </a:pPr>
            <a:r>
              <a:rPr lang="ru-RU" sz="1350" noProof="0" dirty="0">
                <a:solidFill>
                  <a:srgbClr val="111827"/>
                </a:solidFill>
              </a:rPr>
              <a:t>• баланс и кредиты</a:t>
            </a:r>
            <a:endParaRPr lang="ru-RU" sz="1350" noProof="0" dirty="0"/>
          </a:p>
        </p:txBody>
      </p:sp>
      <p:sp>
        <p:nvSpPr>
          <p:cNvPr id="19" name="Shape 17"/>
          <p:cNvSpPr/>
          <p:nvPr/>
        </p:nvSpPr>
        <p:spPr>
          <a:xfrm>
            <a:off x="914400" y="5093206"/>
            <a:ext cx="10332720" cy="438913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Стек:</a:t>
            </a:r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FastAPI</a:t>
            </a:r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· PostgreSQL/pgvector · RabbitMQ/Celery · BGE-M3 · Prometheus/Grafana · Docker Compose</a:t>
            </a:r>
            <a:endParaRPr lang="ru-RU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64592"/>
            <a:ext cx="8961120" cy="548640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3000" b="1">
                <a:solidFill>
                  <a:srgbClr val="111D34"/>
                </a:solidFill>
                <a:latin typeface="Aptos"/>
              </a:rPr>
              <a:t>Метрики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164592"/>
            <a:ext cx="384048" cy="310896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r"/>
            <a:r>
              <a:rPr sz="1400" b="1">
                <a:solidFill>
                  <a:srgbClr val="F15A4D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197864"/>
            <a:ext cx="11384280" cy="16459"/>
          </a:xfrm>
          <a:prstGeom prst="rect">
            <a:avLst/>
          </a:prstGeom>
          <a:solidFill>
            <a:srgbClr val="CD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481328"/>
            <a:ext cx="6858000" cy="400110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lang="ru-RU" sz="2000" b="0" dirty="0">
                <a:solidFill>
                  <a:srgbClr val="111D34"/>
                </a:solidFill>
                <a:latin typeface="Aptos"/>
              </a:rPr>
              <a:t>Бейзлайн</a:t>
            </a:r>
            <a:r>
              <a:rPr sz="2000" b="0" dirty="0">
                <a:solidFill>
                  <a:srgbClr val="111D34"/>
                </a:solidFill>
                <a:latin typeface="Aptos"/>
              </a:rPr>
              <a:t> → </a:t>
            </a:r>
            <a:r>
              <a:rPr lang="ru-RU" sz="2000" b="0" dirty="0">
                <a:solidFill>
                  <a:srgbClr val="111D34"/>
                </a:solidFill>
                <a:latin typeface="Aptos"/>
              </a:rPr>
              <a:t>финальный </a:t>
            </a:r>
            <a:r>
              <a:rPr lang="ru-RU" sz="2000" b="0" dirty="0" err="1">
                <a:solidFill>
                  <a:srgbClr val="111D34"/>
                </a:solidFill>
                <a:latin typeface="Aptos"/>
              </a:rPr>
              <a:t>пайплайн</a:t>
            </a:r>
            <a:endParaRPr sz="2000" b="0" dirty="0">
              <a:solidFill>
                <a:srgbClr val="111D3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9768" y="2633472"/>
            <a:ext cx="332841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3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9768" y="2660904"/>
            <a:ext cx="54864" cy="2276856"/>
          </a:xfrm>
          <a:prstGeom prst="rect">
            <a:avLst/>
          </a:prstGeom>
          <a:solidFill>
            <a:srgbClr val="2A6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2706624"/>
            <a:ext cx="2834640" cy="369332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lang="ru-RU" sz="1800" b="1" dirty="0">
                <a:solidFill>
                  <a:srgbClr val="2A62E9"/>
                </a:solidFill>
                <a:latin typeface="Aptos"/>
              </a:rPr>
              <a:t>Значимые обновления</a:t>
            </a:r>
            <a:endParaRPr sz="1800" b="1" dirty="0">
              <a:solidFill>
                <a:srgbClr val="2A62E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3090672"/>
            <a:ext cx="2880360" cy="402336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111D34"/>
                </a:solidFill>
                <a:latin typeface="Aptos"/>
              </a:rPr>
              <a:t>Recall 0.51 → 0.99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" y="3535143"/>
            <a:ext cx="2679192" cy="13716"/>
          </a:xfrm>
          <a:prstGeom prst="rect">
            <a:avLst/>
          </a:prstGeom>
          <a:solidFill>
            <a:srgbClr val="CD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3692313"/>
            <a:ext cx="2834640" cy="338554"/>
          </a:xfrm>
          <a:prstGeom prst="rect">
            <a:avLst/>
          </a:prstGeom>
          <a:noFill/>
        </p:spPr>
        <p:txBody>
          <a:bodyPr wrap="square" lIns="54864" tIns="54864" rIns="36576" bIns="36576" anchor="ctr">
            <a:spAutoFit/>
          </a:bodyPr>
          <a:lstStyle/>
          <a:p>
            <a:pPr algn="l"/>
            <a:r>
              <a:rPr sz="1600" b="0" dirty="0">
                <a:solidFill>
                  <a:srgbClr val="606978"/>
                </a:solidFill>
                <a:latin typeface="Aptos"/>
              </a:rPr>
              <a:t>F1 0.63 → 0.91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05656" y="2633472"/>
            <a:ext cx="332841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3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05656" y="2660904"/>
            <a:ext cx="54864" cy="2276856"/>
          </a:xfrm>
          <a:prstGeom prst="rect">
            <a:avLst/>
          </a:prstGeom>
          <a:solidFill>
            <a:srgbClr val="F15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29684" y="4301563"/>
            <a:ext cx="2834640" cy="338554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lang="ru-RU" sz="1600" b="1" dirty="0">
                <a:solidFill>
                  <a:srgbClr val="F15A4D"/>
                </a:solidFill>
                <a:latin typeface="Aptos"/>
              </a:rPr>
              <a:t>Лучше собраны сюжеты</a:t>
            </a:r>
            <a:endParaRPr sz="1600" b="1" dirty="0">
              <a:solidFill>
                <a:srgbClr val="F15A4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56756" y="3089373"/>
            <a:ext cx="3140739" cy="400110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r>
              <a:rPr lang="ru-RU" sz="2000" b="1" dirty="0"/>
              <a:t>Pairwise </a:t>
            </a:r>
            <a:r>
              <a:rPr sz="2000" b="1" dirty="0">
                <a:solidFill>
                  <a:srgbClr val="111D34"/>
                </a:solidFill>
                <a:latin typeface="Aptos"/>
              </a:rPr>
              <a:t>Recall 0.63 → 0.83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9684" y="3528285"/>
            <a:ext cx="2679192" cy="13716"/>
          </a:xfrm>
          <a:prstGeom prst="rect">
            <a:avLst/>
          </a:prstGeom>
          <a:solidFill>
            <a:srgbClr val="CD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3696386"/>
            <a:ext cx="2834640" cy="338554"/>
          </a:xfrm>
          <a:prstGeom prst="rect">
            <a:avLst/>
          </a:prstGeom>
          <a:noFill/>
        </p:spPr>
        <p:txBody>
          <a:bodyPr wrap="square" lIns="54864" tIns="54864" rIns="36576" bIns="36576" anchor="ctr">
            <a:spAutoFit/>
          </a:bodyPr>
          <a:lstStyle/>
          <a:p>
            <a:pPr algn="l"/>
            <a:r>
              <a:rPr lang="en-US" sz="1600" dirty="0">
                <a:solidFill>
                  <a:srgbClr val="606978"/>
                </a:solidFill>
                <a:latin typeface="Aptos"/>
              </a:rPr>
              <a:t>Pairwise </a:t>
            </a:r>
            <a:r>
              <a:rPr sz="1600" b="0" dirty="0">
                <a:solidFill>
                  <a:srgbClr val="606978"/>
                </a:solidFill>
                <a:latin typeface="Aptos"/>
              </a:rPr>
              <a:t>F1 0.77 → 0.90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36408" y="2633472"/>
            <a:ext cx="332841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3C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81544" y="2660904"/>
            <a:ext cx="54864" cy="2276856"/>
          </a:xfrm>
          <a:prstGeom prst="rect">
            <a:avLst/>
          </a:prstGeom>
          <a:solidFill>
            <a:srgbClr val="23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6254" y="4301563"/>
            <a:ext cx="2834640" cy="338554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lang="ru-RU" sz="1600" b="1" dirty="0">
                <a:solidFill>
                  <a:srgbClr val="23B05B"/>
                </a:solidFill>
                <a:latin typeface="Aptos"/>
              </a:rPr>
              <a:t>Меньше дублей</a:t>
            </a:r>
            <a:endParaRPr sz="1600" b="1" dirty="0">
              <a:solidFill>
                <a:srgbClr val="23B05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27848" y="3089373"/>
            <a:ext cx="2880360" cy="402336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111D34"/>
                </a:solidFill>
                <a:latin typeface="Aptos"/>
              </a:rPr>
              <a:t>MRR@10 0.91 → 0.99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2712" y="3514569"/>
            <a:ext cx="2679192" cy="13716"/>
          </a:xfrm>
          <a:prstGeom prst="rect">
            <a:avLst/>
          </a:prstGeom>
          <a:solidFill>
            <a:srgbClr val="CD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0708" y="3695825"/>
            <a:ext cx="2834640" cy="338554"/>
          </a:xfrm>
          <a:prstGeom prst="rect">
            <a:avLst/>
          </a:prstGeom>
          <a:noFill/>
        </p:spPr>
        <p:txBody>
          <a:bodyPr wrap="square" lIns="54864" tIns="54864" rIns="36576" bIns="36576" anchor="ctr">
            <a:spAutoFit/>
          </a:bodyPr>
          <a:lstStyle/>
          <a:p>
            <a:r>
              <a:rPr lang="ru-RU" sz="1600" dirty="0">
                <a:solidFill>
                  <a:srgbClr val="606978"/>
                </a:solidFill>
                <a:latin typeface="Aptos"/>
              </a:rPr>
              <a:t>Повторы</a:t>
            </a:r>
            <a:r>
              <a:rPr sz="1600" b="0" dirty="0">
                <a:solidFill>
                  <a:srgbClr val="606978"/>
                </a:solidFill>
                <a:latin typeface="Aptos"/>
              </a:rPr>
              <a:t> в Top-10: −75%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72E637-3FAB-480E-6D11-C81D3B72B423}"/>
              </a:ext>
            </a:extLst>
          </p:cNvPr>
          <p:cNvSpPr txBox="1"/>
          <p:nvPr/>
        </p:nvSpPr>
        <p:spPr>
          <a:xfrm>
            <a:off x="576072" y="4316952"/>
            <a:ext cx="2834640" cy="338554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lang="ru-RU" sz="1600" b="1" dirty="0">
                <a:solidFill>
                  <a:srgbClr val="2A62E9"/>
                </a:solidFill>
                <a:latin typeface="Aptos"/>
              </a:rPr>
              <a:t>Меньше пропусков</a:t>
            </a:r>
            <a:endParaRPr sz="1600" b="1" dirty="0">
              <a:solidFill>
                <a:srgbClr val="2A62E9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8647E-F250-FAC5-C8C6-57201E768E00}"/>
              </a:ext>
            </a:extLst>
          </p:cNvPr>
          <p:cNvSpPr txBox="1"/>
          <p:nvPr/>
        </p:nvSpPr>
        <p:spPr>
          <a:xfrm>
            <a:off x="4256756" y="2710822"/>
            <a:ext cx="2834640" cy="274320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F15A4D"/>
                </a:solidFill>
                <a:latin typeface="Aptos"/>
              </a:rPr>
              <a:t>Сюжеты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050778-3CCD-9AEA-311A-D68F8A80A780}"/>
              </a:ext>
            </a:extLst>
          </p:cNvPr>
          <p:cNvSpPr txBox="1"/>
          <p:nvPr/>
        </p:nvSpPr>
        <p:spPr>
          <a:xfrm>
            <a:off x="7970420" y="2709772"/>
            <a:ext cx="2834640" cy="369332"/>
          </a:xfrm>
          <a:prstGeom prst="rect">
            <a:avLst/>
          </a:prstGeom>
          <a:noFill/>
        </p:spPr>
        <p:txBody>
          <a:bodyPr wrap="square" lIns="54864" tIns="54864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23B05B"/>
                </a:solidFill>
                <a:latin typeface="Aptos"/>
              </a:rPr>
              <a:t>П</a:t>
            </a:r>
            <a:r>
              <a:rPr lang="ru-RU" sz="1800" b="1" dirty="0" err="1">
                <a:solidFill>
                  <a:srgbClr val="23B05B"/>
                </a:solidFill>
                <a:latin typeface="Aptos"/>
              </a:rPr>
              <a:t>оиск</a:t>
            </a:r>
            <a:endParaRPr sz="1800" b="1" dirty="0">
              <a:solidFill>
                <a:srgbClr val="23B05B"/>
              </a:solidFill>
              <a:latin typeface="Aptos"/>
            </a:endParaRPr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C6F0C007-EA62-CFDD-AE3E-48043DA04DD8}"/>
              </a:ext>
            </a:extLst>
          </p:cNvPr>
          <p:cNvSpPr/>
          <p:nvPr/>
        </p:nvSpPr>
        <p:spPr>
          <a:xfrm>
            <a:off x="429768" y="5747614"/>
            <a:ext cx="10735056" cy="438913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Почему Recall/F1: </a:t>
            </a:r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для обзора критичнее не пропустить значимое обновление; F1 контролирует баланс с точностью.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59150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>
                <a:alpha val="0"/>
              </a:srgbClr>
            </a:solidFill>
            <a:prstDash val="solid"/>
            <a:tailEnd w="sm" len="me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Схема сервиса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08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Shape 7"/>
          <p:cNvSpPr/>
          <p:nvPr/>
        </p:nvSpPr>
        <p:spPr>
          <a:xfrm>
            <a:off x="6656832" y="2716692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Shape 9"/>
          <p:cNvSpPr/>
          <p:nvPr/>
        </p:nvSpPr>
        <p:spPr>
          <a:xfrm>
            <a:off x="786384" y="1984248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Text 10"/>
          <p:cNvSpPr/>
          <p:nvPr/>
        </p:nvSpPr>
        <p:spPr>
          <a:xfrm>
            <a:off x="896112" y="2185416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UI</a:t>
            </a:r>
            <a:endParaRPr lang="ru-RU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905256" y="2642616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Streamlit</a:t>
            </a:r>
            <a:endParaRPr lang="ru-RU" sz="1120" noProof="0" dirty="0"/>
          </a:p>
        </p:txBody>
      </p:sp>
      <p:sp>
        <p:nvSpPr>
          <p:cNvPr id="14" name="Shape 12"/>
          <p:cNvSpPr/>
          <p:nvPr/>
        </p:nvSpPr>
        <p:spPr>
          <a:xfrm>
            <a:off x="2874265" y="1984248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5" name="Text 13"/>
          <p:cNvSpPr/>
          <p:nvPr/>
        </p:nvSpPr>
        <p:spPr>
          <a:xfrm>
            <a:off x="2983993" y="2185416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2563EB"/>
                </a:solidFill>
              </a:rPr>
              <a:t>API</a:t>
            </a:r>
            <a:endParaRPr lang="ru-RU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2993137" y="2642616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FastAPI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nginx</a:t>
            </a:r>
            <a:endParaRPr lang="ru-RU" sz="1120" noProof="0" dirty="0"/>
          </a:p>
        </p:txBody>
      </p:sp>
      <p:sp>
        <p:nvSpPr>
          <p:cNvPr id="17" name="Shape 15"/>
          <p:cNvSpPr/>
          <p:nvPr/>
        </p:nvSpPr>
        <p:spPr>
          <a:xfrm>
            <a:off x="4977385" y="1989189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F05A4F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Text 16"/>
          <p:cNvSpPr/>
          <p:nvPr/>
        </p:nvSpPr>
        <p:spPr>
          <a:xfrm>
            <a:off x="5087113" y="2190357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Очередь</a:t>
            </a:r>
          </a:p>
          <a:p>
            <a:pPr marL="0" indent="0" algn="ctr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задач</a:t>
            </a:r>
            <a:endParaRPr lang="ru-RU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5096257" y="2647557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RabbitMQ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Celery</a:t>
            </a:r>
            <a:endParaRPr lang="ru-RU" sz="1120" noProof="0" dirty="0"/>
          </a:p>
        </p:txBody>
      </p:sp>
      <p:sp>
        <p:nvSpPr>
          <p:cNvPr id="20" name="Shape 18"/>
          <p:cNvSpPr/>
          <p:nvPr/>
        </p:nvSpPr>
        <p:spPr>
          <a:xfrm>
            <a:off x="7022592" y="19888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F05A4F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1" name="Text 19"/>
          <p:cNvSpPr/>
          <p:nvPr/>
        </p:nvSpPr>
        <p:spPr>
          <a:xfrm>
            <a:off x="7132320" y="2189988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F05A4F"/>
                </a:solidFill>
              </a:rPr>
              <a:t>ML</a:t>
            </a:r>
            <a:r>
              <a:rPr lang="en-US" sz="2000" b="1" noProof="0" dirty="0">
                <a:solidFill>
                  <a:srgbClr val="F05A4F"/>
                </a:solidFill>
              </a:rPr>
              <a:t>-</a:t>
            </a:r>
            <a:r>
              <a:rPr lang="ru-RU" sz="2000" b="1" noProof="0" dirty="0" err="1">
                <a:solidFill>
                  <a:srgbClr val="F05A4F"/>
                </a:solidFill>
              </a:rPr>
              <a:t>воркер</a:t>
            </a:r>
            <a:endParaRPr lang="ru-RU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7141464" y="2647188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ru-RU" sz="1120" noProof="0" dirty="0">
                <a:solidFill>
                  <a:srgbClr val="64748B"/>
                </a:solidFill>
              </a:rPr>
              <a:t>эмбеддинги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>
                <a:solidFill>
                  <a:srgbClr val="64748B"/>
                </a:solidFill>
              </a:rPr>
              <a:t>кластеры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>
                <a:solidFill>
                  <a:srgbClr val="64748B"/>
                </a:solidFill>
              </a:rPr>
              <a:t>новизна</a:t>
            </a:r>
            <a:endParaRPr lang="ru-RU" sz="1120" noProof="0" dirty="0"/>
          </a:p>
        </p:txBody>
      </p:sp>
      <p:sp>
        <p:nvSpPr>
          <p:cNvPr id="23" name="Shape 21"/>
          <p:cNvSpPr/>
          <p:nvPr/>
        </p:nvSpPr>
        <p:spPr>
          <a:xfrm>
            <a:off x="9144000" y="1984248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4" name="Text 22"/>
          <p:cNvSpPr/>
          <p:nvPr/>
        </p:nvSpPr>
        <p:spPr>
          <a:xfrm>
            <a:off x="9253728" y="2185416"/>
            <a:ext cx="1517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rgbClr val="16A34A"/>
                </a:solidFill>
              </a:rPr>
              <a:t>БД + векторы</a:t>
            </a:r>
            <a:endParaRPr lang="ru-RU" sz="2000" noProof="0" dirty="0"/>
          </a:p>
        </p:txBody>
      </p:sp>
      <p:sp>
        <p:nvSpPr>
          <p:cNvPr id="25" name="Text 23"/>
          <p:cNvSpPr/>
          <p:nvPr/>
        </p:nvSpPr>
        <p:spPr>
          <a:xfrm>
            <a:off x="9262872" y="2642616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PostgreSQL</a:t>
            </a:r>
            <a:endParaRPr lang="ru-RU" sz="1120" noProof="0" dirty="0"/>
          </a:p>
          <a:p>
            <a:pPr marL="0" indent="0" algn="ctr">
              <a:buNone/>
            </a:pPr>
            <a:r>
              <a:rPr lang="ru-RU" sz="1120" noProof="0" dirty="0" err="1">
                <a:solidFill>
                  <a:srgbClr val="64748B"/>
                </a:solidFill>
              </a:rPr>
              <a:t>pgvector</a:t>
            </a:r>
            <a:endParaRPr lang="ru-RU" sz="1120" noProof="0" dirty="0"/>
          </a:p>
        </p:txBody>
      </p:sp>
      <p:sp>
        <p:nvSpPr>
          <p:cNvPr id="26" name="Shape 24"/>
          <p:cNvSpPr/>
          <p:nvPr/>
        </p:nvSpPr>
        <p:spPr>
          <a:xfrm>
            <a:off x="7896999" y="3401568"/>
            <a:ext cx="0" cy="7511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  <a:tailEnd type="triangle" w="sm" len="me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7" name="Shape 25"/>
          <p:cNvSpPr/>
          <p:nvPr/>
        </p:nvSpPr>
        <p:spPr>
          <a:xfrm>
            <a:off x="4977385" y="4152668"/>
            <a:ext cx="590397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pPr algn="ctr"/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05984" y="4327694"/>
            <a:ext cx="5556501" cy="2913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1550" b="1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Мониторинг</a:t>
            </a:r>
            <a:endParaRPr lang="ru-RU" sz="1550" noProof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05985" y="4673875"/>
            <a:ext cx="5556500" cy="3763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ru-RU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Prometheus</a:t>
            </a:r>
            <a:r>
              <a:rPr lang="ru-RU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 </a:t>
            </a:r>
            <a:r>
              <a:rPr lang="ru-RU" sz="11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Grafana</a:t>
            </a:r>
            <a:endParaRPr lang="ru-RU" sz="11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ctr">
              <a:buNone/>
            </a:pPr>
            <a:r>
              <a:rPr lang="ru-RU" sz="11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очередь · скорость · ошибки · ресурсы</a:t>
            </a: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AB4EEA35-77D9-007C-0EA1-6CD1594B57E0}"/>
              </a:ext>
            </a:extLst>
          </p:cNvPr>
          <p:cNvSpPr/>
          <p:nvPr/>
        </p:nvSpPr>
        <p:spPr>
          <a:xfrm>
            <a:off x="8769096" y="2719186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7CD1ACC0-AC91-724D-5B06-70F231714D6B}"/>
              </a:ext>
            </a:extLst>
          </p:cNvPr>
          <p:cNvSpPr/>
          <p:nvPr/>
        </p:nvSpPr>
        <p:spPr>
          <a:xfrm>
            <a:off x="4611625" y="2714198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3A7526EC-E036-2473-BA73-FC6A947C1DCF}"/>
              </a:ext>
            </a:extLst>
          </p:cNvPr>
          <p:cNvSpPr/>
          <p:nvPr/>
        </p:nvSpPr>
        <p:spPr>
          <a:xfrm>
            <a:off x="2523744" y="2697849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89A38890-4BB4-7BD6-B716-4CF364C7F953}"/>
              </a:ext>
            </a:extLst>
          </p:cNvPr>
          <p:cNvSpPr/>
          <p:nvPr/>
        </p:nvSpPr>
        <p:spPr>
          <a:xfrm>
            <a:off x="5791108" y="3401568"/>
            <a:ext cx="0" cy="7511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  <a:tailEnd type="triangle" w="sm" len="med"/>
          </a:ln>
        </p:spPr>
        <p:txBody>
          <a:bodyPr/>
          <a:lstStyle/>
          <a:p>
            <a:endParaRPr lang="ru-RU" spc="-150" noProof="0" dirty="0"/>
          </a:p>
        </p:txBody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49C50FEE-E70D-671C-7615-B903465A9418}"/>
              </a:ext>
            </a:extLst>
          </p:cNvPr>
          <p:cNvSpPr/>
          <p:nvPr/>
        </p:nvSpPr>
        <p:spPr>
          <a:xfrm>
            <a:off x="10049071" y="3401568"/>
            <a:ext cx="0" cy="7511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  <a:tailEnd type="triangle" w="sm" len="med"/>
          </a:ln>
        </p:spPr>
        <p:txBody>
          <a:bodyPr/>
          <a:lstStyle/>
          <a:p>
            <a:endParaRPr lang="ru-RU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Применение AI-инструментов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09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" name="Shape 5"/>
          <p:cNvSpPr/>
          <p:nvPr/>
        </p:nvSpPr>
        <p:spPr>
          <a:xfrm>
            <a:off x="813261" y="1591056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813261" y="1591056"/>
            <a:ext cx="82296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041861" y="1755648"/>
            <a:ext cx="44622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000" b="1" dirty="0">
                <a:solidFill>
                  <a:srgbClr val="2A62E9"/>
                </a:solidFill>
              </a:rPr>
              <a:t>AI </a:t>
            </a:r>
            <a:r>
              <a:rPr lang="ru-RU" sz="2000" b="1" dirty="0">
                <a:solidFill>
                  <a:srgbClr val="2A62E9"/>
                </a:solidFill>
              </a:rPr>
              <a:t>использовался как помощник</a:t>
            </a:r>
          </a:p>
        </p:txBody>
      </p:sp>
      <p:sp>
        <p:nvSpPr>
          <p:cNvPr id="10" name="Text 8"/>
          <p:cNvSpPr/>
          <p:nvPr/>
        </p:nvSpPr>
        <p:spPr>
          <a:xfrm>
            <a:off x="1041861" y="2167128"/>
            <a:ext cx="4534480" cy="16253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ru-RU" dirty="0"/>
              <a:t>• ChatGPT — разбор ошибок, документация, формулировки</a:t>
            </a:r>
            <a:br>
              <a:rPr lang="ru-RU" dirty="0"/>
            </a:br>
            <a:r>
              <a:rPr lang="ru-RU" dirty="0"/>
              <a:t>• </a:t>
            </a:r>
            <a:r>
              <a:rPr lang="ru-RU" dirty="0" err="1"/>
              <a:t>Codex</a:t>
            </a:r>
            <a:r>
              <a:rPr lang="ru-RU" dirty="0"/>
              <a:t> / </a:t>
            </a:r>
            <a:r>
              <a:rPr lang="ru-RU" dirty="0" err="1"/>
              <a:t>Kiro.dev</a:t>
            </a:r>
            <a:r>
              <a:rPr lang="ru-RU" dirty="0"/>
              <a:t> — код, тесты, ревью кода</a:t>
            </a:r>
            <a:br>
              <a:rPr lang="ru-RU" dirty="0"/>
            </a:br>
            <a:r>
              <a:rPr lang="ru-RU" dirty="0"/>
              <a:t>• </a:t>
            </a:r>
            <a:r>
              <a:rPr lang="ru-RU" dirty="0" err="1"/>
              <a:t>DeepSeek</a:t>
            </a:r>
            <a:r>
              <a:rPr lang="ru-RU" dirty="0"/>
              <a:t> / Gemini / </a:t>
            </a:r>
            <a:r>
              <a:rPr lang="ru-RU" dirty="0" err="1"/>
              <a:t>GigaChat</a:t>
            </a:r>
            <a:r>
              <a:rPr lang="ru-RU" dirty="0"/>
              <a:t> — сверка идей</a:t>
            </a:r>
            <a:br>
              <a:rPr lang="ru-RU" dirty="0"/>
            </a:br>
            <a:endParaRPr lang="ru-RU" dirty="0">
              <a:solidFill>
                <a:srgbClr val="161F3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36821" y="1591056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6436821" y="1591056"/>
            <a:ext cx="82296" cy="228600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6665421" y="1654325"/>
            <a:ext cx="4462272" cy="4030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ru-RU" sz="2000" b="1" dirty="0">
                <a:solidFill>
                  <a:srgbClr val="F15A4D"/>
                </a:solidFill>
              </a:rPr>
              <a:t>За мной оставались</a:t>
            </a:r>
          </a:p>
        </p:txBody>
      </p:sp>
      <p:sp>
        <p:nvSpPr>
          <p:cNvPr id="14" name="Text 12"/>
          <p:cNvSpPr/>
          <p:nvPr/>
        </p:nvSpPr>
        <p:spPr>
          <a:xfrm>
            <a:off x="6665421" y="2167128"/>
            <a:ext cx="446227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dirty="0"/>
              <a:t>• постановка задачи и критерии качества</a:t>
            </a:r>
            <a:br>
              <a:rPr lang="ru-RU" dirty="0"/>
            </a:br>
            <a:r>
              <a:rPr lang="ru-RU" dirty="0"/>
              <a:t>• метрики, данные и эксперименты</a:t>
            </a:r>
            <a:br>
              <a:rPr lang="ru-RU" dirty="0"/>
            </a:br>
            <a:r>
              <a:rPr lang="ru-RU" dirty="0"/>
              <a:t>• проверка результатов</a:t>
            </a:r>
            <a:br>
              <a:rPr lang="ru-RU" dirty="0"/>
            </a:br>
            <a:r>
              <a:rPr lang="ru-RU" dirty="0"/>
              <a:t>• финальные решения по продукту и архитектуре</a:t>
            </a:r>
            <a:endParaRPr lang="ru-RU" dirty="0">
              <a:solidFill>
                <a:srgbClr val="161F3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3261" y="5029200"/>
            <a:ext cx="10469880" cy="658368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600" b="1" dirty="0">
                <a:solidFill>
                  <a:srgbClr val="111827"/>
                </a:solidFill>
              </a:rPr>
              <a:t>Принцип: </a:t>
            </a:r>
            <a:r>
              <a:rPr lang="ru-RU" sz="1600" dirty="0">
                <a:solidFill>
                  <a:srgbClr val="111827"/>
                </a:solidFill>
              </a:rPr>
              <a:t>AI — помощник в разработке, не автор проекта.</a:t>
            </a:r>
            <a:endParaRPr lang="ru-RU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Демо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10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>
                <a:solidFill>
                  <a:srgbClr val="111827"/>
                </a:solidFill>
              </a:rPr>
              <a:t>Один сценарий: редактор загружает поток и получает результат модели</a:t>
            </a:r>
            <a:endParaRPr lang="ru-RU" sz="22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8" name="Image 0" descr="/mnt/data/snn_assets/crops_v5/im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44" y="1837944"/>
            <a:ext cx="5016473" cy="1673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56616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1. Загружаю CSV</a:t>
            </a:r>
            <a:endParaRPr lang="ru-RU" sz="1150" noProof="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11" name="Image 1" descr="/mnt/data/snn_assets/crops_v5/editor_l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352" y="1837944"/>
            <a:ext cx="3700936" cy="16733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1072" y="356616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2. Запускаю модель</a:t>
            </a:r>
            <a:endParaRPr lang="ru-RU" sz="1150" noProof="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14" name="Image 2" descr="/mnt/data/snn_assets/crops_v5/news_da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526" y="4078224"/>
            <a:ext cx="3796909" cy="1673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580644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3. Вижу сюжеты</a:t>
            </a:r>
            <a:endParaRPr lang="ru-RU" sz="1150" noProof="0" dirty="0"/>
          </a:p>
        </p:txBody>
      </p:sp>
      <p:sp>
        <p:nvSpPr>
          <p:cNvPr id="16" name="Shape 11"/>
          <p:cNvSpPr/>
          <p:nvPr/>
        </p:nvSpPr>
        <p:spPr>
          <a:xfrm>
            <a:off x="6217920" y="4023360"/>
            <a:ext cx="5257800" cy="2039112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17" name="Image 3" descr="/mnt/data/snn_assets/crops_v5/searc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7824" y="4078224"/>
            <a:ext cx="3897991" cy="1673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1072" y="5806440"/>
            <a:ext cx="51023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ru-RU" sz="1150" b="1" noProof="0" dirty="0">
                <a:solidFill>
                  <a:srgbClr val="111827"/>
                </a:solidFill>
              </a:rPr>
              <a:t>4. Ищу по смыслу</a:t>
            </a:r>
            <a:endParaRPr lang="ru-RU" sz="1150" noProof="0" dirty="0"/>
          </a:p>
        </p:txBody>
      </p:sp>
      <p:sp>
        <p:nvSpPr>
          <p:cNvPr id="19" name="Text 13"/>
          <p:cNvSpPr/>
          <p:nvPr/>
        </p:nvSpPr>
        <p:spPr>
          <a:xfrm>
            <a:off x="1005840" y="6419088"/>
            <a:ext cx="10149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ru-RU" sz="1150" noProof="0" dirty="0">
                <a:solidFill>
                  <a:srgbClr val="64748B"/>
                </a:solidFill>
              </a:rPr>
              <a:t>Live-показ — 30–60 секунд. Комментирую каждый шаг по ходу.</a:t>
            </a:r>
            <a:endParaRPr lang="ru-RU" sz="11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Преимущества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11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200" b="1" noProof="0" dirty="0">
                <a:solidFill>
                  <a:srgbClr val="111827"/>
                </a:solidFill>
              </a:rPr>
              <a:t>Не ещё одна лента, а рабочий инструмент аналитика</a:t>
            </a:r>
            <a:endParaRPr lang="ru-RU" sz="2200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3337560" cy="162790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82296" cy="162790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2563EB"/>
                </a:solidFill>
              </a:rPr>
              <a:t>Быстрый обзор</a:t>
            </a:r>
            <a:endParaRPr lang="ru-RU" noProof="0" dirty="0"/>
          </a:p>
        </p:txBody>
      </p:sp>
      <p:sp>
        <p:nvSpPr>
          <p:cNvPr id="10" name="Text 8"/>
          <p:cNvSpPr/>
          <p:nvPr/>
        </p:nvSpPr>
        <p:spPr>
          <a:xfrm>
            <a:off x="1005840" y="2721587"/>
            <a:ext cx="295351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сюжеты собраны сразу</a:t>
            </a:r>
            <a:endParaRPr lang="ru-RU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4434840" y="2057400"/>
            <a:ext cx="3337560" cy="162790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4434840" y="2057400"/>
            <a:ext cx="82296" cy="1627909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46634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F05A4F"/>
                </a:solidFill>
              </a:rPr>
              <a:t>Меньше шума</a:t>
            </a:r>
            <a:endParaRPr lang="ru-RU" noProof="0" dirty="0"/>
          </a:p>
        </p:txBody>
      </p:sp>
      <p:sp>
        <p:nvSpPr>
          <p:cNvPr id="14" name="Text 12"/>
          <p:cNvSpPr/>
          <p:nvPr/>
        </p:nvSpPr>
        <p:spPr>
          <a:xfrm>
            <a:off x="4663440" y="2721587"/>
            <a:ext cx="295351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повторы уходят на второй план</a:t>
            </a:r>
            <a:endParaRPr lang="ru-RU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8092440" y="2057400"/>
            <a:ext cx="3337560" cy="162790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Shape 14"/>
          <p:cNvSpPr/>
          <p:nvPr/>
        </p:nvSpPr>
        <p:spPr>
          <a:xfrm>
            <a:off x="8092440" y="2057400"/>
            <a:ext cx="82296" cy="162790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Text 15"/>
          <p:cNvSpPr/>
          <p:nvPr/>
        </p:nvSpPr>
        <p:spPr>
          <a:xfrm>
            <a:off x="8321040" y="2221992"/>
            <a:ext cx="29535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16A34A"/>
                </a:solidFill>
              </a:rPr>
              <a:t>Редакторский контроль</a:t>
            </a:r>
            <a:endParaRPr lang="ru-RU" noProof="0" dirty="0"/>
          </a:p>
        </p:txBody>
      </p:sp>
      <p:sp>
        <p:nvSpPr>
          <p:cNvPr id="18" name="Text 16"/>
          <p:cNvSpPr/>
          <p:nvPr/>
        </p:nvSpPr>
        <p:spPr>
          <a:xfrm>
            <a:off x="8321040" y="2721587"/>
            <a:ext cx="309372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sz="1400" dirty="0"/>
              <a:t>метки можно исправить вручную</a:t>
            </a:r>
            <a:endParaRPr lang="ru-RU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1074420" y="4748877"/>
            <a:ext cx="1005840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1600" dirty="0">
                <a:solidFill>
                  <a:srgbClr val="111827"/>
                </a:solidFill>
              </a:rPr>
              <a:t>Сервис не просто ищет новости — он превращает поток в рабочую структуру.</a:t>
            </a:r>
            <a:endParaRPr lang="ru-RU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900" b="1" noProof="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Итоги и планы</a:t>
            </a:r>
            <a:endParaRPr lang="ru-RU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10881360" y="393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400" b="1" noProof="0" dirty="0">
                <a:solidFill>
                  <a:srgbClr val="F05A4F"/>
                </a:solidFill>
              </a:rPr>
              <a:t>12</a:t>
            </a:r>
            <a:endParaRPr lang="ru-RU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ru-RU" sz="2000" b="1" noProof="0" dirty="0">
                <a:latin typeface="+mj-lt"/>
              </a:rPr>
              <a:t>Следующий шаг — пилот на реальном новостном потоке</a:t>
            </a:r>
          </a:p>
        </p:txBody>
      </p:sp>
      <p:sp>
        <p:nvSpPr>
          <p:cNvPr id="7" name="Shape 5"/>
          <p:cNvSpPr/>
          <p:nvPr/>
        </p:nvSpPr>
        <p:spPr>
          <a:xfrm>
            <a:off x="777240" y="2592323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Shape 6"/>
          <p:cNvSpPr/>
          <p:nvPr/>
        </p:nvSpPr>
        <p:spPr>
          <a:xfrm>
            <a:off x="777240" y="2592323"/>
            <a:ext cx="82296" cy="2148840"/>
          </a:xfrm>
          <a:prstGeom prst="rect">
            <a:avLst/>
          </a:prstGeom>
          <a:solidFill>
            <a:srgbClr val="F05A4F"/>
          </a:solidFill>
          <a:ln w="12700">
            <a:solidFill>
              <a:srgbClr val="F05A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2756915"/>
            <a:ext cx="45994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F05A4F"/>
                </a:solidFill>
              </a:rPr>
              <a:t>Риски</a:t>
            </a:r>
            <a:endParaRPr lang="ru-RU" noProof="0" dirty="0"/>
          </a:p>
        </p:txBody>
      </p:sp>
      <p:sp>
        <p:nvSpPr>
          <p:cNvPr id="10" name="Text 8"/>
          <p:cNvSpPr/>
          <p:nvPr/>
        </p:nvSpPr>
        <p:spPr>
          <a:xfrm>
            <a:off x="1005840" y="3168395"/>
            <a:ext cx="45994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• малый объём ручной разметки</a:t>
            </a:r>
          </a:p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• нет пилота с клиентом</a:t>
            </a:r>
          </a:p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• конкуренция с LLM и </a:t>
            </a:r>
            <a:r>
              <a:rPr lang="en-US" sz="1400" dirty="0">
                <a:solidFill>
                  <a:srgbClr val="111827"/>
                </a:solidFill>
              </a:rPr>
              <a:t>full-cycle </a:t>
            </a:r>
            <a:r>
              <a:rPr lang="ru-RU" sz="1400" noProof="0" dirty="0" err="1">
                <a:solidFill>
                  <a:srgbClr val="111827"/>
                </a:solidFill>
              </a:rPr>
              <a:t>SaaS</a:t>
            </a:r>
            <a:endParaRPr lang="en-US" sz="1400" noProof="0" dirty="0">
              <a:solidFill>
                <a:srgbClr val="111827"/>
              </a:solidFill>
            </a:endParaRPr>
          </a:p>
          <a:p>
            <a:r>
              <a:rPr lang="ru-RU" sz="1400" dirty="0">
                <a:solidFill>
                  <a:srgbClr val="161F30"/>
                </a:solidFill>
              </a:rPr>
              <a:t>• рынок пока подтверждён </a:t>
            </a:r>
            <a:r>
              <a:rPr lang="ru-RU" sz="1400" dirty="0" err="1">
                <a:solidFill>
                  <a:srgbClr val="161F30"/>
                </a:solidFill>
              </a:rPr>
              <a:t>desk</a:t>
            </a:r>
            <a:r>
              <a:rPr lang="ru-RU" sz="1400" dirty="0">
                <a:solidFill>
                  <a:srgbClr val="161F30"/>
                </a:solidFill>
              </a:rPr>
              <a:t> </a:t>
            </a:r>
            <a:r>
              <a:rPr lang="ru-RU" sz="1400" dirty="0" err="1">
                <a:solidFill>
                  <a:srgbClr val="161F30"/>
                </a:solidFill>
              </a:rPr>
              <a:t>research</a:t>
            </a:r>
            <a:endParaRPr lang="ru-RU" sz="1400" dirty="0">
              <a:solidFill>
                <a:srgbClr val="161F30"/>
              </a:solidFill>
            </a:endParaRPr>
          </a:p>
          <a:p>
            <a:pPr marL="0" indent="0">
              <a:buNone/>
            </a:pPr>
            <a:endParaRPr lang="ru-RU" sz="135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0" y="2592323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0" y="2592323"/>
            <a:ext cx="8229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 11"/>
          <p:cNvSpPr/>
          <p:nvPr/>
        </p:nvSpPr>
        <p:spPr>
          <a:xfrm>
            <a:off x="6629400" y="2756915"/>
            <a:ext cx="45994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ru-RU" b="1" noProof="0" dirty="0">
                <a:solidFill>
                  <a:srgbClr val="2563EB"/>
                </a:solidFill>
              </a:rPr>
              <a:t>Следующие шаги</a:t>
            </a:r>
            <a:endParaRPr lang="ru-RU" noProof="0" dirty="0"/>
          </a:p>
        </p:txBody>
      </p:sp>
      <p:sp>
        <p:nvSpPr>
          <p:cNvPr id="14" name="Text 12"/>
          <p:cNvSpPr/>
          <p:nvPr/>
        </p:nvSpPr>
        <p:spPr>
          <a:xfrm>
            <a:off x="6629400" y="3168395"/>
            <a:ext cx="4599432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• данные: расширить разметку</a:t>
            </a:r>
            <a:endParaRPr lang="en-US" sz="1400" noProof="0" dirty="0">
              <a:solidFill>
                <a:srgbClr val="111827"/>
              </a:solidFill>
            </a:endParaRPr>
          </a:p>
          <a:p>
            <a:r>
              <a:rPr lang="ru-RU" sz="1400" dirty="0">
                <a:solidFill>
                  <a:srgbClr val="161F30"/>
                </a:solidFill>
              </a:rPr>
              <a:t>• 3–5 интервью с целевой аудиторией</a:t>
            </a:r>
            <a:endParaRPr lang="ru-RU" sz="1400" noProof="0" dirty="0">
              <a:solidFill>
                <a:srgbClr val="111827"/>
              </a:solidFill>
            </a:endParaRPr>
          </a:p>
          <a:p>
            <a:r>
              <a:rPr lang="ru-RU" sz="1400" dirty="0">
                <a:solidFill>
                  <a:srgbClr val="161F30"/>
                </a:solidFill>
              </a:rPr>
              <a:t>• пилот: время до / после и экономия часов</a:t>
            </a:r>
            <a:endParaRPr lang="en-US" sz="1400" dirty="0">
              <a:solidFill>
                <a:srgbClr val="161F30"/>
              </a:solidFill>
            </a:endParaRPr>
          </a:p>
          <a:p>
            <a:r>
              <a:rPr lang="ru-RU" sz="1400" dirty="0">
                <a:solidFill>
                  <a:srgbClr val="161F30"/>
                </a:solidFill>
              </a:rPr>
              <a:t>• проверить готовность платить</a:t>
            </a:r>
            <a:endParaRPr lang="ru-RU" sz="1400" dirty="0">
              <a:solidFill>
                <a:srgbClr val="111827"/>
              </a:solidFill>
            </a:endParaRPr>
          </a:p>
          <a:p>
            <a:r>
              <a:rPr lang="ru-RU" sz="1400" dirty="0">
                <a:solidFill>
                  <a:srgbClr val="111827"/>
                </a:solidFill>
              </a:rPr>
              <a:t>•</a:t>
            </a:r>
            <a:r>
              <a:rPr lang="en-US" sz="1400" dirty="0">
                <a:solidFill>
                  <a:srgbClr val="111827"/>
                </a:solidFill>
              </a:rPr>
              <a:t> UX: </a:t>
            </a:r>
            <a:r>
              <a:rPr lang="ru-RU" sz="1400" noProof="0" dirty="0">
                <a:solidFill>
                  <a:srgbClr val="111827"/>
                </a:solidFill>
              </a:rPr>
              <a:t>улучшение названий</a:t>
            </a:r>
            <a:r>
              <a:rPr lang="en-US" sz="1400" noProof="0" dirty="0">
                <a:solidFill>
                  <a:srgbClr val="111827"/>
                </a:solidFill>
              </a:rPr>
              <a:t> </a:t>
            </a:r>
            <a:r>
              <a:rPr lang="ru-RU" sz="1400" noProof="0" dirty="0">
                <a:solidFill>
                  <a:srgbClr val="111827"/>
                </a:solidFill>
              </a:rPr>
              <a:t>сюжетов</a:t>
            </a:r>
          </a:p>
          <a:p>
            <a:pPr marL="0" indent="0">
              <a:buNone/>
            </a:pPr>
            <a:r>
              <a:rPr lang="ru-RU" sz="1400" noProof="0" dirty="0">
                <a:solidFill>
                  <a:srgbClr val="111827"/>
                </a:solidFill>
              </a:rPr>
              <a:t>• интеграции: RSS/API и форматы импорта</a:t>
            </a:r>
          </a:p>
          <a:p>
            <a:pPr marL="0" indent="0">
              <a:buNone/>
            </a:pPr>
            <a:endParaRPr lang="ru-RU" sz="14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75720" y="2834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4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ru-RU" sz="1400" b="1" dirty="0">
                <a:solidFill>
                  <a:srgbClr val="0B4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24218" y="1689862"/>
            <a:ext cx="7250244" cy="644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061A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Вопросы?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5454396" y="2641517"/>
            <a:ext cx="1051560" cy="0"/>
          </a:xfrm>
          <a:prstGeom prst="line">
            <a:avLst/>
          </a:prstGeom>
          <a:noFill/>
          <a:ln w="50800">
            <a:solidFill>
              <a:srgbClr val="0B4FC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108960" y="274320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4F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News Novelty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645920" y="3647783"/>
            <a:ext cx="9006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ML-сервис для группировки новостей и определения значимых обновлений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2648" y="4208839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F3F7FF">
              <a:alpha val="92000"/>
            </a:srgbClr>
          </a:solidFill>
          <a:ln w="12700">
            <a:solidFill>
              <a:srgbClr val="B7CB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14400" y="4455727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794055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B4FC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83080" y="4730047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Группировка новостей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83080" y="5050087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Объединяем похожие публикации в сюжеты по смыслу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78808" y="4565455"/>
            <a:ext cx="0" cy="1060704"/>
          </a:xfrm>
          <a:prstGeom prst="line">
            <a:avLst/>
          </a:prstGeom>
          <a:noFill/>
          <a:ln w="12700">
            <a:solidFill>
              <a:srgbClr val="D8E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480560" y="4794055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B4FC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⌾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349240" y="4730047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Определение новизны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5050087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Выделяем значимые обновления внутри сюжета, фильтруем повторы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62672" y="4565455"/>
            <a:ext cx="0" cy="1060704"/>
          </a:xfrm>
          <a:prstGeom prst="line">
            <a:avLst/>
          </a:prstGeom>
          <a:noFill/>
          <a:ln w="12700">
            <a:solidFill>
              <a:srgbClr val="D8E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927848" y="4794055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B4FC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796528" y="4730047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Готовый ML-сервис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96528" y="5050087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веб-интерфейс, Docker-инфраструктура, мониторинг и метрики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49040" y="5897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Спасибо за внимание!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49040" y="6236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 ответить на вопросы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02336" y="6620256"/>
            <a:ext cx="11155680" cy="0"/>
          </a:xfrm>
          <a:prstGeom prst="line">
            <a:avLst/>
          </a:prstGeom>
          <a:noFill/>
          <a:ln w="12700">
            <a:solidFill>
              <a:srgbClr val="B7CB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5230368" y="66842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50" dirty="0">
                <a:solidFill>
                  <a:srgbClr val="0B4FC3"/>
                </a:solidFill>
              </a:rPr>
              <a:t>Константин Лебедев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192256" y="66842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B4FC3"/>
                </a:solidFill>
              </a:rPr>
              <a:t>2026</a:t>
            </a:r>
            <a:endParaRPr lang="en-US" sz="105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E5A2FCC-1E1F-7BD9-99A0-B7464146502F}"/>
              </a:ext>
            </a:extLst>
          </p:cNvPr>
          <p:cNvSpPr/>
          <p:nvPr/>
        </p:nvSpPr>
        <p:spPr>
          <a:xfrm>
            <a:off x="518160" y="32263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Aptos Display" pitchFamily="34" charset="0"/>
              </a:rPr>
              <a:t>Semantic News Novelty</a:t>
            </a:r>
            <a:endParaRPr lang="ru-RU" sz="2900" noProof="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0D3DB228-C5C4-24AD-7750-54CE03D24B79}"/>
              </a:ext>
            </a:extLst>
          </p:cNvPr>
          <p:cNvSpPr/>
          <p:nvPr/>
        </p:nvSpPr>
        <p:spPr>
          <a:xfrm>
            <a:off x="518160" y="117303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7143AA-6630-2F02-BA1D-23802D230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60" y="1615240"/>
            <a:ext cx="1838794" cy="183879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78225EC-E872-AD2B-BDC2-0D7361B6F3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1518" y="1593006"/>
            <a:ext cx="1838794" cy="1838794"/>
          </a:xfrm>
          <a:prstGeom prst="rect">
            <a:avLst/>
          </a:prstGeom>
        </p:spPr>
      </p:pic>
      <p:sp>
        <p:nvSpPr>
          <p:cNvPr id="31" name="Text 3">
            <a:extLst>
              <a:ext uri="{FF2B5EF4-FFF2-40B4-BE49-F238E27FC236}">
                <a16:creationId xmlns:a16="http://schemas.microsoft.com/office/drawing/2014/main" id="{D04B9DCF-BE21-E5ED-8C7E-10A7921BD2F7}"/>
              </a:ext>
            </a:extLst>
          </p:cNvPr>
          <p:cNvSpPr/>
          <p:nvPr/>
        </p:nvSpPr>
        <p:spPr>
          <a:xfrm>
            <a:off x="518160" y="1246182"/>
            <a:ext cx="1955218" cy="390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b="1" dirty="0">
                <a:latin typeface="+mj-lt"/>
              </a:rPr>
              <a:t>Полное демо</a:t>
            </a:r>
            <a:endParaRPr lang="en-US" b="1" dirty="0">
              <a:latin typeface="+mj-lt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D5CA8C90-9740-6413-209F-9347F83E6693}"/>
              </a:ext>
            </a:extLst>
          </p:cNvPr>
          <p:cNvSpPr/>
          <p:nvPr/>
        </p:nvSpPr>
        <p:spPr>
          <a:xfrm>
            <a:off x="9958466" y="1258266"/>
            <a:ext cx="1599550" cy="390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+mj-lt"/>
              </a:rPr>
              <a:t>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1794</Words>
  <Application>Microsoft Office PowerPoint</Application>
  <PresentationFormat>Широкоэкранный</PresentationFormat>
  <Paragraphs>266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Segoe UI Symbol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News Novelty</dc:title>
  <dc:subject>Semantic News Novelty pitch</dc:subject>
  <dc:creator>OpenAI</dc:creator>
  <cp:lastModifiedBy>Константин Лебедев</cp:lastModifiedBy>
  <cp:revision>99</cp:revision>
  <dcterms:created xsi:type="dcterms:W3CDTF">2026-06-26T17:10:30Z</dcterms:created>
  <dcterms:modified xsi:type="dcterms:W3CDTF">2026-07-04T15:16:22Z</dcterms:modified>
</cp:coreProperties>
</file>