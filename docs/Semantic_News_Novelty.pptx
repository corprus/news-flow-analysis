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Semantic News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B2B2C ML-сервис для новостных редакций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7472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1827"/>
                </a:solidFill>
                <a:latin typeface="Arial"/>
              </a:defRPr>
            </a:pPr>
            <a:r>
              <a:t>Клиент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редакция / новостной портал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9601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54864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1827"/>
                </a:solidFill>
                <a:latin typeface="Arial"/>
              </a:defRPr>
            </a:pPr>
            <a:r>
              <a:t>Пользователь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редактор новостной ленты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74720" cy="960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54864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755648"/>
            <a:ext cx="31546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11827"/>
                </a:solidFill>
                <a:latin typeface="Arial"/>
              </a:defRPr>
            </a:pPr>
            <a:r>
              <a:t>Выгодополучатель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читатель: меньше повторов и инфошума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63240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</a:defRPr>
            </a:pPr>
            <a:r>
              <a:t>Продукт помогает редакции: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5643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группировать похожие новости в сюжеты;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находить повторы и перепечатки;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выделять новую смысловую информацию;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улучшать публичную новостную выдачу.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035808"/>
            <a:ext cx="5074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448056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</a:defRPr>
            </a:pPr>
            <a:r>
              <a:t>Не создаём новый агрегатор.</a:t>
            </a:r>
            <a:br/>
            <a:r>
              <a:t>Делаем ML-слой, который редакция встраивает в свой workflow и публичную ленту.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532120"/>
            <a:ext cx="21488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605272"/>
            <a:ext cx="214884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кластеры сюжетов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5532120"/>
            <a:ext cx="2148840" cy="38404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5605272"/>
            <a:ext cx="214884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6D28D9"/>
                </a:solidFill>
                <a:latin typeface="Arial"/>
              </a:defRPr>
            </a:pPr>
            <a:r>
              <a:t>semantic novelty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5532120"/>
            <a:ext cx="2148840" cy="38404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605272"/>
            <a:ext cx="214884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меньше инфошума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59" y="5532120"/>
            <a:ext cx="214884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9" y="5605272"/>
            <a:ext cx="214884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семантический поиск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Из кого сделаны 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Анализируем не только конкурентов, но и UX-бенчмарки конечной выдачи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4864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47088"/>
            <a:ext cx="3154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rial"/>
              </a:defRPr>
            </a:pPr>
            <a:r>
              <a:t>B2B-конкуренты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NewsWhip</a:t>
            </a:r>
            <a:br/>
            <a:r>
              <a:t>Feedly Market Intelligence</a:t>
            </a:r>
            <a:br/>
            <a:r>
              <a:t>Медиалогия</a:t>
            </a:r>
            <a:br/>
            <a:br/>
            <a:r>
              <a:t>Что смотрели: мониторинг, алерты, отчёты, бизнес-модель.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74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54864" cy="29718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47088"/>
            <a:ext cx="3154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rial"/>
              </a:defRPr>
            </a:pPr>
            <a:r>
              <a:t>UX-бенчмарки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Google News</a:t>
            </a:r>
            <a:br/>
            <a:r>
              <a:t>Дзен / Яндекс Новости</a:t>
            </a:r>
            <a:br/>
            <a:r>
              <a:t>Ground News</a:t>
            </a:r>
            <a:br/>
            <a:br/>
            <a:r>
              <a:t>Что смотрели: сюжеты, похожие материалы, пользовательская выдача.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474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54864" cy="2971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47088"/>
            <a:ext cx="31546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Arial"/>
              </a:defRPr>
            </a:pPr>
            <a:r>
              <a:t>Альтернативы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ручная работа редактора</a:t>
            </a:r>
            <a:br/>
            <a:r>
              <a:t>RSS / Telegram</a:t>
            </a:r>
            <a:br/>
            <a:r>
              <a:t>LLM-суммаризация</a:t>
            </a:r>
            <a:br/>
            <a:br/>
            <a:r>
              <a:t>Что смотрели: чем редакция может заменить продукт без покупки системы.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30368"/>
            <a:ext cx="1069848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132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</a:defRPr>
            </a:pPr>
            <a:r>
              <a:t>Вывод: рынок уже ожидает мониторинг, группировку, поиск, алерты и понятную выдачу. Смысловая новизна внутри сюжета закрыта слабо.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Краткий анализ конкурентов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Что важно взять из анализа основных решений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72768"/>
          <a:ext cx="110185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86200"/>
                <a:gridCol w="5212080"/>
              </a:tblGrid>
              <a:tr h="649224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Решение</a:t>
                      </a:r>
                    </a:p>
                  </a:txBody>
                  <a:tcPr marL="73152" marR="73152" marT="45720" marB="4572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Сильная сторона</a:t>
                      </a:r>
                    </a:p>
                  </a:txBody>
                  <a:tcPr marL="73152" marR="73152" marT="45720" marB="4572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Ограничение / вывод</a:t>
                      </a:r>
                    </a:p>
                  </a:txBody>
                  <a:tcPr marL="73152" marR="73152" marT="45720" marB="45720">
                    <a:solidFill>
                      <a:srgbClr val="1E40A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320" b="1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NewsWhip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real-time monitoring, алерты, поиск важных историй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акцент на engagement и популярности, а не на semantic novelty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320" b="1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Feedly MI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AI-фильтрация, дайджесты, синтез информации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широкий market intelligence, не специализированная дедупликация новостей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320" b="1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Медиалогия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локальный мониторинг СМИ/соцсетей, отчётность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больше PR/аналитика, чем редакционная работа с новостной новизной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320" b="1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Google News / Ground News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хороший UX группировки и покрытия события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2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не продаются редакции как встраиваемый ML-сервис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10332720" cy="685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440680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  <a:latin typeface="Arial"/>
              </a:defRPr>
            </a:pPr>
            <a:r>
              <a:t>Наша ниша — semantic novelty: показать, что в новости действительно новое, а что является повтором.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Минимальные требования к функциональности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Функции, без которых MVP не решает основную задачу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3492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4864" cy="4069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64207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  <a:latin typeface="Arial"/>
              </a:defRPr>
            </a:pPr>
            <a:r>
              <a:t>Базовый пайплайн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7091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сбор и нормализация новостей из нескольких источников;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семантические представления публикаций;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объединение похожих материалов в сюжеты;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поиск дубликатов, повторов и перепечаток.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663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4864" cy="4069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64207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1827"/>
                </a:solidFill>
                <a:latin typeface="Arial"/>
              </a:defRPr>
            </a:pPr>
            <a:r>
              <a:t>Ценность для редактора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572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novelty score для публикации внутри сюжета;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объяснение, почему материал считается новым;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редакторский интерфейс проверки результата;</a:t>
            </a:r>
          </a:p>
          <a:p>
            <a:pPr>
              <a:spcAft>
                <a:spcPts val="700"/>
              </a:spcAft>
              <a:defRPr sz="1600">
                <a:solidFill>
                  <a:srgbClr val="111827"/>
                </a:solidFill>
                <a:latin typeface="Arial"/>
              </a:defRPr>
            </a:pPr>
            <a:r>
              <a:t>интеграция в публичную выдачу или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15000"/>
            <a:ext cx="10332720" cy="4572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824728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111827"/>
                </a:solidFill>
                <a:latin typeface="Arial"/>
              </a:defRPr>
            </a:pPr>
            <a:r>
              <a:t>Минимальный сценарий: редактор открывает сюжет и быстро видит, где повтор, а где новая информация.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Конкурентные преимущества и монетизация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Как продукт отличается и как его рационально продавать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Ключевые преимущества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rial"/>
              </a:defRPr>
            </a:pPr>
            <a:r>
              <a:t>фокус на semantic novelty, а не только на мониторинге;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rial"/>
              </a:defRPr>
            </a:pPr>
            <a:r>
              <a:t>снижение инфошума для конечного читателя;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rial"/>
              </a:defRPr>
            </a:pPr>
            <a:r>
              <a:t>объяснимость результата для редактора;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rial"/>
              </a:defRPr>
            </a:pPr>
            <a:r>
              <a:t>встраивание в существующий новостной продукт;</a:t>
            </a:r>
          </a:p>
          <a:p>
            <a:pPr>
              <a:spcAft>
                <a:spcPts val="700"/>
              </a:spcAft>
              <a:defRPr sz="1550">
                <a:solidFill>
                  <a:srgbClr val="111827"/>
                </a:solidFill>
                <a:latin typeface="Arial"/>
              </a:defRPr>
            </a:pPr>
            <a:r>
              <a:t>русскоязычная специфика источников и перепечаток.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rial"/>
              </a:defRPr>
            </a:pPr>
            <a:r>
              <a:t>Оптимальная 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89204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29968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Arial"/>
              </a:defRPr>
            </a:pPr>
            <a:r>
              <a:t>B2B SaaS-подписка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983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rial"/>
              </a:defRPr>
            </a:pPr>
            <a:r>
              <a:t>конкуренты используют подписочную модель;</a:t>
            </a:r>
          </a:p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rial"/>
              </a:defRPr>
            </a:pPr>
            <a:r>
              <a:t>сервис требует постоянной обработки данных и обновления моделей;</a:t>
            </a:r>
          </a:p>
          <a:p>
            <a:pPr>
              <a:spcAft>
                <a:spcPts val="700"/>
              </a:spcAft>
              <a:defRPr sz="1450">
                <a:solidFill>
                  <a:srgbClr val="111827"/>
                </a:solidFill>
                <a:latin typeface="Arial"/>
              </a:defRPr>
            </a:pPr>
            <a:r>
              <a:t>редакции проще покупать готовый сервис, чем разовую разработку.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617720"/>
            <a:ext cx="1051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727448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3527" y="4617720"/>
            <a:ext cx="1051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7" y="4727448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4617720"/>
            <a:ext cx="1051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727448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67544" y="4617720"/>
            <a:ext cx="10515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67544" y="4727448"/>
            <a:ext cx="105156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t>On-premise / private deployment — будущая enterprise-опция, не требование MVP.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Semantic News Novelty · конкурентный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rial"/>
              </a:defRPr>
            </a:pPr>
            <a:r>
              <a:t>MFDP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Минимальные бенчмарки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Проверяемые ориентиры, полученные из требований к продукту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556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Скорость обработки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до 1–5 минут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79191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79191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8346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Поиск похожих новостей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Recall@5 ≥ 0.90–0.95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58183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758183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913631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Дедупликация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Precision ≥ 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00200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600200"/>
            <a:ext cx="54864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5564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Coverage событий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≥ 80% значимых событий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79191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679191"/>
            <a:ext cx="54864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8346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Novelty classification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F1 ≥ 0.75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758183"/>
            <a:ext cx="4983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758183"/>
            <a:ext cx="54864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913631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Arial"/>
              </a:defRPr>
            </a:pPr>
            <a:r>
              <a:t>UX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1–2 клика до “что нового”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033272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39512"/>
            <a:ext cx="9875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</a:defRPr>
            </a:pPr>
            <a:r>
              <a:t>Важно: reduction ratio не является самостоятельной целевой метрикой. Сжатие потока полезно только вместе с сохранением coverage значимых событий.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News Novelty — конкурентный анализ</dc:title>
  <dc:subject>Бенчмаркинг продукта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