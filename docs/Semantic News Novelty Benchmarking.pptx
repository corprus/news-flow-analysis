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3AC94B-724E-48D4-A4D2-B9A60AF24BE1}">
  <a:tblStyle styleId="{2D3AC94B-724E-48D4-A4D2-B9A60AF24BE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f82e376e7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f82e376e7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f82e376e7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f82e376e7_2_10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f82e376e7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f82e376e7_2_12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f82e376e7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f82e376e7_2_13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f82e376e7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df82e376e7_2_15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f82e376e7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df82e376e7_2_1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377200" y="4910328"/>
            <a:ext cx="35662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Semantic News Novelty · конкурентный анализ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8366983" y="4910328"/>
            <a:ext cx="5486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MFDP</a:t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377200" y="377190"/>
            <a:ext cx="83669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Semantic News Novelty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397775" y="809244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B2B2C ML-сервис для новостных редакций</a:t>
            </a:r>
            <a:endParaRPr sz="1100"/>
          </a:p>
        </p:txBody>
      </p:sp>
      <p:sp>
        <p:nvSpPr>
          <p:cNvPr id="135" name="Google Shape;135;p25"/>
          <p:cNvSpPr/>
          <p:nvPr/>
        </p:nvSpPr>
        <p:spPr>
          <a:xfrm>
            <a:off x="445782" y="1200150"/>
            <a:ext cx="2606109" cy="72009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569225" y="1275350"/>
            <a:ext cx="2366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Клиент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редакция / новостной портал</a:t>
            </a:r>
            <a:endParaRPr sz="1100"/>
          </a:p>
        </p:txBody>
      </p:sp>
      <p:sp>
        <p:nvSpPr>
          <p:cNvPr id="137" name="Google Shape;137;p25"/>
          <p:cNvSpPr/>
          <p:nvPr/>
        </p:nvSpPr>
        <p:spPr>
          <a:xfrm>
            <a:off x="3257637" y="1200150"/>
            <a:ext cx="2606109" cy="72009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3377675" y="1275349"/>
            <a:ext cx="2366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Пользователь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редактор новостной ленты</a:t>
            </a:r>
            <a:endParaRPr sz="1100"/>
          </a:p>
        </p:txBody>
      </p:sp>
      <p:sp>
        <p:nvSpPr>
          <p:cNvPr id="139" name="Google Shape;139;p25"/>
          <p:cNvSpPr/>
          <p:nvPr/>
        </p:nvSpPr>
        <p:spPr>
          <a:xfrm>
            <a:off x="6069492" y="1200150"/>
            <a:ext cx="2606109" cy="720090"/>
          </a:xfrm>
          <a:prstGeom prst="roundRect">
            <a:avLst>
              <a:gd fmla="val 16667" name="adj"/>
            </a:avLst>
          </a:prstGeom>
          <a:solidFill>
            <a:srgbClr val="D1FAE5"/>
          </a:solidFill>
          <a:ln cap="flat" cmpd="sng" w="1905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6192950" y="1236425"/>
            <a:ext cx="236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Выгодополучатель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читатель: меньше повторов</a:t>
            </a: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и</a:t>
            </a: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инфошума</a:t>
            </a:r>
            <a:endParaRPr sz="1100"/>
          </a:p>
        </p:txBody>
      </p:sp>
      <p:sp>
        <p:nvSpPr>
          <p:cNvPr id="141" name="Google Shape;141;p25"/>
          <p:cNvSpPr txBox="1"/>
          <p:nvPr/>
        </p:nvSpPr>
        <p:spPr>
          <a:xfrm>
            <a:off x="514364" y="2297430"/>
            <a:ext cx="404632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Продукт помогает редакции:</a:t>
            </a:r>
            <a:endParaRPr sz="1100"/>
          </a:p>
        </p:txBody>
      </p:sp>
      <p:sp>
        <p:nvSpPr>
          <p:cNvPr id="142" name="Google Shape;142;p25"/>
          <p:cNvSpPr txBox="1"/>
          <p:nvPr/>
        </p:nvSpPr>
        <p:spPr>
          <a:xfrm>
            <a:off x="582946" y="2592324"/>
            <a:ext cx="404632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группировать похожие новости в сюжеты;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находить повторы и перепечатки;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выделять новую смысловую информацию;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улучшать публичную новостную выдачу.</a:t>
            </a:r>
            <a:endParaRPr sz="1100"/>
          </a:p>
        </p:txBody>
      </p:sp>
      <p:sp>
        <p:nvSpPr>
          <p:cNvPr id="143" name="Google Shape;143;p25"/>
          <p:cNvSpPr/>
          <p:nvPr/>
        </p:nvSpPr>
        <p:spPr>
          <a:xfrm>
            <a:off x="4719525" y="2276850"/>
            <a:ext cx="3921900" cy="123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4841400" y="2369775"/>
            <a:ext cx="36810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111827"/>
                </a:solidFill>
              </a:rPr>
              <a:t>Позиционирование:</a:t>
            </a:r>
            <a:endParaRPr b="1" sz="1300">
              <a:solidFill>
                <a:srgbClr val="11182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300" u="none" cap="none" strike="noStrike">
                <a:solidFill>
                  <a:srgbClr val="111827"/>
                </a:solidFill>
              </a:rPr>
              <a:t>Не создаём новый агрегатор.</a:t>
            </a:r>
            <a:br>
              <a:rPr i="0" lang="ru" sz="1300" u="none" cap="none" strike="noStrike">
                <a:solidFill>
                  <a:srgbClr val="111827"/>
                </a:solidFill>
              </a:rPr>
            </a:br>
            <a:r>
              <a:rPr i="0" lang="ru" sz="1300" u="none" cap="none" strike="noStrike">
                <a:solidFill>
                  <a:srgbClr val="111827"/>
                </a:solidFill>
              </a:rPr>
              <a:t>Делаем ML-слой, который редакция встраивает в свой workflow и публичную ленту.</a:t>
            </a:r>
            <a:endParaRPr sz="1000"/>
          </a:p>
        </p:txBody>
      </p:sp>
      <p:sp>
        <p:nvSpPr>
          <p:cNvPr id="145" name="Google Shape;145;p25"/>
          <p:cNvSpPr/>
          <p:nvPr/>
        </p:nvSpPr>
        <p:spPr>
          <a:xfrm>
            <a:off x="857273" y="4149090"/>
            <a:ext cx="1611673" cy="288036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857273" y="4203954"/>
            <a:ext cx="161167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кластеры сюжетов</a:t>
            </a:r>
            <a:endParaRPr sz="1100"/>
          </a:p>
        </p:txBody>
      </p:sp>
      <p:sp>
        <p:nvSpPr>
          <p:cNvPr id="147" name="Google Shape;147;p25"/>
          <p:cNvSpPr/>
          <p:nvPr/>
        </p:nvSpPr>
        <p:spPr>
          <a:xfrm>
            <a:off x="2949019" y="4149090"/>
            <a:ext cx="1611673" cy="288036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2949019" y="4203954"/>
            <a:ext cx="161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6D28D9"/>
                </a:solidFill>
              </a:rPr>
              <a:t>смысловая новизна</a:t>
            </a:r>
            <a:endParaRPr sz="1100"/>
          </a:p>
        </p:txBody>
      </p:sp>
      <p:sp>
        <p:nvSpPr>
          <p:cNvPr id="149" name="Google Shape;149;p25"/>
          <p:cNvSpPr/>
          <p:nvPr/>
        </p:nvSpPr>
        <p:spPr>
          <a:xfrm>
            <a:off x="5040764" y="4149090"/>
            <a:ext cx="1611673" cy="288036"/>
          </a:xfrm>
          <a:prstGeom prst="roundRect">
            <a:avLst>
              <a:gd fmla="val 16667" name="adj"/>
            </a:avLst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5040764" y="4203954"/>
            <a:ext cx="161167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меньше инфошума</a:t>
            </a:r>
            <a:endParaRPr sz="1100"/>
          </a:p>
        </p:txBody>
      </p:sp>
      <p:sp>
        <p:nvSpPr>
          <p:cNvPr id="151" name="Google Shape;151;p25"/>
          <p:cNvSpPr/>
          <p:nvPr/>
        </p:nvSpPr>
        <p:spPr>
          <a:xfrm>
            <a:off x="7132509" y="4149090"/>
            <a:ext cx="1611673" cy="288036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7132509" y="4203954"/>
            <a:ext cx="161167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семантический поиск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377200" y="4910328"/>
            <a:ext cx="35662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Semantic News Novelty · конкурентный анализ</a:t>
            </a:r>
            <a:endParaRPr sz="1100"/>
          </a:p>
        </p:txBody>
      </p:sp>
      <p:sp>
        <p:nvSpPr>
          <p:cNvPr id="160" name="Google Shape;160;p26"/>
          <p:cNvSpPr txBox="1"/>
          <p:nvPr/>
        </p:nvSpPr>
        <p:spPr>
          <a:xfrm>
            <a:off x="8366983" y="4910328"/>
            <a:ext cx="5486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MFDP</a:t>
            </a:r>
            <a:endParaRPr sz="1100"/>
          </a:p>
        </p:txBody>
      </p:sp>
      <p:sp>
        <p:nvSpPr>
          <p:cNvPr id="161" name="Google Shape;161;p26"/>
          <p:cNvSpPr txBox="1"/>
          <p:nvPr/>
        </p:nvSpPr>
        <p:spPr>
          <a:xfrm>
            <a:off x="377200" y="377190"/>
            <a:ext cx="83669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Из кого сделаны выводы</a:t>
            </a:r>
            <a:endParaRPr sz="1100"/>
          </a:p>
        </p:txBody>
      </p:sp>
      <p:sp>
        <p:nvSpPr>
          <p:cNvPr id="162" name="Google Shape;162;p26"/>
          <p:cNvSpPr txBox="1"/>
          <p:nvPr/>
        </p:nvSpPr>
        <p:spPr>
          <a:xfrm>
            <a:off x="397775" y="809244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Анализируем не только конкурентов, но и UX-бенчмарки конечной выдачи</a:t>
            </a:r>
            <a:endParaRPr sz="1100"/>
          </a:p>
        </p:txBody>
      </p:sp>
      <p:sp>
        <p:nvSpPr>
          <p:cNvPr id="163" name="Google Shape;163;p26"/>
          <p:cNvSpPr/>
          <p:nvPr/>
        </p:nvSpPr>
        <p:spPr>
          <a:xfrm>
            <a:off x="480073" y="1268730"/>
            <a:ext cx="2606100" cy="22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603519" y="1385316"/>
            <a:ext cx="236607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B2B-конкуренты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NewsWhip</a:t>
            </a:r>
            <a:b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Feedly Market Intelligence</a:t>
            </a:r>
            <a:b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Медиалогия</a:t>
            </a:r>
            <a:b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Что смотрели: мониторинг, алерты, отчёты, бизнес-модель.</a:t>
            </a:r>
            <a:endParaRPr sz="1100"/>
          </a:p>
        </p:txBody>
      </p:sp>
      <p:sp>
        <p:nvSpPr>
          <p:cNvPr id="165" name="Google Shape;165;p26"/>
          <p:cNvSpPr/>
          <p:nvPr/>
        </p:nvSpPr>
        <p:spPr>
          <a:xfrm>
            <a:off x="3291928" y="1268730"/>
            <a:ext cx="2606109" cy="22288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3415375" y="1385316"/>
            <a:ext cx="236607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UX-бенчмарки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Google News</a:t>
            </a:r>
            <a:b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Дзен / Яндекс Новости</a:t>
            </a:r>
            <a:b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Ground News</a:t>
            </a:r>
            <a:b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Что смотрели: сюжеты, похожие материалы, пользовательская выдача.</a:t>
            </a:r>
            <a:endParaRPr sz="1100"/>
          </a:p>
        </p:txBody>
      </p:sp>
      <p:sp>
        <p:nvSpPr>
          <p:cNvPr id="167" name="Google Shape;167;p26"/>
          <p:cNvSpPr/>
          <p:nvPr/>
        </p:nvSpPr>
        <p:spPr>
          <a:xfrm>
            <a:off x="6103783" y="1268730"/>
            <a:ext cx="2606109" cy="22288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6227230" y="1385316"/>
            <a:ext cx="23661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Альтернативы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ручная работа редактора</a:t>
            </a:r>
            <a:b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RSS / Telegram</a:t>
            </a:r>
            <a:b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LLM-суммаризация</a:t>
            </a:r>
            <a:b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Что смотрели: чем редакция может заменить продукт без покупки системы.</a:t>
            </a:r>
            <a:endParaRPr sz="1100"/>
          </a:p>
        </p:txBody>
      </p:sp>
      <p:sp>
        <p:nvSpPr>
          <p:cNvPr id="169" name="Google Shape;169;p26"/>
          <p:cNvSpPr/>
          <p:nvPr/>
        </p:nvSpPr>
        <p:spPr>
          <a:xfrm>
            <a:off x="582946" y="3922776"/>
            <a:ext cx="8024074" cy="58293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754400" y="4059936"/>
            <a:ext cx="7681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Вывод: рынок уже ожидает мониторинг как </a:t>
            </a:r>
            <a:r>
              <a:rPr b="1" lang="ru" sz="1100">
                <a:solidFill>
                  <a:srgbClr val="111827"/>
                </a:solidFill>
              </a:rPr>
              <a:t>данность</a:t>
            </a:r>
            <a:r>
              <a:rPr b="1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группировку, поиск, алерты и понятную выдачу. </a:t>
            </a:r>
            <a:r>
              <a:rPr b="1" i="0" lang="ru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Смысловая новизна внутри сюжета закрыта слабо.</a:t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377200" y="4910328"/>
            <a:ext cx="35662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Semantic News Novelty · конкурентный анализ</a:t>
            </a:r>
            <a:endParaRPr sz="1100"/>
          </a:p>
        </p:txBody>
      </p:sp>
      <p:sp>
        <p:nvSpPr>
          <p:cNvPr id="178" name="Google Shape;178;p27"/>
          <p:cNvSpPr txBox="1"/>
          <p:nvPr/>
        </p:nvSpPr>
        <p:spPr>
          <a:xfrm>
            <a:off x="8366983" y="4910328"/>
            <a:ext cx="5486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MFDP</a:t>
            </a:r>
            <a:endParaRPr sz="1100"/>
          </a:p>
        </p:txBody>
      </p:sp>
      <p:sp>
        <p:nvSpPr>
          <p:cNvPr id="179" name="Google Shape;179;p27"/>
          <p:cNvSpPr txBox="1"/>
          <p:nvPr/>
        </p:nvSpPr>
        <p:spPr>
          <a:xfrm>
            <a:off x="377200" y="377190"/>
            <a:ext cx="83669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Краткий анализ конкурентов</a:t>
            </a:r>
            <a:endParaRPr sz="1100"/>
          </a:p>
        </p:txBody>
      </p:sp>
      <p:sp>
        <p:nvSpPr>
          <p:cNvPr id="180" name="Google Shape;180;p27"/>
          <p:cNvSpPr txBox="1"/>
          <p:nvPr/>
        </p:nvSpPr>
        <p:spPr>
          <a:xfrm>
            <a:off x="397775" y="809244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Что важно взять из анализа основных решений</a:t>
            </a:r>
            <a:endParaRPr sz="1100"/>
          </a:p>
        </p:txBody>
      </p:sp>
      <p:graphicFrame>
        <p:nvGraphicFramePr>
          <p:cNvPr id="181" name="Google Shape;181;p27"/>
          <p:cNvGraphicFramePr/>
          <p:nvPr/>
        </p:nvGraphicFramePr>
        <p:xfrm>
          <a:off x="445782" y="11795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{2D3AC94B-724E-48D4-A4D2-B9A60AF24BE1}</a:tableStyleId>
              </a:tblPr>
              <a:tblGrid>
                <a:gridCol w="1440225"/>
                <a:gridCol w="2914725"/>
                <a:gridCol w="3909150"/>
              </a:tblGrid>
              <a:tr h="48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Решение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Сильная сторона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Ограничение / вывод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1E40AF"/>
                    </a:solidFill>
                  </a:tcPr>
                </a:tc>
              </a:tr>
              <a:tr h="48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NewsWhip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real-time monitoring, алерты, поиск важных историй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акцент на </a:t>
                      </a:r>
                      <a:r>
                        <a:rPr lang="ru" sz="10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вовлеченность аудитории</a:t>
                      </a:r>
                      <a:r>
                        <a:rPr b="0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и популярности, а не на </a:t>
                      </a:r>
                      <a:r>
                        <a:rPr lang="ru" sz="10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смысловой новизне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FFFFFF"/>
                    </a:solidFill>
                  </a:tcPr>
                </a:tc>
              </a:tr>
              <a:tr h="48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Feedly MI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AI-фильтрация, дайджесты, синтез информации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исследование рынка</a:t>
                      </a:r>
                      <a:r>
                        <a:rPr b="0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не специализированная дедупликация новостей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FFFFFF"/>
                    </a:solidFill>
                  </a:tcPr>
                </a:tc>
              </a:tr>
              <a:tr h="48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Медиалогия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локальный мониторинг СМИ/соцсетей, отчётность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больше PR/аналитика, чем редакционная работа с новостной новизной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FFFFFF"/>
                    </a:solidFill>
                  </a:tcPr>
                </a:tc>
              </a:tr>
              <a:tr h="48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Google News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хороший UX группировки и покрытия события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" sz="10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 продаются редакции как встраиваемый ML-сервис</a:t>
                      </a:r>
                      <a:endParaRPr sz="1100"/>
                    </a:p>
                  </a:txBody>
                  <a:tcPr marT="34300" marB="34300" marR="54875" marL="548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27"/>
          <p:cNvSpPr/>
          <p:nvPr/>
        </p:nvSpPr>
        <p:spPr>
          <a:xfrm>
            <a:off x="685818" y="3943350"/>
            <a:ext cx="7749747" cy="51435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733925" y="4080500"/>
            <a:ext cx="76725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Наша ниша — </a:t>
            </a:r>
            <a:r>
              <a:rPr b="1" lang="ru" sz="1100">
                <a:solidFill>
                  <a:srgbClr val="1E40AF"/>
                </a:solidFill>
              </a:rPr>
              <a:t>смысловая новизна</a:t>
            </a:r>
            <a:r>
              <a:rPr b="1" i="0" lang="ru" sz="11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: показать, что в новости действительно новое, а что является повтором, предоставить инструмент для редакци</a:t>
            </a:r>
            <a:r>
              <a:rPr b="1" lang="ru" sz="1100">
                <a:solidFill>
                  <a:srgbClr val="1E40AF"/>
                </a:solidFill>
              </a:rPr>
              <a:t>й</a:t>
            </a:r>
            <a:r>
              <a:rPr b="1" i="0" lang="ru" sz="11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, а не бизнес-аналитиков.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377200" y="4910328"/>
            <a:ext cx="35662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Semantic News Novelty · конкурентный анализ</a:t>
            </a:r>
            <a:endParaRPr sz="1100"/>
          </a:p>
        </p:txBody>
      </p:sp>
      <p:sp>
        <p:nvSpPr>
          <p:cNvPr id="191" name="Google Shape;191;p28"/>
          <p:cNvSpPr txBox="1"/>
          <p:nvPr/>
        </p:nvSpPr>
        <p:spPr>
          <a:xfrm>
            <a:off x="8366983" y="4910328"/>
            <a:ext cx="5486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MFDP</a:t>
            </a:r>
            <a:endParaRPr sz="1100"/>
          </a:p>
        </p:txBody>
      </p:sp>
      <p:sp>
        <p:nvSpPr>
          <p:cNvPr id="192" name="Google Shape;192;p28"/>
          <p:cNvSpPr txBox="1"/>
          <p:nvPr/>
        </p:nvSpPr>
        <p:spPr>
          <a:xfrm>
            <a:off x="377200" y="377190"/>
            <a:ext cx="83669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Минимальные требования к функциональности</a:t>
            </a:r>
            <a:endParaRPr sz="1100"/>
          </a:p>
        </p:txBody>
      </p:sp>
      <p:sp>
        <p:nvSpPr>
          <p:cNvPr id="193" name="Google Shape;193;p28"/>
          <p:cNvSpPr txBox="1"/>
          <p:nvPr/>
        </p:nvSpPr>
        <p:spPr>
          <a:xfrm>
            <a:off x="397775" y="809244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Функции, без которых MVP не решает основную задачу</a:t>
            </a:r>
            <a:endParaRPr sz="1100"/>
          </a:p>
        </p:txBody>
      </p:sp>
      <p:sp>
        <p:nvSpPr>
          <p:cNvPr id="194" name="Google Shape;194;p28"/>
          <p:cNvSpPr/>
          <p:nvPr/>
        </p:nvSpPr>
        <p:spPr>
          <a:xfrm>
            <a:off x="514364" y="1131570"/>
            <a:ext cx="4011900" cy="305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637811" y="1248155"/>
            <a:ext cx="3772001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Базовый пайплайн</a:t>
            </a:r>
            <a:endParaRPr sz="1100"/>
          </a:p>
        </p:txBody>
      </p:sp>
      <p:sp>
        <p:nvSpPr>
          <p:cNvPr id="196" name="Google Shape;196;p28"/>
          <p:cNvSpPr txBox="1"/>
          <p:nvPr/>
        </p:nvSpPr>
        <p:spPr>
          <a:xfrm>
            <a:off x="637800" y="1626275"/>
            <a:ext cx="37719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Char char="●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сбор и нормализация новостей </a:t>
            </a:r>
            <a:r>
              <a:rPr lang="ru" sz="1200">
                <a:solidFill>
                  <a:srgbClr val="111827"/>
                </a:solidFill>
              </a:rPr>
              <a:t>предоставленных источников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Char char="●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семантические представления публикаций;</a:t>
            </a:r>
            <a:endParaRPr sz="1100"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Char char="●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объединение похожих материалов в сюжеты;</a:t>
            </a:r>
            <a:endParaRPr sz="1100"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Char char="●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поиск дубликатов, повторов и перепечаток.</a:t>
            </a:r>
            <a:endParaRPr b="0" i="0" sz="120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Char char="●"/>
            </a:pPr>
            <a:r>
              <a:rPr lang="ru" sz="1200">
                <a:solidFill>
                  <a:srgbClr val="111827"/>
                </a:solidFill>
              </a:rPr>
              <a:t>выделение смысловой новизны, сортировка исходя из нее</a:t>
            </a:r>
            <a:endParaRPr sz="1200">
              <a:solidFill>
                <a:srgbClr val="111827"/>
              </a:solidFill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Char char="●"/>
            </a:pPr>
            <a:r>
              <a:rPr lang="ru" sz="1200">
                <a:solidFill>
                  <a:srgbClr val="111827"/>
                </a:solidFill>
              </a:rPr>
              <a:t>семантический поиск по статьям</a:t>
            </a:r>
            <a:endParaRPr sz="1200">
              <a:solidFill>
                <a:srgbClr val="111827"/>
              </a:solidFill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4732146" y="1131570"/>
            <a:ext cx="3874873" cy="305181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4855593" y="1248155"/>
            <a:ext cx="3634837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Ценность для редактора</a:t>
            </a:r>
            <a:endParaRPr sz="1100"/>
          </a:p>
        </p:txBody>
      </p:sp>
      <p:sp>
        <p:nvSpPr>
          <p:cNvPr id="199" name="Google Shape;199;p28"/>
          <p:cNvSpPr txBox="1"/>
          <p:nvPr/>
        </p:nvSpPr>
        <p:spPr>
          <a:xfrm>
            <a:off x="4937900" y="1626275"/>
            <a:ext cx="35235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Char char="●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novelty score 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для публикации внутри сюжета;</a:t>
            </a:r>
            <a:endParaRPr sz="1100"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Char char="●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редакторский интерфейс проверки результата;</a:t>
            </a:r>
            <a:endParaRPr sz="1100"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Char char="●"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интеграция в публичную выдачу или API.</a:t>
            </a:r>
            <a:endParaRPr sz="1100"/>
          </a:p>
        </p:txBody>
      </p:sp>
      <p:sp>
        <p:nvSpPr>
          <p:cNvPr id="200" name="Google Shape;200;p28"/>
          <p:cNvSpPr/>
          <p:nvPr/>
        </p:nvSpPr>
        <p:spPr>
          <a:xfrm>
            <a:off x="685818" y="4286250"/>
            <a:ext cx="7749747" cy="342900"/>
          </a:xfrm>
          <a:prstGeom prst="roundRect">
            <a:avLst>
              <a:gd fmla="val 16667" name="adj"/>
            </a:avLst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758300" y="4368550"/>
            <a:ext cx="76086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Минимальный сценарий: редактор открывает сюжет и быстро видит, где повтор, а где новая информация.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377200" y="4910328"/>
            <a:ext cx="35662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Semantic News Novelty · конкурентный анализ</a:t>
            </a:r>
            <a:endParaRPr sz="1100"/>
          </a:p>
        </p:txBody>
      </p:sp>
      <p:sp>
        <p:nvSpPr>
          <p:cNvPr id="209" name="Google Shape;209;p29"/>
          <p:cNvSpPr txBox="1"/>
          <p:nvPr/>
        </p:nvSpPr>
        <p:spPr>
          <a:xfrm>
            <a:off x="8366983" y="4910328"/>
            <a:ext cx="5486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MFDP</a:t>
            </a:r>
            <a:endParaRPr sz="1100"/>
          </a:p>
        </p:txBody>
      </p:sp>
      <p:sp>
        <p:nvSpPr>
          <p:cNvPr id="210" name="Google Shape;210;p29"/>
          <p:cNvSpPr txBox="1"/>
          <p:nvPr/>
        </p:nvSpPr>
        <p:spPr>
          <a:xfrm>
            <a:off x="377200" y="377190"/>
            <a:ext cx="83669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Конкурентные преимущества и монетизация</a:t>
            </a:r>
            <a:endParaRPr sz="1100"/>
          </a:p>
        </p:txBody>
      </p:sp>
      <p:sp>
        <p:nvSpPr>
          <p:cNvPr id="211" name="Google Shape;211;p29"/>
          <p:cNvSpPr txBox="1"/>
          <p:nvPr/>
        </p:nvSpPr>
        <p:spPr>
          <a:xfrm>
            <a:off x="397775" y="809244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Как продукт отличается и как его рационально продавать</a:t>
            </a:r>
            <a:endParaRPr sz="1100"/>
          </a:p>
        </p:txBody>
      </p:sp>
      <p:sp>
        <p:nvSpPr>
          <p:cNvPr id="212" name="Google Shape;212;p29"/>
          <p:cNvSpPr txBox="1"/>
          <p:nvPr/>
        </p:nvSpPr>
        <p:spPr>
          <a:xfrm>
            <a:off x="548655" y="1131570"/>
            <a:ext cx="38405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Ключевые преимущества</a:t>
            </a:r>
            <a:endParaRPr sz="1100"/>
          </a:p>
        </p:txBody>
      </p:sp>
      <p:sp>
        <p:nvSpPr>
          <p:cNvPr id="213" name="Google Shape;213;p29"/>
          <p:cNvSpPr txBox="1"/>
          <p:nvPr/>
        </p:nvSpPr>
        <p:spPr>
          <a:xfrm>
            <a:off x="617236" y="1440180"/>
            <a:ext cx="39093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фокус на </a:t>
            </a:r>
            <a:r>
              <a:rPr lang="ru" sz="1200">
                <a:solidFill>
                  <a:srgbClr val="111827"/>
                </a:solidFill>
              </a:rPr>
              <a:t>смысловой новизне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, а не только на мониторинге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снижение инфошума для конечного читателя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объяснимость результата для редактора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встраивание в существующий новостной продукт</a:t>
            </a: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русскоязычная специфика источников и перепечаток.</a:t>
            </a:r>
            <a:endParaRPr sz="1100"/>
          </a:p>
        </p:txBody>
      </p:sp>
      <p:sp>
        <p:nvSpPr>
          <p:cNvPr id="214" name="Google Shape;214;p29"/>
          <p:cNvSpPr txBox="1"/>
          <p:nvPr/>
        </p:nvSpPr>
        <p:spPr>
          <a:xfrm>
            <a:off x="4800728" y="1131570"/>
            <a:ext cx="37034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Оптимальная модель</a:t>
            </a:r>
            <a:endParaRPr sz="1100"/>
          </a:p>
        </p:txBody>
      </p:sp>
      <p:sp>
        <p:nvSpPr>
          <p:cNvPr id="215" name="Google Shape;215;p29"/>
          <p:cNvSpPr/>
          <p:nvPr/>
        </p:nvSpPr>
        <p:spPr>
          <a:xfrm>
            <a:off x="4800728" y="1405889"/>
            <a:ext cx="3669128" cy="48006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4903601" y="1522476"/>
            <a:ext cx="34290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4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B2B SaaS-подписка</a:t>
            </a:r>
            <a:endParaRPr sz="1100"/>
          </a:p>
        </p:txBody>
      </p:sp>
      <p:sp>
        <p:nvSpPr>
          <p:cNvPr id="217" name="Google Shape;217;p29"/>
          <p:cNvSpPr txBox="1"/>
          <p:nvPr/>
        </p:nvSpPr>
        <p:spPr>
          <a:xfrm>
            <a:off x="4835019" y="2091690"/>
            <a:ext cx="3737710" cy="9944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конкуренты используют подписочную модель;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сервис требует постоянной обработки данных и обновления моделей;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редакции проще покупать готовый сервис, чем разовую разработку.</a:t>
            </a:r>
            <a:endParaRPr sz="1100"/>
          </a:p>
        </p:txBody>
      </p:sp>
      <p:sp>
        <p:nvSpPr>
          <p:cNvPr id="218" name="Google Shape;218;p29"/>
          <p:cNvSpPr txBox="1"/>
          <p:nvPr/>
        </p:nvSpPr>
        <p:spPr>
          <a:xfrm>
            <a:off x="4800725" y="3350918"/>
            <a:ext cx="37719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475569"/>
                </a:solidFill>
              </a:rPr>
              <a:t>Trial/demo</a:t>
            </a:r>
            <a:r>
              <a:rPr lang="ru" sz="1000">
                <a:solidFill>
                  <a:srgbClr val="475569"/>
                </a:solidFill>
              </a:rPr>
              <a:t> — бесплатное демо функциональности (стандарт отрасли);</a:t>
            </a:r>
            <a:endParaRPr sz="1000">
              <a:solidFill>
                <a:srgbClr val="47556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" sz="1000">
                <a:solidFill>
                  <a:srgbClr val="475569"/>
                </a:solidFill>
              </a:rPr>
              <a:t>Standard - стандартная подписка, цены порядка 300-800$/мес</a:t>
            </a:r>
            <a:endParaRPr sz="1000">
              <a:solidFill>
                <a:srgbClr val="47556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On-premise / private deployment — будущая enterprise-опция, не требование MVP</a:t>
            </a:r>
            <a:r>
              <a:rPr lang="ru" sz="1000">
                <a:solidFill>
                  <a:srgbClr val="475569"/>
                </a:solidFill>
              </a:rPr>
              <a:t>;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0" y="0"/>
            <a:ext cx="914401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377200" y="4910328"/>
            <a:ext cx="35662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Semantic News Novelty · конкурентный анализ</a:t>
            </a:r>
            <a:endParaRPr sz="1100"/>
          </a:p>
        </p:txBody>
      </p:sp>
      <p:sp>
        <p:nvSpPr>
          <p:cNvPr id="226" name="Google Shape;226;p30"/>
          <p:cNvSpPr txBox="1"/>
          <p:nvPr/>
        </p:nvSpPr>
        <p:spPr>
          <a:xfrm>
            <a:off x="8366983" y="4910328"/>
            <a:ext cx="5486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MFDP</a:t>
            </a:r>
            <a:endParaRPr sz="1100"/>
          </a:p>
        </p:txBody>
      </p:sp>
      <p:sp>
        <p:nvSpPr>
          <p:cNvPr id="227" name="Google Shape;227;p30"/>
          <p:cNvSpPr txBox="1"/>
          <p:nvPr/>
        </p:nvSpPr>
        <p:spPr>
          <a:xfrm>
            <a:off x="377200" y="377190"/>
            <a:ext cx="83669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Минимальные бенчмарки MVP</a:t>
            </a:r>
            <a:endParaRPr sz="1100"/>
          </a:p>
        </p:txBody>
      </p:sp>
      <p:sp>
        <p:nvSpPr>
          <p:cNvPr id="228" name="Google Shape;228;p30"/>
          <p:cNvSpPr txBox="1"/>
          <p:nvPr/>
        </p:nvSpPr>
        <p:spPr>
          <a:xfrm>
            <a:off x="397775" y="809244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Проверяемые ориентиры, полученные из требований к продукту</a:t>
            </a:r>
            <a:endParaRPr sz="1100"/>
          </a:p>
        </p:txBody>
      </p:sp>
      <p:sp>
        <p:nvSpPr>
          <p:cNvPr id="229" name="Google Shape;229;p30"/>
          <p:cNvSpPr/>
          <p:nvPr/>
        </p:nvSpPr>
        <p:spPr>
          <a:xfrm>
            <a:off x="651527" y="1200150"/>
            <a:ext cx="373771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651527" y="1200150"/>
            <a:ext cx="41149" cy="58293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774975" y="1266526"/>
            <a:ext cx="349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Скорость обработки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до 1–5 минут (</a:t>
            </a:r>
            <a:r>
              <a:rPr lang="ru" sz="1100">
                <a:solidFill>
                  <a:srgbClr val="475569"/>
                </a:solidFill>
              </a:rPr>
              <a:t>на одном источнике)</a:t>
            </a:r>
            <a:endParaRPr sz="1100"/>
          </a:p>
        </p:txBody>
      </p:sp>
      <p:sp>
        <p:nvSpPr>
          <p:cNvPr id="232" name="Google Shape;232;p30"/>
          <p:cNvSpPr/>
          <p:nvPr/>
        </p:nvSpPr>
        <p:spPr>
          <a:xfrm>
            <a:off x="651527" y="2009393"/>
            <a:ext cx="373771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651527" y="2009393"/>
            <a:ext cx="41149" cy="58293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774975" y="2075749"/>
            <a:ext cx="349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Поиск похожих новостей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Recall@5 ≥ 0.90–0.95</a:t>
            </a:r>
            <a:endParaRPr sz="1100"/>
          </a:p>
        </p:txBody>
      </p:sp>
      <p:sp>
        <p:nvSpPr>
          <p:cNvPr id="235" name="Google Shape;235;p30"/>
          <p:cNvSpPr/>
          <p:nvPr/>
        </p:nvSpPr>
        <p:spPr>
          <a:xfrm>
            <a:off x="651527" y="2818637"/>
            <a:ext cx="373771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651527" y="2818637"/>
            <a:ext cx="41149" cy="58293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774975" y="2885000"/>
            <a:ext cx="349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Дедупликация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Precision ≥ 0.85</a:t>
            </a:r>
            <a:endParaRPr sz="1100"/>
          </a:p>
        </p:txBody>
      </p:sp>
      <p:sp>
        <p:nvSpPr>
          <p:cNvPr id="238" name="Google Shape;238;p30"/>
          <p:cNvSpPr/>
          <p:nvPr/>
        </p:nvSpPr>
        <p:spPr>
          <a:xfrm>
            <a:off x="4766437" y="1200150"/>
            <a:ext cx="373771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4766437" y="1200150"/>
            <a:ext cx="41149" cy="58293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0"/>
          <p:cNvSpPr txBox="1"/>
          <p:nvPr/>
        </p:nvSpPr>
        <p:spPr>
          <a:xfrm>
            <a:off x="4889884" y="1316736"/>
            <a:ext cx="349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111827"/>
                </a:solidFill>
              </a:rPr>
              <a:t>Покрытие событий (coverage)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≥ 80% значимых событий </a:t>
            </a:r>
            <a:r>
              <a:rPr lang="ru" sz="1100">
                <a:solidFill>
                  <a:srgbClr val="475569"/>
                </a:solidFill>
              </a:rPr>
              <a:t>размечаются</a:t>
            </a:r>
            <a:endParaRPr sz="1100"/>
          </a:p>
        </p:txBody>
      </p:sp>
      <p:sp>
        <p:nvSpPr>
          <p:cNvPr id="241" name="Google Shape;241;p30"/>
          <p:cNvSpPr/>
          <p:nvPr/>
        </p:nvSpPr>
        <p:spPr>
          <a:xfrm>
            <a:off x="4766437" y="2009393"/>
            <a:ext cx="373771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4766437" y="2009393"/>
            <a:ext cx="41149" cy="58293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4889875" y="2104662"/>
            <a:ext cx="349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111827"/>
                </a:solidFill>
              </a:rPr>
              <a:t>Классификация новизны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F1 ≥ 0.75</a:t>
            </a:r>
            <a:endParaRPr sz="1100"/>
          </a:p>
        </p:txBody>
      </p:sp>
      <p:sp>
        <p:nvSpPr>
          <p:cNvPr id="244" name="Google Shape;244;p30"/>
          <p:cNvSpPr/>
          <p:nvPr/>
        </p:nvSpPr>
        <p:spPr>
          <a:xfrm>
            <a:off x="4766437" y="2818637"/>
            <a:ext cx="3737710" cy="5829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4766437" y="2818637"/>
            <a:ext cx="41149" cy="58293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4889875" y="2885000"/>
            <a:ext cx="349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1–2 клика до “что нового”</a:t>
            </a:r>
            <a:endParaRPr sz="1100"/>
          </a:p>
        </p:txBody>
      </p:sp>
      <p:sp>
        <p:nvSpPr>
          <p:cNvPr id="247" name="Google Shape;247;p30"/>
          <p:cNvSpPr/>
          <p:nvPr/>
        </p:nvSpPr>
        <p:spPr>
          <a:xfrm>
            <a:off x="685818" y="3806190"/>
            <a:ext cx="7749747" cy="61722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857273" y="3929634"/>
            <a:ext cx="74068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Важно: reduction ratio не является самостоятельной целевой метрикой. Сжатие потока полезно только вместе с сохранением coverage значимых событий.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