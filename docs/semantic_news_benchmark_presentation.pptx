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1" d="100"/>
          <a:sy n="141" d="100"/>
        </p:scale>
        <p:origin x="99" y="-1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8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4314A"/>
          </a:solidFill>
          <a:ln w="12700">
            <a:solidFill>
              <a:srgbClr val="143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1828"/>
                </a:solidFill>
              </a:rPr>
              <a:t>Конкурентный анализ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01828"/>
                </a:solidFill>
              </a:rPr>
              <a:t>и бенчмаркинг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57860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67085"/>
                </a:solidFill>
              </a:rPr>
              <a:t>Semantic News Novelty — B2B2C ML-сервис для редакций: группировка новостей, выявление дублей и смысловой новизны.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333756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F6FAD"/>
          </a:solidFill>
          <a:ln w="12700">
            <a:solidFill>
              <a:srgbClr val="1F6F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41071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B2B2C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0512" y="333756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410712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Редакции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333756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410712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Меньше инфошума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09560" y="1280160"/>
            <a:ext cx="1143000" cy="914400"/>
          </a:xfrm>
          <a:prstGeom prst="chevron">
            <a:avLst/>
          </a:prstGeom>
          <a:solidFill>
            <a:srgbClr val="E7F2FB"/>
          </a:solidFill>
          <a:ln w="12700">
            <a:solidFill>
              <a:srgbClr val="1F6F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1280160"/>
            <a:ext cx="1143000" cy="914400"/>
          </a:xfrm>
          <a:prstGeom prst="chevron">
            <a:avLst/>
          </a:prstGeom>
          <a:solidFill>
            <a:srgbClr val="EAF7F0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1280160"/>
            <a:ext cx="1143000" cy="914400"/>
          </a:xfrm>
          <a:prstGeom prst="chevron">
            <a:avLst/>
          </a:prstGeom>
          <a:solidFill>
            <a:srgbClr val="FFF7E6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6093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6FAD"/>
                </a:solidFill>
              </a:rPr>
              <a:t>ML-сервис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53728" y="160934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87D5D"/>
                </a:solidFill>
              </a:rPr>
              <a:t>Редакция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433304" y="160934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791F"/>
                </a:solidFill>
              </a:rPr>
              <a:t>Читатель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278892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2788920"/>
            <a:ext cx="73152" cy="960120"/>
          </a:xfrm>
          <a:prstGeom prst="rect">
            <a:avLst/>
          </a:prstGeom>
          <a:solidFill>
            <a:srgbClr val="14314A"/>
          </a:solidFill>
          <a:ln w="12700">
            <a:solidFill>
              <a:srgbClr val="14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953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Не строим свой Google News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3291840"/>
            <a:ext cx="31546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Продукт продаётся редакции и встраивается в её ленту, поиск или страницу сюжета.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18120" y="406908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4069080"/>
            <a:ext cx="73152" cy="960120"/>
          </a:xfrm>
          <a:prstGeom prst="rect">
            <a:avLst/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2336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Ценность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572000"/>
            <a:ext cx="31546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Редактор быстрее видит дубли и обновления; читатель получает меньше повторов.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1. Рамка продукта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Клиент — редакция или платформа; конечный выгодополучатель — читатель.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2103120"/>
            <a:ext cx="91440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69280" y="2103120"/>
            <a:ext cx="91440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63040"/>
            <a:ext cx="73152" cy="1234440"/>
          </a:xfrm>
          <a:prstGeom prst="rect">
            <a:avLst/>
          </a:prstGeom>
          <a:solidFill>
            <a:srgbClr val="1F6FAD"/>
          </a:solidFill>
          <a:ln w="12700">
            <a:solidFill>
              <a:srgbClr val="1F6F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Semantic News Novelty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783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Группирует публикации, определяет дубли и смысловые обновления.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463040"/>
            <a:ext cx="73152" cy="1234440"/>
          </a:xfrm>
          <a:prstGeom prst="rect">
            <a:avLst/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627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Редакция / платформа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77640" y="1965960"/>
            <a:ext cx="1783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Встраивает сервис в CMS, ленту, поиск или блоки сюжета.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21488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463040"/>
            <a:ext cx="73152" cy="1234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627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Читатель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1783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Видит меньше повторов, связанные материалы и “что нового”.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429000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29000"/>
            <a:ext cx="73152" cy="1325880"/>
          </a:xfrm>
          <a:prstGeom prst="rect">
            <a:avLst/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935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Редакторский сценарий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2880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Событие → ключевая публикация → обновления → дубли. Меньше ручной сортировки и меньше риска пропустить важное.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429000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429000"/>
            <a:ext cx="73152" cy="1325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5935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Пользовательский сценарий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3931920"/>
            <a:ext cx="2880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Сгруппированная выдача, похожие материалы, семантический поиск, понятное развитие темы.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75320" y="3429000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3429000"/>
            <a:ext cx="73152" cy="1325880"/>
          </a:xfrm>
          <a:prstGeom prst="rect">
            <a:avLst/>
          </a:prstGeom>
          <a:solidFill>
            <a:srgbClr val="14314A"/>
          </a:solidFill>
          <a:ln w="12700">
            <a:solidFill>
              <a:srgbClr val="1431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35935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Граница MVP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3931920"/>
            <a:ext cx="28803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Не агрегируем весь интернет и не конкурируем напрямую с Google News как consumer-платформа.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2. Выбранные конкуренты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Для основной таблицы берём B2B/B2B2C-ориентиры, а UX-бенчмарки оставляем отдельно.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98448"/>
            <a:ext cx="1999793" cy="571500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624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Продукт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48433" y="1298448"/>
            <a:ext cx="1999793" cy="571500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4153" y="13624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Тип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48226" y="1298448"/>
            <a:ext cx="3777386" cy="571500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946" y="1362456"/>
            <a:ext cx="3685946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Почему выбран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325612" y="1298448"/>
            <a:ext cx="3332988" cy="571500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1332" y="1362456"/>
            <a:ext cx="32415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Отличие нашего продукта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869948"/>
            <a:ext cx="1999793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339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NewsWhip Spike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548433" y="1869948"/>
            <a:ext cx="1999793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4153" y="19339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Прямой / близкий B2B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548226" y="1869948"/>
            <a:ext cx="3777386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3946" y="1933956"/>
            <a:ext cx="3685946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Real-time выявление важных историй для media/comms teams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325612" y="1869948"/>
            <a:ext cx="3332988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1332" y="1933956"/>
            <a:ext cx="32415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Semantic novelty вместо public engagement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48640" y="2441448"/>
            <a:ext cx="1999793" cy="57150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5054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Feedly Market Intelligence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2548433" y="2441448"/>
            <a:ext cx="1999793" cy="57150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4153" y="25054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Частично прямой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548226" y="2441448"/>
            <a:ext cx="3777386" cy="57150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3946" y="2505456"/>
            <a:ext cx="3685946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AI-фильтрация и синтез информационных потоков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8325612" y="2441448"/>
            <a:ext cx="3332988" cy="57150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332" y="2505456"/>
            <a:ext cx="32415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Фокус на новостные события, а не broad intelligence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8640" y="3012948"/>
            <a:ext cx="1999793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0769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Медиалогия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548433" y="3012948"/>
            <a:ext cx="1999793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94153" y="3076956"/>
            <a:ext cx="1908353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Косвенный / локальный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548226" y="3012948"/>
            <a:ext cx="3777386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3946" y="3076956"/>
            <a:ext cx="3685946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Российский мониторинг СМИ и соцсетей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325612" y="3012948"/>
            <a:ext cx="3332988" cy="57150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1332" y="3076956"/>
            <a:ext cx="324154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Редакционная лента и снижение инфошума, не PR/SMM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85800" y="4023360"/>
            <a:ext cx="3154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023360"/>
            <a:ext cx="73152" cy="1051560"/>
          </a:xfrm>
          <a:prstGeom prst="rect">
            <a:avLst/>
          </a:prstGeom>
          <a:solidFill>
            <a:srgbClr val="1F6FAD"/>
          </a:solidFill>
          <a:ln w="12700">
            <a:solidFill>
              <a:srgbClr val="1F6F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1879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B2B-конкуренты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4526280"/>
            <a:ext cx="2788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NewsWhip, Feedly MI, Медиалогия: функции, цены, workflow, ожидания клиента.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26280" y="4023360"/>
            <a:ext cx="3154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4023360"/>
            <a:ext cx="73152" cy="1051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1879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UX-бенчмарки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4526280"/>
            <a:ext cx="2788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Google News, Дзен/Яндекс Новости, Ground News: как показывать сюжеты читателю.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66760" y="4023360"/>
            <a:ext cx="3154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4023360"/>
            <a:ext cx="73152" cy="105156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41879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Альтернативы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95360" y="4526280"/>
            <a:ext cx="27889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Ручная работа редактора, RSS, Telegram, поиск, LLM-суммаризация.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3. Что показывает анализ конкурентов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Конкуренты задают стандарты, но не закрывают нашу нишу полностью.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2221992" cy="585216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Конкурент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70632" y="1207008"/>
            <a:ext cx="4221785" cy="585216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271016"/>
            <a:ext cx="41303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Сильная ставка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92417" y="1207008"/>
            <a:ext cx="4666183" cy="585216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38137" y="1271016"/>
            <a:ext cx="4574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Ориентир для нас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792224"/>
            <a:ext cx="222199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56232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NewsWhip Spike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770632" y="1792224"/>
            <a:ext cx="4221785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856232"/>
            <a:ext cx="41303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Real-time, prediction, alerts, timeline, API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992417" y="1792224"/>
            <a:ext cx="4666183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8137" y="1856232"/>
            <a:ext cx="4574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Скорость, алерты, история развития темы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2221992" cy="58521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41448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Feedly MI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770632" y="2377440"/>
            <a:ext cx="4221785" cy="58521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441448"/>
            <a:ext cx="41303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AI Feeds, newsletters, dashboards, insights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992417" y="2377440"/>
            <a:ext cx="4666183" cy="58521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8137" y="2441448"/>
            <a:ext cx="4574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AI-фильтрация, дайджесты, синтез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48640" y="2962656"/>
            <a:ext cx="222199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26664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Медиалогия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770632" y="2962656"/>
            <a:ext cx="4221785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026664"/>
            <a:ext cx="41303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Охват источников, онлайн-мониторинг, уведомления, отчёты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992417" y="2962656"/>
            <a:ext cx="4666183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38137" y="3026664"/>
            <a:ext cx="4574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Локальный стандарт по мониторингу и отчётности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8640" y="3547872"/>
            <a:ext cx="2221992" cy="58521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11880"/>
            <a:ext cx="2130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Общий вывод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770632" y="3547872"/>
            <a:ext cx="4221785" cy="58521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3611880"/>
            <a:ext cx="413034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Большинство шире: PR, market intelligence, engagement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992417" y="3547872"/>
            <a:ext cx="4666183" cy="58521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8137" y="3611880"/>
            <a:ext cx="4574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Наша ниша — semantic novelty для редакционной ленты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14400" y="4572000"/>
            <a:ext cx="4663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572000"/>
            <a:ext cx="73152" cy="1097280"/>
          </a:xfrm>
          <a:prstGeom prst="rect">
            <a:avLst/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4736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Главная возможность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43000" y="5074920"/>
            <a:ext cx="4297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Сделать не “ещё один мониторинг”, а слой, который объясняет: что новое, что дубль, что важно для сюжета.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4572000"/>
            <a:ext cx="4663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4572000"/>
            <a:ext cx="73152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736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Главный риск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29400" y="5074920"/>
            <a:ext cx="4297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Не разрастись в тяжёлый media intelligence-комбайн и сохранить узкий редакционный фокус.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635508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A2B3"/>
                </a:solidFill>
              </a:rPr>
              <a:t>Источники: NewsWhip, Feedly, Медиалогия, Capterra/G2/PickTech/Startpack.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4. Минимальные требования к функциональности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То, без чего продукт не будет конкурентоспособным для редакции.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0432"/>
            <a:ext cx="3332988" cy="485775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Функция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81628" y="1170432"/>
            <a:ext cx="5777179" cy="485775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27348" y="1234440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Стандарт для MVP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58807" y="1170432"/>
            <a:ext cx="1999793" cy="485775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4527" y="1234440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Приоритет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656207"/>
            <a:ext cx="3332988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20215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Группировка публикаций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881628" y="1656207"/>
            <a:ext cx="5777179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27348" y="1720215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Осмысленные событийные кластеры, не просто темы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9658807" y="1656207"/>
            <a:ext cx="1999793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04527" y="1720215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Must-have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8640" y="2141982"/>
            <a:ext cx="3332988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05990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Выявление дублей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881628" y="2141982"/>
            <a:ext cx="5777179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27348" y="2205990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Перепечатки и близкие пересказы отделяются от ключевых публикаций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658807" y="2141982"/>
            <a:ext cx="1999793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4527" y="2205990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Must-have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48640" y="2627757"/>
            <a:ext cx="3332988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691765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Роль новости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881628" y="2627757"/>
            <a:ext cx="5777179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27348" y="2691765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new_event / update / duplicate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9658807" y="2627757"/>
            <a:ext cx="1999793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04527" y="2691765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Must-have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8640" y="3113532"/>
            <a:ext cx="3332988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177540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Временной контекст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881628" y="3113532"/>
            <a:ext cx="5777179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27348" y="3177540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Похожие новости из разных периодов не склеиваются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658807" y="3113532"/>
            <a:ext cx="1999793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04527" y="3177540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Must-have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48640" y="3599307"/>
            <a:ext cx="3332988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663315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API / интерфейс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881628" y="3599307"/>
            <a:ext cx="5777179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27348" y="3663315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Встраивание в CMS, ленту, поиск или редакторскую панель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9658807" y="3599307"/>
            <a:ext cx="1999793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04527" y="3663315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Must-have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48640" y="4085082"/>
            <a:ext cx="3332988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149090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Дайджесты / алерты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881628" y="4085082"/>
            <a:ext cx="5777179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27348" y="4149090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Сообщения о новых событиях и важных обновлениях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9658807" y="4085082"/>
            <a:ext cx="1999793" cy="48577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04527" y="4149090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Should-have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48640" y="4570857"/>
            <a:ext cx="3332988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34865"/>
            <a:ext cx="3241548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Пользовательская выдача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881628" y="4570857"/>
            <a:ext cx="5777179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27348" y="4634865"/>
            <a:ext cx="5685739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Блок “что нового”, похожие материалы, semantic search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9658807" y="4570857"/>
            <a:ext cx="1999793" cy="48577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04527" y="4634865"/>
            <a:ext cx="1908353" cy="37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Should-have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31520" y="5440680"/>
            <a:ext cx="106984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" y="5440680"/>
            <a:ext cx="73152" cy="566928"/>
          </a:xfrm>
          <a:prstGeom prst="rect">
            <a:avLst/>
          </a:prstGeom>
          <a:solidFill>
            <a:srgbClr val="1F6FAD"/>
          </a:solidFill>
          <a:ln w="12700">
            <a:solidFill>
              <a:srgbClr val="1F6FA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560527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Ключевой принцип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60120" y="5943600"/>
            <a:ext cx="103327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Не просто “найти похожие новости”, а показать структуру события и смысловую роль каждой публикации.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5. Отличия и монетизация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Продукт должен быть уже, понятнее и дешевле широких enterprise-инструментов.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246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1280160"/>
          </a:xfrm>
          <a:prstGeom prst="rect">
            <a:avLst/>
          </a:prstGeom>
          <a:solidFill>
            <a:srgbClr val="1F6FAD"/>
          </a:solidFill>
          <a:ln w="12700">
            <a:solidFill>
              <a:srgbClr val="1F6F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99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Semantic novelty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28803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Оценка и объяснение новой смысловой информации внутри события.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3246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234440"/>
            <a:ext cx="73152" cy="1280160"/>
          </a:xfrm>
          <a:prstGeom prst="rect">
            <a:avLst/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99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Редакционный фокус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37360"/>
            <a:ext cx="28803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Не PR/SMM и не market intelligence: поток новостей, дубли, обновления, лента.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32461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234440"/>
            <a:ext cx="73152" cy="12801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399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B2B2C-ценность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1737360"/>
            <a:ext cx="28803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Редактор работает быстрее, а читатель видит меньше инфошума.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017520"/>
            <a:ext cx="3195828" cy="402336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081528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73068" y="3017520"/>
            <a:ext cx="7456932" cy="402336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8788" y="3081528"/>
            <a:ext cx="7365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Как применять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419856"/>
            <a:ext cx="319582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483864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B2B SaaS / API subscription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973068" y="3419856"/>
            <a:ext cx="745693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18788" y="3483864"/>
            <a:ext cx="7365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Базовая модель: редакция платит за сервис/API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7240" y="3822192"/>
            <a:ext cx="3195828" cy="40233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86200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Оплата по объёму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973068" y="3822192"/>
            <a:ext cx="7456932" cy="40233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18788" y="3886200"/>
            <a:ext cx="7365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Публикации, источники, ленты, история, API-запросы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7240" y="4224528"/>
            <a:ext cx="319582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88536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Enterprise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973068" y="4224528"/>
            <a:ext cx="745693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18788" y="4288536"/>
            <a:ext cx="7365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SLA, CMS-интеграция, private cloud / on-premise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77240" y="4626864"/>
            <a:ext cx="3195828" cy="40233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690872"/>
            <a:ext cx="31043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Ценовой ориентир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973068" y="4626864"/>
            <a:ext cx="7456932" cy="402336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18788" y="4690872"/>
            <a:ext cx="7365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Ниже широких enterprise-платформ в базовом тарифе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66928" y="635508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A2B3"/>
                </a:solidFill>
              </a:rPr>
              <a:t>Ориентиры цен: Медиалогия ≈ $300/мес; Feedly MI ≈ $1,200/мес; NewsWhip ≈ $2,000/мес или user/month.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6. Минимальные бенчмарки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Метрики нужны не “для красоты”, а чтобы проверить, работает ли продуктовая гипотеза.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3777386" cy="531495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Метрика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26026" y="1143000"/>
            <a:ext cx="2666390" cy="531495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1746" y="1207008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Минимальный ориентир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92417" y="1143000"/>
            <a:ext cx="4666183" cy="531495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38137" y="1207008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Зачем нужна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674495"/>
            <a:ext cx="3777386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38503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Precision ключевых новостей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26026" y="1674495"/>
            <a:ext cx="266639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1746" y="1738503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≥ 0.7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992417" y="1674495"/>
            <a:ext cx="4666183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38137" y="1738503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Редактор должен доверять пометке “ключевая”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48640" y="2205990"/>
            <a:ext cx="3777386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269998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Recall ключевых новостей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326026" y="2205990"/>
            <a:ext cx="2666390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1746" y="2269998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≥ 0.6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992417" y="2205990"/>
            <a:ext cx="4666183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8137" y="2269998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Не пропускать значимые обновления системно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48640" y="2737485"/>
            <a:ext cx="3777386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01493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Coverage ключевых событий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326026" y="2737485"/>
            <a:ext cx="266639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1746" y="2801493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≥ 0.8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992417" y="2737485"/>
            <a:ext cx="4666183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38137" y="2801493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Не терять важные события ради сжатия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8640" y="3268980"/>
            <a:ext cx="3777386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32988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Recall@1 дублей / парафразов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326026" y="3268980"/>
            <a:ext cx="2666390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1746" y="3332988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&gt; 0.9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992417" y="3268980"/>
            <a:ext cx="4666183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8137" y="3332988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Retrieval-слой должен уверенно находить похожее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48640" y="3800475"/>
            <a:ext cx="3777386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864483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Время обработки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326026" y="3800475"/>
            <a:ext cx="266639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1746" y="3864483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1–5 минут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992417" y="3800475"/>
            <a:ext cx="4666183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8137" y="3864483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Near-real-time уровень для редакционного сценария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48640" y="4331970"/>
            <a:ext cx="3777386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395978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Снижение времени редактора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326026" y="4331970"/>
            <a:ext cx="2666390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1746" y="4395978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≥ 30%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992417" y="4331970"/>
            <a:ext cx="4666183" cy="531495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8137" y="4395978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Главная продуктовая гипотеза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48640" y="4863465"/>
            <a:ext cx="3777386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927473"/>
            <a:ext cx="368594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Reduction ratio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4326026" y="4863465"/>
            <a:ext cx="2666390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71746" y="4927473"/>
            <a:ext cx="2574950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только вместе с coverage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992417" y="4863465"/>
            <a:ext cx="4666183" cy="531495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38137" y="4927473"/>
            <a:ext cx="45747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Сжатие не должно ломать полноту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22960" y="5669280"/>
            <a:ext cx="105613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5669280"/>
            <a:ext cx="73152" cy="457200"/>
          </a:xfrm>
          <a:prstGeom prst="rect">
            <a:avLst/>
          </a:prstGeom>
          <a:solidFill>
            <a:srgbClr val="287D5D"/>
          </a:solidFill>
          <a:ln w="12700">
            <a:solidFill>
              <a:srgbClr val="287D5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0" y="583387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Главный стандарт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51560" y="6172200"/>
            <a:ext cx="10195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Снижение инфошума считается успешным только при сохранении coverage ключевых событий.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7. Итоговые требования к продукту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Бенчмаркинг превращает идею в набор проверяемых требований.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3046781" cy="541020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2955341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Категория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86861" y="1280160"/>
            <a:ext cx="7834579" cy="541020"/>
          </a:xfrm>
          <a:prstGeom prst="rect">
            <a:avLst/>
          </a:prstGeom>
          <a:solidFill>
            <a:srgbClr val="14314A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2581" y="1344168"/>
            <a:ext cx="7743139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Итоговый стандарт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21180"/>
            <a:ext cx="3046781" cy="5410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85188"/>
            <a:ext cx="2955341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Функциональность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686861" y="1821180"/>
            <a:ext cx="7834579" cy="5410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2581" y="1885188"/>
            <a:ext cx="7743139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Кластеры событий, дубли, обновления, временной контекст, API/интерфейс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40080" y="2362200"/>
            <a:ext cx="3046781" cy="54102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26208"/>
            <a:ext cx="2955341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Дифференциация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686861" y="2362200"/>
            <a:ext cx="7834579" cy="54102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2581" y="2426208"/>
            <a:ext cx="7743139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Semantic novelty score + объяснение новой информации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40080" y="2903220"/>
            <a:ext cx="3046781" cy="5410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67228"/>
            <a:ext cx="2955341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UX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686861" y="2903220"/>
            <a:ext cx="7834579" cy="5410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2581" y="2967228"/>
            <a:ext cx="7743139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Событие → ключевые публикации → обновления → дубли; 1–2 действия до сути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40080" y="3444240"/>
            <a:ext cx="3046781" cy="54102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08248"/>
            <a:ext cx="2955341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Монетизация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686861" y="3444240"/>
            <a:ext cx="7834579" cy="541020"/>
          </a:xfrm>
          <a:prstGeom prst="rect">
            <a:avLst/>
          </a:prstGeom>
          <a:solidFill>
            <a:srgbClr val="F9FAFB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2581" y="3508248"/>
            <a:ext cx="7743139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B2B SaaS/API; оплата по объёму, источникам, истории, интеграции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40080" y="3985260"/>
            <a:ext cx="3046781" cy="5410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49268"/>
            <a:ext cx="2955341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Метрики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686861" y="3985260"/>
            <a:ext cx="7834579" cy="5410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2581" y="4049268"/>
            <a:ext cx="7743139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01828"/>
                </a:solidFill>
              </a:rPr>
              <a:t>precision, recall, coverage, Recall@K/MRR, latency, editor time reduction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051560" y="4892040"/>
            <a:ext cx="100126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4892040"/>
            <a:ext cx="73152" cy="868680"/>
          </a:xfrm>
          <a:prstGeom prst="rect">
            <a:avLst/>
          </a:prstGeom>
          <a:solidFill>
            <a:srgbClr val="14314A"/>
          </a:solidFill>
          <a:ln w="12700">
            <a:solidFill>
              <a:srgbClr val="1431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5056632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Финальная позиция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394960"/>
            <a:ext cx="96469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Semantic News Novelty — не самостоятельный агрегатор, а ML-слой для редакций, который снижает инфошум и улучшает конечную новостную выдачу.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55480" y="6510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</a:rPr>
              <a:t>MFDP · Semantic News Novelty ·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Microsoft Office PowerPoint</Application>
  <PresentationFormat>Широкоэкранный</PresentationFormat>
  <Paragraphs>180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MFDP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News Novelty — конкурентный анализ</dc:title>
  <dc:subject>Competitive benchmarking for Semantic News Novelty</dc:subject>
  <dc:creator>OpenAI</dc:creator>
  <cp:lastModifiedBy>Константин Лебедев</cp:lastModifiedBy>
  <cp:revision>2</cp:revision>
  <dcterms:created xsi:type="dcterms:W3CDTF">2026-05-07T16:23:59Z</dcterms:created>
  <dcterms:modified xsi:type="dcterms:W3CDTF">2026-05-07T16:46:50Z</dcterms:modified>
</cp:coreProperties>
</file>