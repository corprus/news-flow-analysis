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628" autoAdjust="0"/>
  </p:normalViewPr>
  <p:slideViewPr>
    <p:cSldViewPr snapToGrid="0" snapToObjects="1">
      <p:cViewPr varScale="1">
        <p:scale>
          <a:sx n="109" d="100"/>
          <a:sy n="109" d="100"/>
        </p:scale>
        <p:origin x="131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219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Идея проекта началась с простой личной боли: я устал от потока похожих новостей. Одно и то же событие пересказывается десятками публикаций, заголовки отличаются, а смысл часто остаётся тем же.</a:t>
            </a:r>
            <a:endParaRPr lang="en-US" dirty="0"/>
          </a:p>
          <a:p>
            <a:endParaRPr lang="ru-RU" dirty="0"/>
          </a:p>
          <a:p>
            <a:r>
              <a:rPr lang="ru-RU" dirty="0" err="1"/>
              <a:t>Semantic</a:t>
            </a:r>
            <a:r>
              <a:rPr lang="ru-RU" dirty="0"/>
              <a:t> News </a:t>
            </a:r>
            <a:r>
              <a:rPr lang="ru-RU" dirty="0" err="1"/>
              <a:t>Novelty</a:t>
            </a:r>
            <a:r>
              <a:rPr lang="ru-RU" dirty="0"/>
              <a:t> — это сервис для снижения </a:t>
            </a:r>
            <a:r>
              <a:rPr lang="ru-RU" dirty="0" err="1"/>
              <a:t>инфошума</a:t>
            </a:r>
            <a:r>
              <a:rPr lang="ru-RU" dirty="0"/>
              <a:t> в новостном потоке. Он помогает превратить поток отдельных публикаций в понятные сюжеты и быстрее увидеть, где действительно появилось что-то новое.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обычного читателя повторяющиеся новости — это раздражение. Для аналитика это уже рабочая проблема.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аналитик готовит обзор по большому новостному потоку, ему нужно быстро увидеть основные сюжеты и не пропустить в них главное. Если этого не сделать, часы уходят на ручную вычитку, а важное обновление можно просто не заметить среди пересказов.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Непосредственный пользователь продукта — аналитик или редактор обзора. Именно он работает с новостным потоком, готовит обзоры, отслеживает сюжеты и обновления.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Заказчик — аналитическое агентство или подразделение. Для него ценность в том, чтобы быстрее выпускать обзоры и снижать ручную нагрузку команды.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Я не делаю основным фокусом крупные корпорации, которые могут купить дорогое комплексное решение или разработать узкую систему внутри. Фокус проекта — малые и средние аналитические команды без собственной ML-разработки.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рассматриваю рынок через альтернативы, с которыми реально конкурирует такой инструмент.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Самый простой вариант — ручная вычитка. Она даёт контроль качества, но плохо масштабируется и быстро превращается в рутину.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RSS, Telegram и поисковики помогают быстро собрать поток, но не дают структуру сюжетов и не выделяют смысловую новизну.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Большие </a:t>
            </a:r>
            <a:r>
              <a:rPr lang="ru-RU" dirty="0" err="1"/>
              <a:t>full-cycle</a:t>
            </a:r>
            <a:r>
              <a:rPr lang="ru-RU" dirty="0"/>
              <a:t> </a:t>
            </a:r>
            <a:r>
              <a:rPr lang="ru-RU" dirty="0" err="1"/>
              <a:t>SaaS</a:t>
            </a:r>
            <a:r>
              <a:rPr lang="ru-RU" dirty="0"/>
              <a:t> закрывают широкий мониторинг, но для части команд могут быть дорогими или избыточными.</a:t>
            </a:r>
            <a:endParaRPr lang="en-US" dirty="0"/>
          </a:p>
          <a:p>
            <a:endParaRPr lang="en-US" dirty="0"/>
          </a:p>
          <a:p>
            <a:r>
              <a:rPr lang="ru-RU" dirty="0" err="1"/>
              <a:t>Semantic</a:t>
            </a:r>
            <a:r>
              <a:rPr lang="ru-RU" dirty="0"/>
              <a:t> News </a:t>
            </a:r>
            <a:r>
              <a:rPr lang="ru-RU" dirty="0" err="1"/>
              <a:t>Novelty</a:t>
            </a:r>
            <a:r>
              <a:rPr lang="ru-RU" dirty="0"/>
              <a:t> занимает более узкую позицию: мы не заменяем сбор новостей, а превращаем уже собранный поток в рабочий материал — с сюжетами, новизной и поиском по смыслу.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продукта максимально простая: он группирует новости и показывает новое.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Сервис берёт поток публикаций, собирает похожие новости в сюжеты, оценивает смысловую новизну внутри сюжета и позволяет искать связанные материалы по смыслу.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выходе аналитик получает не плоскую ленту публикаций, а структуру для обзора: сюжеты, новизну и поиск по смыслу.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Важно: это не замена аналитика. Редактор может проверить результат модели и исправить метки. Идея в том, чтобы убрать рутину и дать человеку более удобную структуру для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MVP уже есть основные продуктовые сценарии.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Пользователь может искать новости по смыслу и по датам, а также видеть историю поиска.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Редактор может импортировать CSV, работать с черновиками и вручную корректировать результат модели.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Администратор управляет пользователями, ролями, организациями, балансом и кредитами.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Под капотом это уже не просто ноутбук с моделью, а сервис с API, базой данных, очередью задач, модельным </a:t>
            </a:r>
            <a:r>
              <a:rPr lang="ru-RU" dirty="0" err="1"/>
              <a:t>воркером</a:t>
            </a:r>
            <a:r>
              <a:rPr lang="ru-RU" dirty="0"/>
              <a:t> и мониторингом. Технологии на слайде указаны мелко, потому что главное здесь — не стек сам по себе, а то, что MVP уже поддерживает рабочие сценарии.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Метрики я выбирал не просто как стандартный набор F1 и </a:t>
            </a:r>
            <a:r>
              <a:rPr lang="ru-RU" dirty="0" err="1"/>
              <a:t>recall</a:t>
            </a:r>
            <a:r>
              <a:rPr lang="ru-RU" dirty="0"/>
              <a:t>, а под пользовательскую задачу аналитика.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аналитика важны три вещи.</a:t>
            </a:r>
          </a:p>
          <a:p>
            <a:r>
              <a:rPr lang="ru-RU" dirty="0"/>
              <a:t>Первая — меньше повторов в выдаче. В Top-10 стало на 75% меньше повторяющихся публикаций, а MRR@10 вырос с 0.91 до 0.99.</a:t>
            </a:r>
          </a:p>
          <a:p>
            <a:r>
              <a:rPr lang="ru-RU" dirty="0"/>
              <a:t>Вторая — меньше риск пропустить значимое обновление. </a:t>
            </a:r>
            <a:r>
              <a:rPr lang="ru-RU" dirty="0" err="1"/>
              <a:t>Recall</a:t>
            </a:r>
            <a:r>
              <a:rPr lang="ru-RU" dirty="0"/>
              <a:t> по значимым обновлениям вырос с 0.51 до 0.99, а F1 — с 0.63 до 0.91.</a:t>
            </a:r>
          </a:p>
          <a:p>
            <a:r>
              <a:rPr lang="ru-RU" dirty="0"/>
              <a:t>Третья — лучше собранные сюжеты. </a:t>
            </a:r>
            <a:r>
              <a:rPr lang="ru-RU" dirty="0" err="1"/>
              <a:t>Пайплайн</a:t>
            </a:r>
            <a:r>
              <a:rPr lang="ru-RU" dirty="0"/>
              <a:t> находит 83% правильных связей внутри сюжетов, а F1 группировки вырос с 0.77 до 0.90.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эти значения сравниваются с моим собственным </a:t>
            </a:r>
            <a:r>
              <a:rPr lang="ru-RU" dirty="0" err="1"/>
              <a:t>бейзлайном</a:t>
            </a:r>
            <a:r>
              <a:rPr lang="ru-RU" dirty="0"/>
              <a:t>. Улучшения получены за счёт финального </a:t>
            </a:r>
            <a:r>
              <a:rPr lang="ru-RU" dirty="0" err="1"/>
              <a:t>пайплайна</a:t>
            </a:r>
            <a:r>
              <a:rPr lang="ru-RU" dirty="0"/>
              <a:t>: BGE-M3 </a:t>
            </a:r>
            <a:r>
              <a:rPr lang="ru-RU" dirty="0" err="1"/>
              <a:t>эмбеддингов</a:t>
            </a:r>
            <a:r>
              <a:rPr lang="ru-RU" dirty="0"/>
              <a:t>, настройки кластеризации и модели значимости.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Архитектура построена как сервис, а не как одиночный скрипт.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Пользователь работает через UI. Запросы идут в API. Тяжёлая обработка новостей уходит в очередь задач, чтобы интерфейс не блокировался.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ML-</a:t>
            </a:r>
            <a:r>
              <a:rPr lang="ru-RU" dirty="0" err="1"/>
              <a:t>воркер</a:t>
            </a:r>
            <a:r>
              <a:rPr lang="ru-RU" dirty="0"/>
              <a:t> считает эмбеддинги, собирает новости в кластеры и определяет новизну. Данные и векторы хранятся в </a:t>
            </a:r>
            <a:r>
              <a:rPr lang="ru-RU" dirty="0" err="1"/>
              <a:t>PostgreSQL</a:t>
            </a:r>
            <a:r>
              <a:rPr lang="ru-RU" dirty="0"/>
              <a:t> с </a:t>
            </a:r>
            <a:r>
              <a:rPr lang="ru-RU" dirty="0" err="1"/>
              <a:t>pgvector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Отдельно есть мониторинг через </a:t>
            </a:r>
            <a:r>
              <a:rPr lang="ru-RU" dirty="0" err="1"/>
              <a:t>Prometheus</a:t>
            </a:r>
            <a:r>
              <a:rPr lang="ru-RU" dirty="0"/>
              <a:t> и </a:t>
            </a:r>
            <a:r>
              <a:rPr lang="ru-RU" dirty="0" err="1"/>
              <a:t>Grafana</a:t>
            </a:r>
            <a:r>
              <a:rPr lang="ru-RU" dirty="0"/>
              <a:t>: можно видеть очередь, скорость обработки, ошибки и потребление ресурсов.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Такая схема позволяет масштабировать обработку: например, запускать несколько </a:t>
            </a:r>
            <a:r>
              <a:rPr lang="ru-RU" dirty="0" err="1"/>
              <a:t>воркеров</a:t>
            </a:r>
            <a:r>
              <a:rPr lang="ru-RU" dirty="0"/>
              <a:t> и использовать CPU или GPU-режимы.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AI-инструменты я использовал как формат совместной работы.</a:t>
            </a:r>
          </a:p>
          <a:p>
            <a:r>
              <a:rPr lang="ru-RU" dirty="0"/>
              <a:t>Они помогали обсуждать архитектуру, находить слабые места, разбирать ошибки и ускорять рутинные задачи: рефакторинг, документацию, подготовку вариантов формулировок.</a:t>
            </a:r>
          </a:p>
          <a:p>
            <a:r>
              <a:rPr lang="ru-RU" dirty="0"/>
              <a:t>Но AI не выбирал за меня метрики, не проверял качество вместо меня и не принимал финальные решения по архитектуре и продукту.</a:t>
            </a:r>
          </a:p>
          <a:p>
            <a:r>
              <a:rPr lang="ru-RU" dirty="0"/>
              <a:t>Мой принцип такой: AI — помощник в разработке и обдумывании задач, но не автор проекта. Решения всегда за человеком, как и ответственность за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демо я не буду показывать весь продукт. Я покажу один основной сценарий.</a:t>
            </a:r>
          </a:p>
          <a:p>
            <a:r>
              <a:rPr lang="ru-RU" dirty="0"/>
              <a:t>Сначала редактор загружает заранее подготовленный CSV с новостями. Затем новости попадают в черновики, отправляются в модель и получают результат обработки.</a:t>
            </a:r>
          </a:p>
          <a:p>
            <a:r>
              <a:rPr lang="ru-RU" dirty="0"/>
              <a:t>После этого я покажу, как можно перейти к сюжетам или найти связанные материалы по смыслу.</a:t>
            </a:r>
          </a:p>
          <a:p>
            <a:r>
              <a:rPr lang="ru-RU" dirty="0"/>
              <a:t>Я буду комментировать каждый шаг по ходу. Типы аккаунтов, админка и </a:t>
            </a:r>
            <a:r>
              <a:rPr lang="ru-RU" dirty="0" err="1"/>
              <a:t>Grafana</a:t>
            </a:r>
            <a:r>
              <a:rPr lang="ru-RU" dirty="0"/>
              <a:t> тоже есть в MVP, но в коротком питче они не должны становиться центром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Преимущество продукта не в том, что он просто показывает новости. Новостных лент и поисковиков уже много.\</a:t>
            </a:r>
          </a:p>
          <a:p>
            <a:endParaRPr lang="ru-RU" dirty="0"/>
          </a:p>
          <a:p>
            <a:r>
              <a:rPr lang="ru-RU" dirty="0"/>
              <a:t>Сильная сторона — в постобработке потока. Аналитик быстрее получает структуру обзора, видит меньше повторов и меньше рискует пропустить значимое обновление.</a:t>
            </a:r>
          </a:p>
          <a:p>
            <a:endParaRPr lang="ru-RU" dirty="0"/>
          </a:p>
          <a:p>
            <a:r>
              <a:rPr lang="ru-RU" dirty="0"/>
              <a:t>Ещё одно важное преимущество — редакторский контроль. Модель предлагает метки, но человек может их исправить вручную. Поэтому продукт не превращается в чёрный ящик.</a:t>
            </a:r>
          </a:p>
          <a:p>
            <a:endParaRPr lang="ru-RU" dirty="0"/>
          </a:p>
          <a:p>
            <a:r>
              <a:rPr lang="ru-RU" dirty="0"/>
              <a:t>Итоговая идея простая: сервис не просто ищет новости — он превращает поток в рабочую 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честно разделяю техническую и продуктовую проверку.</a:t>
            </a:r>
          </a:p>
          <a:p>
            <a:endParaRPr lang="ru-RU" dirty="0"/>
          </a:p>
          <a:p>
            <a:r>
              <a:rPr lang="ru-RU" dirty="0"/>
              <a:t>В рамках проекта я проверил техническую гипотезу: можно ли собрать новости в сюжеты, выделить значимые обновления и обернуть это в работающий сервис.</a:t>
            </a:r>
          </a:p>
          <a:p>
            <a:endParaRPr lang="ru-RU" dirty="0"/>
          </a:p>
          <a:p>
            <a:r>
              <a:rPr lang="ru-RU" dirty="0"/>
              <a:t>Основные риски тоже понятны. </a:t>
            </a:r>
          </a:p>
          <a:p>
            <a:r>
              <a:rPr lang="ru-RU" dirty="0"/>
              <a:t>Во-первых, пока малый объём ручной разметки. </a:t>
            </a:r>
          </a:p>
          <a:p>
            <a:r>
              <a:rPr lang="ru-RU" dirty="0"/>
              <a:t>Во-вторых, ещё нет пилота с клиентом. </a:t>
            </a:r>
          </a:p>
          <a:p>
            <a:r>
              <a:rPr lang="ru-RU" dirty="0"/>
              <a:t>В-третьих, нужно учитывать конкуренцию с LLM-инструментами и крупными </a:t>
            </a:r>
            <a:r>
              <a:rPr lang="ru-RU" dirty="0" err="1"/>
              <a:t>SaaS</a:t>
            </a:r>
            <a:r>
              <a:rPr lang="ru-RU" dirty="0"/>
              <a:t>-решениями.</a:t>
            </a:r>
          </a:p>
          <a:p>
            <a:endParaRPr lang="ru-RU" dirty="0"/>
          </a:p>
          <a:p>
            <a:r>
              <a:rPr lang="ru-RU" dirty="0"/>
              <a:t>Следующие шаги — расширить ручную разметку, доработать ML-</a:t>
            </a:r>
            <a:r>
              <a:rPr lang="ru-RU" dirty="0" err="1"/>
              <a:t>пайплайн</a:t>
            </a:r>
            <a:r>
              <a:rPr lang="ru-RU" dirty="0"/>
              <a:t>, добавить пакетную обработку больших импортов, LLM-названия сюжетов и больше форматов интеграции, например RSS и API.</a:t>
            </a:r>
          </a:p>
          <a:p>
            <a:r>
              <a:rPr lang="ru-RU" dirty="0"/>
              <a:t>Отдельный продуктовый шаг — пилот на реальном новостном потоке, чтобы проверить ценность и монетизацию. Гипотеза монетизации — B2B-подписка или лицензия.</a:t>
            </a:r>
          </a:p>
          <a:p>
            <a:r>
              <a:rPr lang="ru-RU" dirty="0"/>
              <a:t>На этом всё. Спасибо,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118872" cy="5074920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" name="Text 2"/>
          <p:cNvSpPr/>
          <p:nvPr/>
        </p:nvSpPr>
        <p:spPr>
          <a:xfrm>
            <a:off x="868680" y="713232"/>
            <a:ext cx="5852160" cy="205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4200" b="1" noProof="0" dirty="0" err="1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Semantic</a:t>
            </a:r>
            <a:endParaRPr lang="ru-RU" sz="4200" noProof="0" dirty="0"/>
          </a:p>
          <a:p>
            <a:pPr marL="0" indent="0">
              <a:buNone/>
            </a:pPr>
            <a:r>
              <a:rPr lang="ru-RU" sz="42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News</a:t>
            </a:r>
            <a:endParaRPr lang="ru-RU" sz="4200" noProof="0" dirty="0"/>
          </a:p>
          <a:p>
            <a:pPr marL="0" indent="0">
              <a:buNone/>
            </a:pPr>
            <a:r>
              <a:rPr lang="ru-RU" sz="4200" b="1" noProof="0" dirty="0" err="1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Novelty</a:t>
            </a:r>
            <a:endParaRPr lang="ru-RU" sz="4200" noProof="0" dirty="0"/>
          </a:p>
        </p:txBody>
      </p:sp>
      <p:sp>
        <p:nvSpPr>
          <p:cNvPr id="5" name="Text 3"/>
          <p:cNvSpPr/>
          <p:nvPr/>
        </p:nvSpPr>
        <p:spPr>
          <a:xfrm>
            <a:off x="896112" y="2852928"/>
            <a:ext cx="63093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2500" b="1" noProof="0" dirty="0">
                <a:solidFill>
                  <a:srgbClr val="F05A4F"/>
                </a:solidFill>
              </a:rPr>
              <a:t>Сервис для снижения</a:t>
            </a:r>
            <a:endParaRPr lang="ru-RU" sz="2500" noProof="0" dirty="0"/>
          </a:p>
          <a:p>
            <a:pPr marL="0" indent="0">
              <a:buNone/>
            </a:pPr>
            <a:r>
              <a:rPr lang="ru-RU" sz="2500" b="1" noProof="0" dirty="0" err="1">
                <a:solidFill>
                  <a:srgbClr val="F05A4F"/>
                </a:solidFill>
              </a:rPr>
              <a:t>инфошума</a:t>
            </a:r>
            <a:r>
              <a:rPr lang="ru-RU" sz="2500" b="1" noProof="0" dirty="0">
                <a:solidFill>
                  <a:srgbClr val="F05A4F"/>
                </a:solidFill>
              </a:rPr>
              <a:t> в новостном потоке</a:t>
            </a:r>
            <a:endParaRPr lang="ru-RU" sz="2500" noProof="0" dirty="0"/>
          </a:p>
        </p:txBody>
      </p:sp>
      <p:sp>
        <p:nvSpPr>
          <p:cNvPr id="6" name="Text 4"/>
          <p:cNvSpPr/>
          <p:nvPr/>
        </p:nvSpPr>
        <p:spPr>
          <a:xfrm>
            <a:off x="7818120" y="6062472"/>
            <a:ext cx="37033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r">
              <a:buNone/>
            </a:pPr>
            <a:r>
              <a:rPr lang="ru-RU" sz="1800" b="1" noProof="0" dirty="0">
                <a:solidFill>
                  <a:srgbClr val="111827"/>
                </a:solidFill>
              </a:rPr>
              <a:t>Константин Лебедев</a:t>
            </a:r>
            <a:endParaRPr lang="ru-RU" sz="1800" noProof="0" dirty="0"/>
          </a:p>
        </p:txBody>
      </p:sp>
      <p:sp>
        <p:nvSpPr>
          <p:cNvPr id="7" name="Shape 5"/>
          <p:cNvSpPr/>
          <p:nvPr/>
        </p:nvSpPr>
        <p:spPr>
          <a:xfrm>
            <a:off x="7452360" y="1005840"/>
            <a:ext cx="3337560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460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Text 6"/>
          <p:cNvSpPr/>
          <p:nvPr/>
        </p:nvSpPr>
        <p:spPr>
          <a:xfrm>
            <a:off x="7616952" y="1261872"/>
            <a:ext cx="30175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64748B"/>
                </a:solidFill>
              </a:rPr>
              <a:t>поток публикаций</a:t>
            </a:r>
            <a:endParaRPr lang="ru-RU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8887968" y="1883664"/>
            <a:ext cx="475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600" b="1" noProof="0" dirty="0">
                <a:solidFill>
                  <a:srgbClr val="F05A4F"/>
                </a:solidFill>
              </a:rPr>
              <a:t>↓</a:t>
            </a:r>
            <a:endParaRPr lang="ru-RU" sz="2600" noProof="0" dirty="0"/>
          </a:p>
        </p:txBody>
      </p:sp>
      <p:sp>
        <p:nvSpPr>
          <p:cNvPr id="10" name="Shape 8"/>
          <p:cNvSpPr/>
          <p:nvPr/>
        </p:nvSpPr>
        <p:spPr>
          <a:xfrm>
            <a:off x="7452360" y="2670048"/>
            <a:ext cx="3337560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460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1" name="Text 9"/>
          <p:cNvSpPr/>
          <p:nvPr/>
        </p:nvSpPr>
        <p:spPr>
          <a:xfrm>
            <a:off x="7616952" y="2926080"/>
            <a:ext cx="30175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2563EB"/>
                </a:solidFill>
              </a:rPr>
              <a:t>понятные сюжеты</a:t>
            </a:r>
            <a:endParaRPr lang="ru-RU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887968" y="3547872"/>
            <a:ext cx="475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600" b="1" noProof="0" dirty="0">
                <a:solidFill>
                  <a:srgbClr val="F05A4F"/>
                </a:solidFill>
              </a:rPr>
              <a:t>↓</a:t>
            </a:r>
            <a:endParaRPr lang="ru-RU" sz="2600" noProof="0" dirty="0"/>
          </a:p>
        </p:txBody>
      </p:sp>
      <p:sp>
        <p:nvSpPr>
          <p:cNvPr id="13" name="Shape 11"/>
          <p:cNvSpPr/>
          <p:nvPr/>
        </p:nvSpPr>
        <p:spPr>
          <a:xfrm>
            <a:off x="7452360" y="4334256"/>
            <a:ext cx="3337560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460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4" name="Text 12"/>
          <p:cNvSpPr/>
          <p:nvPr/>
        </p:nvSpPr>
        <p:spPr>
          <a:xfrm>
            <a:off x="7616952" y="4590288"/>
            <a:ext cx="30175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16A34A"/>
                </a:solidFill>
              </a:rPr>
              <a:t>что действительно новое?</a:t>
            </a:r>
            <a:endParaRPr lang="ru-RU" sz="20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Проблема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02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5156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3000" b="1" noProof="0" dirty="0">
                <a:solidFill>
                  <a:srgbClr val="111827"/>
                </a:solidFill>
              </a:rPr>
              <a:t>Новостей больше, чем нового смысла</a:t>
            </a:r>
            <a:endParaRPr lang="ru-RU" sz="3000" noProof="0" dirty="0"/>
          </a:p>
        </p:txBody>
      </p:sp>
      <p:sp>
        <p:nvSpPr>
          <p:cNvPr id="7" name="Shape 5"/>
          <p:cNvSpPr/>
          <p:nvPr/>
        </p:nvSpPr>
        <p:spPr>
          <a:xfrm>
            <a:off x="914400" y="2395728"/>
            <a:ext cx="103784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Shape 6"/>
          <p:cNvSpPr/>
          <p:nvPr/>
        </p:nvSpPr>
        <p:spPr>
          <a:xfrm>
            <a:off x="1143000" y="256946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Text 7"/>
          <p:cNvSpPr/>
          <p:nvPr/>
        </p:nvSpPr>
        <p:spPr>
          <a:xfrm>
            <a:off x="1143000" y="2651760"/>
            <a:ext cx="14173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350" b="1" noProof="0" dirty="0">
                <a:solidFill>
                  <a:srgbClr val="FFFFFF"/>
                </a:solidFill>
              </a:rPr>
              <a:t>Когда</a:t>
            </a:r>
            <a:endParaRPr lang="ru-RU" sz="1350" noProof="0" dirty="0"/>
          </a:p>
        </p:txBody>
      </p:sp>
      <p:sp>
        <p:nvSpPr>
          <p:cNvPr id="10" name="Text 8"/>
          <p:cNvSpPr/>
          <p:nvPr/>
        </p:nvSpPr>
        <p:spPr>
          <a:xfrm>
            <a:off x="2880360" y="2615184"/>
            <a:ext cx="79095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2050" b="1" noProof="0" dirty="0">
                <a:solidFill>
                  <a:srgbClr val="111827"/>
                </a:solidFill>
              </a:rPr>
              <a:t>готовлю обзор по большому новостному потоку</a:t>
            </a:r>
            <a:endParaRPr lang="ru-RU" sz="2050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3383280"/>
            <a:ext cx="103784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1143000" y="355701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1143000" y="3639312"/>
            <a:ext cx="14173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350" b="1" noProof="0" dirty="0">
                <a:solidFill>
                  <a:srgbClr val="FFFFFF"/>
                </a:solidFill>
              </a:rPr>
              <a:t>Хочу</a:t>
            </a:r>
            <a:endParaRPr lang="ru-RU" sz="1350" noProof="0" dirty="0"/>
          </a:p>
        </p:txBody>
      </p:sp>
      <p:sp>
        <p:nvSpPr>
          <p:cNvPr id="14" name="Text 12"/>
          <p:cNvSpPr/>
          <p:nvPr/>
        </p:nvSpPr>
        <p:spPr>
          <a:xfrm>
            <a:off x="2880360" y="3602736"/>
            <a:ext cx="79095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2050" b="1" noProof="0" dirty="0">
                <a:solidFill>
                  <a:srgbClr val="111827"/>
                </a:solidFill>
              </a:rPr>
              <a:t>быстро увидеть сюжеты и главное в них</a:t>
            </a:r>
            <a:endParaRPr lang="ru-RU" sz="2050" noProof="0" dirty="0"/>
          </a:p>
        </p:txBody>
      </p:sp>
      <p:sp>
        <p:nvSpPr>
          <p:cNvPr id="15" name="Shape 13"/>
          <p:cNvSpPr/>
          <p:nvPr/>
        </p:nvSpPr>
        <p:spPr>
          <a:xfrm>
            <a:off x="914400" y="4370832"/>
            <a:ext cx="103784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7" name="Text 15"/>
          <p:cNvSpPr/>
          <p:nvPr/>
        </p:nvSpPr>
        <p:spPr>
          <a:xfrm>
            <a:off x="1143000" y="4626864"/>
            <a:ext cx="14173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350" b="1" noProof="0" dirty="0">
                <a:solidFill>
                  <a:srgbClr val="FFFFFF"/>
                </a:solidFill>
              </a:rPr>
              <a:t>Чтобы</a:t>
            </a:r>
            <a:endParaRPr lang="ru-RU" sz="1350" noProof="0" dirty="0"/>
          </a:p>
        </p:txBody>
      </p:sp>
      <p:sp>
        <p:nvSpPr>
          <p:cNvPr id="18" name="Text 16"/>
          <p:cNvSpPr/>
          <p:nvPr/>
        </p:nvSpPr>
        <p:spPr>
          <a:xfrm>
            <a:off x="2880360" y="4590288"/>
            <a:ext cx="790956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2050" b="1" noProof="0" dirty="0">
                <a:solidFill>
                  <a:srgbClr val="111827"/>
                </a:solidFill>
              </a:rPr>
              <a:t>не тратить часы на ручную вычитку</a:t>
            </a:r>
            <a:endParaRPr lang="ru-RU" sz="20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Целевая аудитория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03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2107192"/>
            <a:ext cx="4800600" cy="17959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Shape 6"/>
          <p:cNvSpPr/>
          <p:nvPr/>
        </p:nvSpPr>
        <p:spPr>
          <a:xfrm>
            <a:off x="774196" y="2147952"/>
            <a:ext cx="45719" cy="1733275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Text 7"/>
          <p:cNvSpPr/>
          <p:nvPr/>
        </p:nvSpPr>
        <p:spPr>
          <a:xfrm>
            <a:off x="990602" y="2396098"/>
            <a:ext cx="4416552" cy="20061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2563EB"/>
                </a:solidFill>
              </a:rPr>
              <a:t>Пользователь</a:t>
            </a:r>
            <a:endParaRPr lang="ru-RU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990602" y="2807578"/>
            <a:ext cx="4416552" cy="95443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ru-RU" sz="1400" b="1" dirty="0"/>
              <a:t>Аналитик или редактор обзора</a:t>
            </a:r>
          </a:p>
          <a:p>
            <a:endParaRPr lang="ru-RU" sz="1400" dirty="0"/>
          </a:p>
          <a:p>
            <a:r>
              <a:rPr lang="ru-RU" sz="1400" noProof="0" dirty="0">
                <a:solidFill>
                  <a:srgbClr val="111827"/>
                </a:solidFill>
              </a:rPr>
              <a:t>• </a:t>
            </a:r>
            <a:r>
              <a:rPr lang="ru-RU" sz="1400" dirty="0"/>
              <a:t>готовит обзор по новостному потоку </a:t>
            </a:r>
          </a:p>
          <a:p>
            <a:r>
              <a:rPr lang="ru-RU" sz="1400" noProof="0" dirty="0">
                <a:solidFill>
                  <a:srgbClr val="111827"/>
                </a:solidFill>
              </a:rPr>
              <a:t>• </a:t>
            </a:r>
            <a:r>
              <a:rPr lang="ru-RU" sz="1400" dirty="0"/>
              <a:t>отслеживает сюжеты и обновления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0" y="2147952"/>
            <a:ext cx="4800600" cy="17959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6400800" y="2169892"/>
            <a:ext cx="45719" cy="1733275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6614162" y="2396098"/>
            <a:ext cx="4416552" cy="20061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F05A4F"/>
                </a:solidFill>
              </a:rPr>
              <a:t>Заказчик</a:t>
            </a:r>
            <a:endParaRPr lang="ru-RU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6614162" y="2807578"/>
            <a:ext cx="4416552" cy="90419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ru-RU" sz="1400" b="1" dirty="0"/>
              <a:t>Аналитическое агентство или подразделение</a:t>
            </a:r>
          </a:p>
          <a:p>
            <a:endParaRPr lang="ru-RU" sz="1400" dirty="0"/>
          </a:p>
          <a:p>
            <a:r>
              <a:rPr lang="ru-RU" sz="1400" dirty="0">
                <a:solidFill>
                  <a:srgbClr val="111827"/>
                </a:solidFill>
              </a:rPr>
              <a:t>• </a:t>
            </a:r>
            <a:r>
              <a:rPr lang="ru-RU" sz="1400" dirty="0"/>
              <a:t>выпускает обзоры быстрее </a:t>
            </a:r>
          </a:p>
          <a:p>
            <a:r>
              <a:rPr lang="ru-RU" sz="1400" dirty="0">
                <a:solidFill>
                  <a:srgbClr val="111827"/>
                </a:solidFill>
              </a:rPr>
              <a:t>• </a:t>
            </a:r>
            <a:r>
              <a:rPr lang="ru-RU" sz="1400" dirty="0"/>
              <a:t>снижает ручную нагрузку</a:t>
            </a:r>
          </a:p>
          <a:p>
            <a:pPr marL="0" indent="0">
              <a:buNone/>
            </a:pPr>
            <a:endParaRPr lang="ru-RU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5768108"/>
            <a:ext cx="10424160" cy="427285"/>
          </a:xfrm>
          <a:prstGeom prst="roundRect">
            <a:avLst>
              <a:gd name="adj" fmla="val 888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  <p:txBody>
          <a:bodyPr tIns="252000" anchor="ctr">
            <a:noAutofit/>
          </a:bodyPr>
          <a:lstStyle/>
          <a:p>
            <a:pPr algn="ctr"/>
            <a:r>
              <a:rPr lang="ru-RU" sz="1600" b="1" noProof="0" dirty="0"/>
              <a:t>Фокус:</a:t>
            </a:r>
            <a:r>
              <a:rPr lang="ru-RU" sz="1600" noProof="0" dirty="0"/>
              <a:t> малые и средние аналитические команды без собственной ML-разработки.</a:t>
            </a:r>
          </a:p>
          <a:p>
            <a:pPr algn="ctr"/>
            <a:endParaRPr lang="ru-RU" sz="16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Рынок и альтернативы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04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1353312"/>
            <a:ext cx="106070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2200" b="1" noProof="0" dirty="0">
                <a:solidFill>
                  <a:srgbClr val="111827"/>
                </a:solidFill>
              </a:rPr>
              <a:t>Где возникает ценность </a:t>
            </a:r>
            <a:r>
              <a:rPr lang="ru-RU" sz="2200" b="1" noProof="0" dirty="0" err="1">
                <a:solidFill>
                  <a:srgbClr val="111827"/>
                </a:solidFill>
              </a:rPr>
              <a:t>Semantic</a:t>
            </a:r>
            <a:r>
              <a:rPr lang="ru-RU" sz="2200" b="1" noProof="0" dirty="0">
                <a:solidFill>
                  <a:srgbClr val="111827"/>
                </a:solidFill>
              </a:rPr>
              <a:t> News </a:t>
            </a:r>
            <a:r>
              <a:rPr lang="ru-RU" sz="2200" b="1" noProof="0" dirty="0" err="1">
                <a:solidFill>
                  <a:srgbClr val="111827"/>
                </a:solidFill>
              </a:rPr>
              <a:t>Novelty</a:t>
            </a:r>
            <a:endParaRPr lang="ru-RU" sz="2200" noProof="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2423160" cy="27432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Text 6"/>
          <p:cNvSpPr/>
          <p:nvPr/>
        </p:nvSpPr>
        <p:spPr>
          <a:xfrm>
            <a:off x="804672" y="2240280"/>
            <a:ext cx="2093976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520" b="1" noProof="0" dirty="0">
                <a:solidFill>
                  <a:srgbClr val="111827"/>
                </a:solidFill>
              </a:rPr>
              <a:t>Ручная вычитка</a:t>
            </a:r>
            <a:endParaRPr lang="ru-RU" sz="1520" noProof="0" dirty="0"/>
          </a:p>
        </p:txBody>
      </p:sp>
      <p:sp>
        <p:nvSpPr>
          <p:cNvPr id="9" name="Text 7"/>
          <p:cNvSpPr/>
          <p:nvPr/>
        </p:nvSpPr>
        <p:spPr>
          <a:xfrm>
            <a:off x="841248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220" noProof="0" dirty="0">
                <a:solidFill>
                  <a:srgbClr val="111827"/>
                </a:solidFill>
              </a:rPr>
              <a:t>+ контроль качества</a:t>
            </a:r>
            <a:endParaRPr lang="ru-RU" sz="1220" noProof="0" dirty="0"/>
          </a:p>
        </p:txBody>
      </p:sp>
      <p:sp>
        <p:nvSpPr>
          <p:cNvPr id="10" name="Shape 8"/>
          <p:cNvSpPr/>
          <p:nvPr/>
        </p:nvSpPr>
        <p:spPr>
          <a:xfrm>
            <a:off x="1051560" y="3520440"/>
            <a:ext cx="16002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1" name="Text 9"/>
          <p:cNvSpPr/>
          <p:nvPr/>
        </p:nvSpPr>
        <p:spPr>
          <a:xfrm>
            <a:off x="841248" y="3822192"/>
            <a:ext cx="20116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320" noProof="0" dirty="0">
                <a:solidFill>
                  <a:srgbClr val="F05A4F"/>
                </a:solidFill>
              </a:rPr>
              <a:t>− медленно и рутинно</a:t>
            </a:r>
            <a:endParaRPr lang="ru-RU" sz="1320" noProof="0" dirty="0"/>
          </a:p>
        </p:txBody>
      </p:sp>
      <p:sp>
        <p:nvSpPr>
          <p:cNvPr id="12" name="Shape 10"/>
          <p:cNvSpPr/>
          <p:nvPr/>
        </p:nvSpPr>
        <p:spPr>
          <a:xfrm>
            <a:off x="3429000" y="1993392"/>
            <a:ext cx="2423160" cy="27432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3593592" y="2240280"/>
            <a:ext cx="2093976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520" b="1" noProof="0" dirty="0">
                <a:solidFill>
                  <a:srgbClr val="111827"/>
                </a:solidFill>
              </a:rPr>
              <a:t>RSS / Telegram / поиск</a:t>
            </a:r>
            <a:endParaRPr lang="ru-RU" sz="1520" noProof="0" dirty="0"/>
          </a:p>
        </p:txBody>
      </p:sp>
      <p:sp>
        <p:nvSpPr>
          <p:cNvPr id="14" name="Text 12"/>
          <p:cNvSpPr/>
          <p:nvPr/>
        </p:nvSpPr>
        <p:spPr>
          <a:xfrm>
            <a:off x="3630168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220" noProof="0" dirty="0">
                <a:solidFill>
                  <a:srgbClr val="111827"/>
                </a:solidFill>
              </a:rPr>
              <a:t>+ быстро собрать поток</a:t>
            </a:r>
            <a:endParaRPr lang="ru-RU" sz="1220" noProof="0" dirty="0"/>
          </a:p>
        </p:txBody>
      </p:sp>
      <p:sp>
        <p:nvSpPr>
          <p:cNvPr id="15" name="Shape 13"/>
          <p:cNvSpPr/>
          <p:nvPr/>
        </p:nvSpPr>
        <p:spPr>
          <a:xfrm>
            <a:off x="3840480" y="3520440"/>
            <a:ext cx="16002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6" name="Text 14"/>
          <p:cNvSpPr/>
          <p:nvPr/>
        </p:nvSpPr>
        <p:spPr>
          <a:xfrm>
            <a:off x="3630168" y="3822192"/>
            <a:ext cx="20116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320" noProof="0" dirty="0">
                <a:solidFill>
                  <a:srgbClr val="F05A4F"/>
                </a:solidFill>
              </a:rPr>
              <a:t>− нет структуры сюжетов</a:t>
            </a:r>
          </a:p>
          <a:p>
            <a:pPr marL="0" indent="0" algn="ctr">
              <a:buNone/>
            </a:pPr>
            <a:r>
              <a:rPr lang="ru-RU" sz="1320" noProof="0" dirty="0">
                <a:solidFill>
                  <a:srgbClr val="F05A4F"/>
                </a:solidFill>
              </a:rPr>
              <a:t>- нет выделения новизны</a:t>
            </a:r>
            <a:endParaRPr lang="ru-RU" sz="1320" noProof="0" dirty="0"/>
          </a:p>
        </p:txBody>
      </p:sp>
      <p:sp>
        <p:nvSpPr>
          <p:cNvPr id="17" name="Shape 15"/>
          <p:cNvSpPr/>
          <p:nvPr/>
        </p:nvSpPr>
        <p:spPr>
          <a:xfrm>
            <a:off x="6217920" y="1993392"/>
            <a:ext cx="2423160" cy="274320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8" name="Text 16"/>
          <p:cNvSpPr/>
          <p:nvPr/>
        </p:nvSpPr>
        <p:spPr>
          <a:xfrm>
            <a:off x="6382512" y="2240280"/>
            <a:ext cx="2093976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520" b="1" noProof="0" dirty="0">
                <a:solidFill>
                  <a:srgbClr val="111827"/>
                </a:solidFill>
              </a:rPr>
              <a:t>Full-</a:t>
            </a:r>
            <a:r>
              <a:rPr lang="ru-RU" sz="1520" b="1" noProof="0" dirty="0" err="1">
                <a:solidFill>
                  <a:srgbClr val="111827"/>
                </a:solidFill>
              </a:rPr>
              <a:t>cycle</a:t>
            </a:r>
            <a:r>
              <a:rPr lang="ru-RU" sz="1520" b="1" noProof="0" dirty="0">
                <a:solidFill>
                  <a:srgbClr val="111827"/>
                </a:solidFill>
              </a:rPr>
              <a:t> </a:t>
            </a:r>
            <a:r>
              <a:rPr lang="ru-RU" sz="1520" b="1" noProof="0" dirty="0" err="1">
                <a:solidFill>
                  <a:srgbClr val="111827"/>
                </a:solidFill>
              </a:rPr>
              <a:t>SaaS</a:t>
            </a:r>
            <a:endParaRPr lang="ru-RU" sz="1520" noProof="0" dirty="0"/>
          </a:p>
        </p:txBody>
      </p:sp>
      <p:sp>
        <p:nvSpPr>
          <p:cNvPr id="19" name="Text 17"/>
          <p:cNvSpPr/>
          <p:nvPr/>
        </p:nvSpPr>
        <p:spPr>
          <a:xfrm>
            <a:off x="6419088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220" noProof="0" dirty="0">
                <a:solidFill>
                  <a:srgbClr val="111827"/>
                </a:solidFill>
              </a:rPr>
              <a:t>+ широкий мониторинг</a:t>
            </a:r>
            <a:endParaRPr lang="ru-RU" sz="1220" noProof="0" dirty="0"/>
          </a:p>
        </p:txBody>
      </p:sp>
      <p:sp>
        <p:nvSpPr>
          <p:cNvPr id="20" name="Shape 18"/>
          <p:cNvSpPr/>
          <p:nvPr/>
        </p:nvSpPr>
        <p:spPr>
          <a:xfrm>
            <a:off x="6629400" y="3520440"/>
            <a:ext cx="16002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1" name="Text 19"/>
          <p:cNvSpPr/>
          <p:nvPr/>
        </p:nvSpPr>
        <p:spPr>
          <a:xfrm>
            <a:off x="6419088" y="3822192"/>
            <a:ext cx="20116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320" noProof="0" dirty="0">
                <a:solidFill>
                  <a:srgbClr val="F05A4F"/>
                </a:solidFill>
              </a:rPr>
              <a:t>− дорого или избыточно</a:t>
            </a:r>
            <a:endParaRPr lang="ru-RU" sz="1320" noProof="0" dirty="0"/>
          </a:p>
        </p:txBody>
      </p:sp>
      <p:sp>
        <p:nvSpPr>
          <p:cNvPr id="22" name="Shape 20"/>
          <p:cNvSpPr/>
          <p:nvPr/>
        </p:nvSpPr>
        <p:spPr>
          <a:xfrm>
            <a:off x="9006840" y="1993392"/>
            <a:ext cx="2423160" cy="2743200"/>
          </a:xfrm>
          <a:prstGeom prst="roundRect">
            <a:avLst>
              <a:gd name="adj" fmla="val 3774"/>
            </a:avLst>
          </a:prstGeom>
          <a:solidFill>
            <a:srgbClr val="DCFCE7"/>
          </a:solidFill>
          <a:ln w="279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3" name="Text 21"/>
          <p:cNvSpPr/>
          <p:nvPr/>
        </p:nvSpPr>
        <p:spPr>
          <a:xfrm>
            <a:off x="9171432" y="2240280"/>
            <a:ext cx="2093976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520" b="1" noProof="0" dirty="0" err="1">
                <a:solidFill>
                  <a:srgbClr val="16A34A"/>
                </a:solidFill>
              </a:rPr>
              <a:t>Semantic</a:t>
            </a:r>
            <a:r>
              <a:rPr lang="ru-RU" sz="1520" b="1" noProof="0" dirty="0">
                <a:solidFill>
                  <a:srgbClr val="16A34A"/>
                </a:solidFill>
              </a:rPr>
              <a:t> News </a:t>
            </a:r>
            <a:r>
              <a:rPr lang="ru-RU" sz="1520" b="1" noProof="0" dirty="0" err="1">
                <a:solidFill>
                  <a:srgbClr val="16A34A"/>
                </a:solidFill>
              </a:rPr>
              <a:t>Novelty</a:t>
            </a:r>
            <a:endParaRPr lang="ru-RU" sz="1520" noProof="0" dirty="0"/>
          </a:p>
        </p:txBody>
      </p:sp>
      <p:sp>
        <p:nvSpPr>
          <p:cNvPr id="24" name="Text 22"/>
          <p:cNvSpPr/>
          <p:nvPr/>
        </p:nvSpPr>
        <p:spPr>
          <a:xfrm>
            <a:off x="9208008" y="2971800"/>
            <a:ext cx="20116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220" noProof="0" dirty="0">
                <a:solidFill>
                  <a:srgbClr val="111827"/>
                </a:solidFill>
              </a:rPr>
              <a:t>+ постобработка потока</a:t>
            </a:r>
            <a:endParaRPr lang="ru-RU" sz="1220" noProof="0" dirty="0"/>
          </a:p>
        </p:txBody>
      </p:sp>
      <p:sp>
        <p:nvSpPr>
          <p:cNvPr id="25" name="Shape 23"/>
          <p:cNvSpPr/>
          <p:nvPr/>
        </p:nvSpPr>
        <p:spPr>
          <a:xfrm>
            <a:off x="9418320" y="3520440"/>
            <a:ext cx="160020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6" name="Text 24"/>
          <p:cNvSpPr/>
          <p:nvPr/>
        </p:nvSpPr>
        <p:spPr>
          <a:xfrm>
            <a:off x="9208008" y="3822192"/>
            <a:ext cx="20116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320" b="1" noProof="0" dirty="0">
                <a:solidFill>
                  <a:srgbClr val="16A34A"/>
                </a:solidFill>
              </a:rPr>
              <a:t>✓ сюжеты + новизна + поиск</a:t>
            </a:r>
            <a:endParaRPr lang="ru-RU" sz="1320" noProof="0" dirty="0"/>
          </a:p>
        </p:txBody>
      </p:sp>
      <p:sp>
        <p:nvSpPr>
          <p:cNvPr id="27" name="Shape 25"/>
          <p:cNvSpPr/>
          <p:nvPr/>
        </p:nvSpPr>
        <p:spPr>
          <a:xfrm>
            <a:off x="640080" y="5380182"/>
            <a:ext cx="10789920" cy="563418"/>
          </a:xfrm>
          <a:prstGeom prst="roundRect">
            <a:avLst>
              <a:gd name="adj" fmla="val 10256"/>
            </a:avLst>
          </a:prstGeom>
          <a:noFill/>
          <a:ln w="12700">
            <a:solidFill>
              <a:srgbClr val="DBEAFE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sz="1600" noProof="0" dirty="0">
                <a:solidFill>
                  <a:srgbClr val="111827"/>
                </a:solidFill>
              </a:rPr>
              <a:t>Не заменяем сбор новостей — превращаем собранный поток в рабочий материал.</a:t>
            </a:r>
            <a:endParaRPr lang="ru-RU" sz="16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Продукт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05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1316736"/>
            <a:ext cx="106070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2200" b="1" noProof="0" dirty="0" err="1">
                <a:solidFill>
                  <a:srgbClr val="111827"/>
                </a:solidFill>
              </a:rPr>
              <a:t>Semantic</a:t>
            </a:r>
            <a:r>
              <a:rPr lang="ru-RU" sz="2200" b="1" noProof="0" dirty="0">
                <a:solidFill>
                  <a:srgbClr val="111827"/>
                </a:solidFill>
              </a:rPr>
              <a:t> News </a:t>
            </a:r>
            <a:r>
              <a:rPr lang="ru-RU" sz="2200" b="1" noProof="0" dirty="0" err="1">
                <a:solidFill>
                  <a:srgbClr val="111827"/>
                </a:solidFill>
              </a:rPr>
              <a:t>Novelty</a:t>
            </a:r>
            <a:r>
              <a:rPr lang="ru-RU" sz="2200" b="1" noProof="0" dirty="0">
                <a:solidFill>
                  <a:srgbClr val="111827"/>
                </a:solidFill>
              </a:rPr>
              <a:t>: от новостной ленты к структуре обзора</a:t>
            </a:r>
            <a:endParaRPr lang="ru-RU" sz="2200" noProof="0" dirty="0"/>
          </a:p>
        </p:txBody>
      </p:sp>
      <p:sp>
        <p:nvSpPr>
          <p:cNvPr id="11" name="Shape 9"/>
          <p:cNvSpPr/>
          <p:nvPr/>
        </p:nvSpPr>
        <p:spPr>
          <a:xfrm>
            <a:off x="8488219" y="3322136"/>
            <a:ext cx="631093" cy="0"/>
          </a:xfrm>
          <a:prstGeom prst="line">
            <a:avLst/>
          </a:prstGeom>
          <a:noFill/>
          <a:ln w="30480">
            <a:solidFill>
              <a:srgbClr val="F05A4F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777241" y="2673604"/>
            <a:ext cx="21691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20320">
            <a:solidFill>
              <a:srgbClr val="64748B"/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b="1" dirty="0">
                <a:solidFill>
                  <a:srgbClr val="64748B"/>
                </a:solidFill>
              </a:rPr>
              <a:t>Поток</a:t>
            </a:r>
            <a:endParaRPr lang="ru-RU" dirty="0"/>
          </a:p>
          <a:p>
            <a:pPr algn="ctr"/>
            <a:r>
              <a:rPr lang="ru-RU" b="1" dirty="0">
                <a:solidFill>
                  <a:srgbClr val="64748B"/>
                </a:solidFill>
              </a:rPr>
              <a:t>новостей</a:t>
            </a:r>
            <a:endParaRPr lang="ru-RU" noProof="0" dirty="0"/>
          </a:p>
        </p:txBody>
      </p:sp>
      <p:sp>
        <p:nvSpPr>
          <p:cNvPr id="14" name="Shape 12"/>
          <p:cNvSpPr/>
          <p:nvPr/>
        </p:nvSpPr>
        <p:spPr>
          <a:xfrm>
            <a:off x="3552801" y="2673604"/>
            <a:ext cx="2127808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20320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b="1" dirty="0">
                <a:solidFill>
                  <a:srgbClr val="2563EB"/>
                </a:solidFill>
              </a:rPr>
              <a:t>Группируем</a:t>
            </a:r>
            <a:endParaRPr lang="ru-RU" dirty="0"/>
          </a:p>
          <a:p>
            <a:pPr algn="ctr"/>
            <a:r>
              <a:rPr lang="ru-RU" b="1" dirty="0">
                <a:solidFill>
                  <a:srgbClr val="2563EB"/>
                </a:solidFill>
              </a:rPr>
              <a:t>в сюжеты</a:t>
            </a:r>
            <a:endParaRPr lang="ru-RU" noProof="0" dirty="0"/>
          </a:p>
        </p:txBody>
      </p:sp>
      <p:sp>
        <p:nvSpPr>
          <p:cNvPr id="16" name="Shape 14"/>
          <p:cNvSpPr/>
          <p:nvPr/>
        </p:nvSpPr>
        <p:spPr>
          <a:xfrm>
            <a:off x="6328360" y="2672912"/>
            <a:ext cx="21691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20320">
            <a:solidFill>
              <a:srgbClr val="F05A4F"/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b="1" noProof="0" dirty="0">
                <a:solidFill>
                  <a:srgbClr val="F05A4F"/>
                </a:solidFill>
              </a:rPr>
              <a:t>Оцениваем</a:t>
            </a:r>
            <a:endParaRPr lang="ru-RU" noProof="0" dirty="0"/>
          </a:p>
          <a:p>
            <a:pPr algn="ctr"/>
            <a:r>
              <a:rPr lang="ru-RU" b="1" noProof="0" dirty="0">
                <a:solidFill>
                  <a:srgbClr val="F05A4F"/>
                </a:solidFill>
              </a:rPr>
              <a:t>новизну</a:t>
            </a:r>
            <a:endParaRPr lang="ru-RU" noProof="0" dirty="0"/>
          </a:p>
        </p:txBody>
      </p:sp>
      <p:sp>
        <p:nvSpPr>
          <p:cNvPr id="18" name="Shape 16"/>
          <p:cNvSpPr/>
          <p:nvPr/>
        </p:nvSpPr>
        <p:spPr>
          <a:xfrm>
            <a:off x="9119312" y="2672912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20320">
            <a:solidFill>
              <a:srgbClr val="16A34A"/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b="1" noProof="0" dirty="0">
                <a:solidFill>
                  <a:srgbClr val="16A34A"/>
                </a:solidFill>
              </a:rPr>
              <a:t>Ищем</a:t>
            </a:r>
            <a:endParaRPr lang="ru-RU" noProof="0" dirty="0"/>
          </a:p>
          <a:p>
            <a:pPr algn="ctr"/>
            <a:r>
              <a:rPr lang="ru-RU" b="1" noProof="0" dirty="0">
                <a:solidFill>
                  <a:srgbClr val="16A34A"/>
                </a:solidFill>
              </a:rPr>
              <a:t>по смыслу</a:t>
            </a:r>
            <a:endParaRPr lang="ru-RU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105156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/>
            <a:r>
              <a:rPr lang="ru-RU" b="1" dirty="0"/>
              <a:t>На выходе:</a:t>
            </a:r>
            <a:r>
              <a:rPr lang="ru-RU" dirty="0"/>
              <a:t> сюжеты, новизна и поиск по смыслу.</a:t>
            </a:r>
            <a:endParaRPr lang="ru-RU" noProof="0" dirty="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C4F02C73-BBB9-A11F-560E-BC6010B5E8C9}"/>
              </a:ext>
            </a:extLst>
          </p:cNvPr>
          <p:cNvSpPr/>
          <p:nvPr/>
        </p:nvSpPr>
        <p:spPr>
          <a:xfrm>
            <a:off x="5696634" y="3282558"/>
            <a:ext cx="631093" cy="0"/>
          </a:xfrm>
          <a:prstGeom prst="line">
            <a:avLst/>
          </a:prstGeom>
          <a:noFill/>
          <a:ln w="30480">
            <a:solidFill>
              <a:srgbClr val="F05A4F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E884F3D3-C295-1C81-36AD-2E5C48E629BD}"/>
              </a:ext>
            </a:extLst>
          </p:cNvPr>
          <p:cNvSpPr/>
          <p:nvPr/>
        </p:nvSpPr>
        <p:spPr>
          <a:xfrm>
            <a:off x="2946402" y="3290824"/>
            <a:ext cx="606400" cy="0"/>
          </a:xfrm>
          <a:prstGeom prst="line">
            <a:avLst/>
          </a:prstGeom>
          <a:noFill/>
          <a:ln w="30480">
            <a:solidFill>
              <a:srgbClr val="F05A4F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2900" b="1" dirty="0">
                <a:latin typeface="+mj-lt"/>
              </a:rPr>
              <a:t>MVP: от модели к рабочему сервису</a:t>
            </a:r>
            <a:endParaRPr lang="ru-RU" sz="2900" b="1" noProof="0" dirty="0">
              <a:latin typeface="+mj-lt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06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Shape 6"/>
          <p:cNvSpPr/>
          <p:nvPr/>
        </p:nvSpPr>
        <p:spPr>
          <a:xfrm>
            <a:off x="731520" y="2057400"/>
            <a:ext cx="82296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Text 7"/>
          <p:cNvSpPr/>
          <p:nvPr/>
        </p:nvSpPr>
        <p:spPr>
          <a:xfrm>
            <a:off x="960120" y="2221992"/>
            <a:ext cx="29535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2563EB"/>
                </a:solidFill>
              </a:rPr>
              <a:t>Пользователь</a:t>
            </a:r>
            <a:endParaRPr lang="ru-RU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960120" y="2633472"/>
            <a:ext cx="295351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семантический поиск</a:t>
            </a:r>
            <a:endParaRPr lang="ru-RU" sz="1350" noProof="0" dirty="0"/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новости по датам</a:t>
            </a:r>
            <a:endParaRPr lang="ru-RU" sz="1350" noProof="0" dirty="0"/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история поиска</a:t>
            </a:r>
            <a:endParaRPr lang="ru-RU" sz="1350" noProof="0" dirty="0"/>
          </a:p>
        </p:txBody>
      </p:sp>
      <p:sp>
        <p:nvSpPr>
          <p:cNvPr id="11" name="Shape 9"/>
          <p:cNvSpPr/>
          <p:nvPr/>
        </p:nvSpPr>
        <p:spPr>
          <a:xfrm>
            <a:off x="4434840" y="20574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4434840" y="2057400"/>
            <a:ext cx="82296" cy="2148840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4663440" y="2221992"/>
            <a:ext cx="29535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F05A4F"/>
                </a:solidFill>
              </a:rPr>
              <a:t>Редактор</a:t>
            </a:r>
            <a:endParaRPr lang="ru-RU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4663440" y="2633472"/>
            <a:ext cx="295351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импорт CSV</a:t>
            </a:r>
            <a:endParaRPr lang="ru-RU" sz="1350" noProof="0" dirty="0"/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черновики</a:t>
            </a:r>
            <a:endParaRPr lang="ru-RU" sz="1350" noProof="0" dirty="0"/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ручная правка меток</a:t>
            </a:r>
            <a:endParaRPr lang="ru-RU" sz="1350" noProof="0" dirty="0"/>
          </a:p>
        </p:txBody>
      </p:sp>
      <p:sp>
        <p:nvSpPr>
          <p:cNvPr id="15" name="Shape 13"/>
          <p:cNvSpPr/>
          <p:nvPr/>
        </p:nvSpPr>
        <p:spPr>
          <a:xfrm>
            <a:off x="8138160" y="20574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6" name="Shape 14"/>
          <p:cNvSpPr/>
          <p:nvPr/>
        </p:nvSpPr>
        <p:spPr>
          <a:xfrm>
            <a:off x="8138160" y="2057400"/>
            <a:ext cx="82296" cy="2148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7" name="Text 15"/>
          <p:cNvSpPr/>
          <p:nvPr/>
        </p:nvSpPr>
        <p:spPr>
          <a:xfrm>
            <a:off x="8366760" y="2221992"/>
            <a:ext cx="29535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16A34A"/>
                </a:solidFill>
              </a:rPr>
              <a:t>Администратор</a:t>
            </a:r>
            <a:endParaRPr lang="ru-RU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366760" y="2633472"/>
            <a:ext cx="295351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пользователи и роли</a:t>
            </a:r>
          </a:p>
          <a:p>
            <a:pPr marL="0" indent="0">
              <a:buNone/>
            </a:pPr>
            <a:r>
              <a:rPr lang="ru-RU" sz="1350" dirty="0">
                <a:solidFill>
                  <a:srgbClr val="111827"/>
                </a:solidFill>
              </a:rPr>
              <a:t>• организации</a:t>
            </a:r>
            <a:endParaRPr lang="ru-RU" sz="1350" noProof="0" dirty="0"/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баланс и кредиты</a:t>
            </a:r>
            <a:endParaRPr lang="ru-RU" sz="1350" noProof="0" dirty="0"/>
          </a:p>
        </p:txBody>
      </p:sp>
      <p:sp>
        <p:nvSpPr>
          <p:cNvPr id="19" name="Shape 17"/>
          <p:cNvSpPr/>
          <p:nvPr/>
        </p:nvSpPr>
        <p:spPr>
          <a:xfrm>
            <a:off x="914400" y="5093206"/>
            <a:ext cx="10332720" cy="438913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Стек:</a:t>
            </a:r>
            <a:r>
              <a:rPr lang="ru-RU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FastAPI</a:t>
            </a:r>
            <a:r>
              <a:rPr lang="ru-RU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· PostgreSQL/pgvector · RabbitMQ/Celery · BGE-M3 · Prometheus/Grafana · Docker Compose</a:t>
            </a:r>
            <a:endParaRPr lang="ru-RU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19" y="320040"/>
            <a:ext cx="10128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Метрики: польза для аналитика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07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7" name="Shape 15"/>
          <p:cNvSpPr/>
          <p:nvPr/>
        </p:nvSpPr>
        <p:spPr>
          <a:xfrm>
            <a:off x="685800" y="2600798"/>
            <a:ext cx="3154680" cy="2405311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8" name="Shape 16"/>
          <p:cNvSpPr/>
          <p:nvPr/>
        </p:nvSpPr>
        <p:spPr>
          <a:xfrm>
            <a:off x="685800" y="2600798"/>
            <a:ext cx="82296" cy="2405311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9" name="Text 17"/>
          <p:cNvSpPr/>
          <p:nvPr/>
        </p:nvSpPr>
        <p:spPr>
          <a:xfrm>
            <a:off x="914400" y="2765391"/>
            <a:ext cx="27706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2563EB"/>
                </a:solidFill>
              </a:rPr>
              <a:t>Меньше повторов</a:t>
            </a:r>
            <a:endParaRPr lang="ru-RU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4400" y="3513856"/>
            <a:ext cx="277063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ru-RU" sz="1000" dirty="0">
                <a:solidFill>
                  <a:srgbClr val="111827"/>
                </a:solidFill>
              </a:rPr>
              <a:t>повторов</a:t>
            </a:r>
            <a:r>
              <a:rPr lang="ru-RU" sz="1000" noProof="0" dirty="0">
                <a:solidFill>
                  <a:srgbClr val="111827"/>
                </a:solidFill>
              </a:rPr>
              <a:t> в </a:t>
            </a:r>
            <a:r>
              <a:rPr lang="en-US" sz="1000" noProof="0" dirty="0">
                <a:solidFill>
                  <a:srgbClr val="111827"/>
                </a:solidFill>
              </a:rPr>
              <a:t>Top-10 </a:t>
            </a:r>
            <a:r>
              <a:rPr lang="ru-RU" sz="1000" noProof="0" dirty="0">
                <a:solidFill>
                  <a:srgbClr val="111827"/>
                </a:solidFill>
              </a:rPr>
              <a:t>выдаче</a:t>
            </a:r>
            <a:endParaRPr lang="ru-RU" sz="1000" noProof="0" dirty="0"/>
          </a:p>
        </p:txBody>
      </p:sp>
      <p:sp>
        <p:nvSpPr>
          <p:cNvPr id="21" name="Shape 19"/>
          <p:cNvSpPr/>
          <p:nvPr/>
        </p:nvSpPr>
        <p:spPr>
          <a:xfrm>
            <a:off x="4229515" y="2600797"/>
            <a:ext cx="3154680" cy="2405312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2" name="Shape 20"/>
          <p:cNvSpPr/>
          <p:nvPr/>
        </p:nvSpPr>
        <p:spPr>
          <a:xfrm>
            <a:off x="4229515" y="2600797"/>
            <a:ext cx="82296" cy="2405312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3" name="Text 21"/>
          <p:cNvSpPr/>
          <p:nvPr/>
        </p:nvSpPr>
        <p:spPr>
          <a:xfrm>
            <a:off x="4425880" y="2765391"/>
            <a:ext cx="2770632" cy="27196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F05A4F"/>
                </a:solidFill>
              </a:rPr>
              <a:t>Меньше пропусков</a:t>
            </a:r>
            <a:endParaRPr lang="ru-RU" sz="1550" noProof="0" dirty="0"/>
          </a:p>
        </p:txBody>
      </p:sp>
      <p:sp>
        <p:nvSpPr>
          <p:cNvPr id="25" name="Shape 23"/>
          <p:cNvSpPr/>
          <p:nvPr/>
        </p:nvSpPr>
        <p:spPr>
          <a:xfrm>
            <a:off x="7690934" y="2600799"/>
            <a:ext cx="3154680" cy="240531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6" name="Shape 24"/>
          <p:cNvSpPr/>
          <p:nvPr/>
        </p:nvSpPr>
        <p:spPr>
          <a:xfrm>
            <a:off x="7690934" y="2600799"/>
            <a:ext cx="82296" cy="240531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7" name="Text 25"/>
          <p:cNvSpPr/>
          <p:nvPr/>
        </p:nvSpPr>
        <p:spPr>
          <a:xfrm>
            <a:off x="7919534" y="2765391"/>
            <a:ext cx="27706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1550" b="1" noProof="0" dirty="0">
                <a:solidFill>
                  <a:srgbClr val="16A34A"/>
                </a:solidFill>
              </a:rPr>
              <a:t>Лучше собраны сюжеты</a:t>
            </a:r>
            <a:endParaRPr lang="ru-RU" sz="155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3B144D4D-5BC8-1F79-8D98-FE53CCE712AB}"/>
              </a:ext>
            </a:extLst>
          </p:cNvPr>
          <p:cNvSpPr/>
          <p:nvPr/>
        </p:nvSpPr>
        <p:spPr>
          <a:xfrm>
            <a:off x="914400" y="3037356"/>
            <a:ext cx="1096356" cy="44195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111827"/>
                </a:solidFill>
              </a:rPr>
              <a:t>-75%</a:t>
            </a:r>
            <a:endParaRPr lang="ru-RU" sz="3200" b="1" noProof="0" dirty="0"/>
          </a:p>
        </p:txBody>
      </p:sp>
      <p:sp>
        <p:nvSpPr>
          <p:cNvPr id="31" name="Shape 13">
            <a:extLst>
              <a:ext uri="{FF2B5EF4-FFF2-40B4-BE49-F238E27FC236}">
                <a16:creationId xmlns:a16="http://schemas.microsoft.com/office/drawing/2014/main" id="{27C299C2-CAAE-A259-F5BA-B2E6E7D820D2}"/>
              </a:ext>
            </a:extLst>
          </p:cNvPr>
          <p:cNvSpPr/>
          <p:nvPr/>
        </p:nvSpPr>
        <p:spPr>
          <a:xfrm>
            <a:off x="932687" y="4014527"/>
            <a:ext cx="2803883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E2580C28-2A9D-AFE2-CBE9-C5FF6849704C}"/>
              </a:ext>
            </a:extLst>
          </p:cNvPr>
          <p:cNvSpPr/>
          <p:nvPr/>
        </p:nvSpPr>
        <p:spPr>
          <a:xfrm>
            <a:off x="932687" y="4208980"/>
            <a:ext cx="277063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MRR@10: 0.9</a:t>
            </a:r>
            <a:r>
              <a:rPr lang="ru-RU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→ 0.99</a:t>
            </a:r>
            <a:endParaRPr lang="ru-RU" sz="1000" noProof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4A6CB324-3782-2E75-95EB-3DD983B56AB1}"/>
              </a:ext>
            </a:extLst>
          </p:cNvPr>
          <p:cNvSpPr/>
          <p:nvPr/>
        </p:nvSpPr>
        <p:spPr>
          <a:xfrm>
            <a:off x="4425880" y="3513856"/>
            <a:ext cx="277063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r>
              <a:rPr lang="ru-RU" sz="1000" dirty="0"/>
              <a:t>значимых обновлений найдено</a:t>
            </a:r>
            <a:endParaRPr lang="ru-RU" sz="1000" noProof="0" dirty="0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C3F24BDA-5F1C-9209-5D67-80FB06FDF9B9}"/>
              </a:ext>
            </a:extLst>
          </p:cNvPr>
          <p:cNvSpPr/>
          <p:nvPr/>
        </p:nvSpPr>
        <p:spPr>
          <a:xfrm>
            <a:off x="4425880" y="3037356"/>
            <a:ext cx="1096356" cy="44195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ru-RU" sz="3200" b="1" noProof="0" dirty="0">
                <a:solidFill>
                  <a:srgbClr val="111827"/>
                </a:solidFill>
              </a:rPr>
              <a:t>99</a:t>
            </a:r>
            <a:r>
              <a:rPr lang="en-US" sz="3200" b="1" noProof="0" dirty="0">
                <a:solidFill>
                  <a:srgbClr val="111827"/>
                </a:solidFill>
              </a:rPr>
              <a:t>%</a:t>
            </a:r>
            <a:endParaRPr lang="ru-RU" sz="3200" b="1" noProof="0" dirty="0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B35DA26D-21DF-0B9C-335B-B19D22A7C10E}"/>
              </a:ext>
            </a:extLst>
          </p:cNvPr>
          <p:cNvSpPr/>
          <p:nvPr/>
        </p:nvSpPr>
        <p:spPr>
          <a:xfrm>
            <a:off x="4444167" y="4014526"/>
            <a:ext cx="2803883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7" name="Text 18">
            <a:extLst>
              <a:ext uri="{FF2B5EF4-FFF2-40B4-BE49-F238E27FC236}">
                <a16:creationId xmlns:a16="http://schemas.microsoft.com/office/drawing/2014/main" id="{4F4D3F7C-000F-323C-5D69-BCA04F7DC0F8}"/>
              </a:ext>
            </a:extLst>
          </p:cNvPr>
          <p:cNvSpPr/>
          <p:nvPr/>
        </p:nvSpPr>
        <p:spPr>
          <a:xfrm>
            <a:off x="4444167" y="4208980"/>
            <a:ext cx="277063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Recall </a:t>
            </a:r>
            <a:r>
              <a:rPr lang="ru-RU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обновлений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0.51 → 0.99</a:t>
            </a:r>
            <a:endParaRPr lang="ru-RU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F1 </a:t>
            </a:r>
            <a:r>
              <a:rPr lang="ru-RU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обновлений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0.63 → 0.91</a:t>
            </a:r>
            <a:endParaRPr lang="ru-RU" sz="1000" noProof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AFCFBDA4-EF8D-4766-6289-8265B8F2C858}"/>
              </a:ext>
            </a:extLst>
          </p:cNvPr>
          <p:cNvSpPr/>
          <p:nvPr/>
        </p:nvSpPr>
        <p:spPr>
          <a:xfrm>
            <a:off x="7934839" y="3513857"/>
            <a:ext cx="277063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r>
              <a:rPr lang="ru-RU" sz="1000" dirty="0"/>
              <a:t>связей внутри сюжетов найдено</a:t>
            </a:r>
            <a:endParaRPr lang="ru-RU" sz="1000" noProof="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E4D255CA-A0A6-4673-5EAC-9D06FAA1505D}"/>
              </a:ext>
            </a:extLst>
          </p:cNvPr>
          <p:cNvSpPr/>
          <p:nvPr/>
        </p:nvSpPr>
        <p:spPr>
          <a:xfrm>
            <a:off x="7934839" y="3037357"/>
            <a:ext cx="1096356" cy="44195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111827"/>
                </a:solidFill>
              </a:rPr>
              <a:t>8</a:t>
            </a:r>
            <a:r>
              <a:rPr lang="en-US" sz="3200" b="1" noProof="0" dirty="0">
                <a:solidFill>
                  <a:srgbClr val="111827"/>
                </a:solidFill>
              </a:rPr>
              <a:t>3%</a:t>
            </a:r>
            <a:endParaRPr lang="ru-RU" sz="3200" b="1" noProof="0" dirty="0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5A58D288-86EE-1073-E2F7-DDD8CFAC8DF8}"/>
              </a:ext>
            </a:extLst>
          </p:cNvPr>
          <p:cNvSpPr/>
          <p:nvPr/>
        </p:nvSpPr>
        <p:spPr>
          <a:xfrm>
            <a:off x="7953126" y="4014526"/>
            <a:ext cx="2803883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49" name="Text 18">
            <a:extLst>
              <a:ext uri="{FF2B5EF4-FFF2-40B4-BE49-F238E27FC236}">
                <a16:creationId xmlns:a16="http://schemas.microsoft.com/office/drawing/2014/main" id="{05253F96-B381-7B64-7B59-BD60F9A93A8D}"/>
              </a:ext>
            </a:extLst>
          </p:cNvPr>
          <p:cNvSpPr/>
          <p:nvPr/>
        </p:nvSpPr>
        <p:spPr>
          <a:xfrm>
            <a:off x="7953126" y="4208981"/>
            <a:ext cx="277063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ru-RU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Recall сюжетов: 0.63 → 0.83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ru-RU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F1 сюжетов: 0.77 → 0.90</a:t>
            </a:r>
            <a:endParaRPr lang="ru-RU" sz="1000" noProof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A74208C0-BE88-950A-E373-1CB8006F6A9D}"/>
              </a:ext>
            </a:extLst>
          </p:cNvPr>
          <p:cNvSpPr/>
          <p:nvPr/>
        </p:nvSpPr>
        <p:spPr>
          <a:xfrm>
            <a:off x="685800" y="1325880"/>
            <a:ext cx="10698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1600" noProof="0" dirty="0">
                <a:solidFill>
                  <a:srgbClr val="111827"/>
                </a:solidFill>
              </a:rPr>
              <a:t>Собственный бейзлайн → финальный пайплайн</a:t>
            </a:r>
            <a:endParaRPr lang="ru-RU" sz="16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>
                <a:alpha val="0"/>
              </a:srgbClr>
            </a:solidFill>
            <a:prstDash val="solid"/>
            <a:tailEnd w="sm" len="me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Схема сервиса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08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Shape 7"/>
          <p:cNvSpPr/>
          <p:nvPr/>
        </p:nvSpPr>
        <p:spPr>
          <a:xfrm>
            <a:off x="6656832" y="2716692"/>
            <a:ext cx="365760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1" name="Shape 9"/>
          <p:cNvSpPr/>
          <p:nvPr/>
        </p:nvSpPr>
        <p:spPr>
          <a:xfrm>
            <a:off x="786384" y="1984248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Text 10"/>
          <p:cNvSpPr/>
          <p:nvPr/>
        </p:nvSpPr>
        <p:spPr>
          <a:xfrm>
            <a:off x="896112" y="2185416"/>
            <a:ext cx="151790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2563EB"/>
                </a:solidFill>
              </a:rPr>
              <a:t>UI</a:t>
            </a:r>
            <a:endParaRPr lang="ru-RU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905256" y="2642616"/>
            <a:ext cx="1499616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Streamlit</a:t>
            </a:r>
            <a:endParaRPr lang="ru-RU" sz="1120" noProof="0" dirty="0"/>
          </a:p>
        </p:txBody>
      </p:sp>
      <p:sp>
        <p:nvSpPr>
          <p:cNvPr id="14" name="Shape 12"/>
          <p:cNvSpPr/>
          <p:nvPr/>
        </p:nvSpPr>
        <p:spPr>
          <a:xfrm>
            <a:off x="2874265" y="1984248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5" name="Text 13"/>
          <p:cNvSpPr/>
          <p:nvPr/>
        </p:nvSpPr>
        <p:spPr>
          <a:xfrm>
            <a:off x="2983993" y="2185416"/>
            <a:ext cx="151790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2563EB"/>
                </a:solidFill>
              </a:rPr>
              <a:t>API</a:t>
            </a:r>
            <a:endParaRPr lang="ru-RU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2993137" y="2642616"/>
            <a:ext cx="1499616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FastAPI</a:t>
            </a:r>
            <a:endParaRPr lang="ru-RU" sz="1120" noProof="0" dirty="0"/>
          </a:p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nginx</a:t>
            </a:r>
            <a:endParaRPr lang="ru-RU" sz="1120" noProof="0" dirty="0"/>
          </a:p>
        </p:txBody>
      </p:sp>
      <p:sp>
        <p:nvSpPr>
          <p:cNvPr id="17" name="Shape 15"/>
          <p:cNvSpPr/>
          <p:nvPr/>
        </p:nvSpPr>
        <p:spPr>
          <a:xfrm>
            <a:off x="4977385" y="1989189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F05A4F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8" name="Text 16"/>
          <p:cNvSpPr/>
          <p:nvPr/>
        </p:nvSpPr>
        <p:spPr>
          <a:xfrm>
            <a:off x="5087113" y="2190357"/>
            <a:ext cx="151790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F05A4F"/>
                </a:solidFill>
              </a:rPr>
              <a:t>Очередь</a:t>
            </a:r>
          </a:p>
          <a:p>
            <a:pPr marL="0" indent="0" algn="ctr">
              <a:buNone/>
            </a:pPr>
            <a:r>
              <a:rPr lang="ru-RU" sz="2000" b="1" noProof="0" dirty="0">
                <a:solidFill>
                  <a:srgbClr val="F05A4F"/>
                </a:solidFill>
              </a:rPr>
              <a:t>задач</a:t>
            </a:r>
            <a:endParaRPr lang="ru-RU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5096257" y="2647557"/>
            <a:ext cx="1499616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RabbitMQ</a:t>
            </a:r>
            <a:endParaRPr lang="ru-RU" sz="1120" noProof="0" dirty="0"/>
          </a:p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Celery</a:t>
            </a:r>
            <a:endParaRPr lang="ru-RU" sz="1120" noProof="0" dirty="0"/>
          </a:p>
        </p:txBody>
      </p:sp>
      <p:sp>
        <p:nvSpPr>
          <p:cNvPr id="20" name="Shape 18"/>
          <p:cNvSpPr/>
          <p:nvPr/>
        </p:nvSpPr>
        <p:spPr>
          <a:xfrm>
            <a:off x="7022592" y="1988820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F05A4F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1" name="Text 19"/>
          <p:cNvSpPr/>
          <p:nvPr/>
        </p:nvSpPr>
        <p:spPr>
          <a:xfrm>
            <a:off x="7132320" y="2189988"/>
            <a:ext cx="151790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F05A4F"/>
                </a:solidFill>
              </a:rPr>
              <a:t>ML</a:t>
            </a:r>
            <a:r>
              <a:rPr lang="en-US" sz="2000" b="1" noProof="0" dirty="0">
                <a:solidFill>
                  <a:srgbClr val="F05A4F"/>
                </a:solidFill>
              </a:rPr>
              <a:t>-</a:t>
            </a:r>
            <a:r>
              <a:rPr lang="ru-RU" sz="2000" b="1" noProof="0" dirty="0" err="1">
                <a:solidFill>
                  <a:srgbClr val="F05A4F"/>
                </a:solidFill>
              </a:rPr>
              <a:t>воркер</a:t>
            </a:r>
            <a:endParaRPr lang="ru-RU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7141464" y="2647188"/>
            <a:ext cx="1499616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ru-RU" sz="1120" noProof="0" dirty="0">
                <a:solidFill>
                  <a:srgbClr val="64748B"/>
                </a:solidFill>
              </a:rPr>
              <a:t>эмбеддинги</a:t>
            </a:r>
            <a:endParaRPr lang="ru-RU" sz="1120" noProof="0" dirty="0"/>
          </a:p>
          <a:p>
            <a:pPr marL="0" indent="0" algn="ctr">
              <a:buNone/>
            </a:pPr>
            <a:r>
              <a:rPr lang="ru-RU" sz="1120" noProof="0" dirty="0">
                <a:solidFill>
                  <a:srgbClr val="64748B"/>
                </a:solidFill>
              </a:rPr>
              <a:t>кластеры</a:t>
            </a:r>
            <a:endParaRPr lang="ru-RU" sz="1120" noProof="0" dirty="0"/>
          </a:p>
          <a:p>
            <a:pPr marL="0" indent="0" algn="ctr">
              <a:buNone/>
            </a:pPr>
            <a:r>
              <a:rPr lang="ru-RU" sz="1120" noProof="0" dirty="0">
                <a:solidFill>
                  <a:srgbClr val="64748B"/>
                </a:solidFill>
              </a:rPr>
              <a:t>новизна</a:t>
            </a:r>
            <a:endParaRPr lang="ru-RU" sz="1120" noProof="0" dirty="0"/>
          </a:p>
        </p:txBody>
      </p:sp>
      <p:sp>
        <p:nvSpPr>
          <p:cNvPr id="23" name="Shape 21"/>
          <p:cNvSpPr/>
          <p:nvPr/>
        </p:nvSpPr>
        <p:spPr>
          <a:xfrm>
            <a:off x="9144000" y="1984248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4" name="Text 22"/>
          <p:cNvSpPr/>
          <p:nvPr/>
        </p:nvSpPr>
        <p:spPr>
          <a:xfrm>
            <a:off x="9253728" y="2185416"/>
            <a:ext cx="1517904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ctr">
              <a:buNone/>
            </a:pPr>
            <a:r>
              <a:rPr lang="ru-RU" sz="2000" b="1" noProof="0" dirty="0">
                <a:solidFill>
                  <a:srgbClr val="16A34A"/>
                </a:solidFill>
              </a:rPr>
              <a:t>БД + векторы</a:t>
            </a:r>
            <a:endParaRPr lang="ru-RU" sz="2000" noProof="0" dirty="0"/>
          </a:p>
        </p:txBody>
      </p:sp>
      <p:sp>
        <p:nvSpPr>
          <p:cNvPr id="25" name="Text 23"/>
          <p:cNvSpPr/>
          <p:nvPr/>
        </p:nvSpPr>
        <p:spPr>
          <a:xfrm>
            <a:off x="9262872" y="2642616"/>
            <a:ext cx="1499616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PostgreSQL</a:t>
            </a:r>
            <a:endParaRPr lang="ru-RU" sz="1120" noProof="0" dirty="0"/>
          </a:p>
          <a:p>
            <a:pPr marL="0" indent="0" algn="ctr">
              <a:buNone/>
            </a:pPr>
            <a:r>
              <a:rPr lang="ru-RU" sz="1120" noProof="0" dirty="0" err="1">
                <a:solidFill>
                  <a:srgbClr val="64748B"/>
                </a:solidFill>
              </a:rPr>
              <a:t>pgvector</a:t>
            </a:r>
            <a:endParaRPr lang="ru-RU" sz="1120" noProof="0" dirty="0"/>
          </a:p>
        </p:txBody>
      </p:sp>
      <p:sp>
        <p:nvSpPr>
          <p:cNvPr id="26" name="Shape 24"/>
          <p:cNvSpPr/>
          <p:nvPr/>
        </p:nvSpPr>
        <p:spPr>
          <a:xfrm>
            <a:off x="7896999" y="3401568"/>
            <a:ext cx="0" cy="7511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  <a:tailEnd type="triangle" w="sm" len="me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27" name="Shape 25"/>
          <p:cNvSpPr/>
          <p:nvPr/>
        </p:nvSpPr>
        <p:spPr>
          <a:xfrm>
            <a:off x="4977385" y="4152668"/>
            <a:ext cx="5903975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  <p:sp>
        <p:nvSpPr>
          <p:cNvPr id="29" name="Text 27"/>
          <p:cNvSpPr/>
          <p:nvPr/>
        </p:nvSpPr>
        <p:spPr>
          <a:xfrm>
            <a:off x="5205984" y="4327694"/>
            <a:ext cx="5556501" cy="29131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ru-RU" sz="1550" b="1" noProof="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Мониторинг</a:t>
            </a:r>
            <a:endParaRPr lang="ru-RU" sz="1550" noProof="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5205985" y="4673875"/>
            <a:ext cx="5556500" cy="37638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ru-RU" sz="1100" noProof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Prometheus</a:t>
            </a:r>
            <a:r>
              <a:rPr lang="ru-RU" sz="11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/ </a:t>
            </a:r>
            <a:r>
              <a:rPr lang="ru-RU" sz="1100" noProof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Grafana</a:t>
            </a:r>
            <a:endParaRPr lang="ru-RU" sz="1100" noProof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 algn="ctr">
              <a:buNone/>
            </a:pPr>
            <a:r>
              <a:rPr lang="ru-RU" sz="11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очередь · скорость · ошибки · ресурсы</a:t>
            </a: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AB4EEA35-77D9-007C-0EA1-6CD1594B57E0}"/>
              </a:ext>
            </a:extLst>
          </p:cNvPr>
          <p:cNvSpPr/>
          <p:nvPr/>
        </p:nvSpPr>
        <p:spPr>
          <a:xfrm>
            <a:off x="8769096" y="2719186"/>
            <a:ext cx="365760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7CD1ACC0-AC91-724D-5B06-70F231714D6B}"/>
              </a:ext>
            </a:extLst>
          </p:cNvPr>
          <p:cNvSpPr/>
          <p:nvPr/>
        </p:nvSpPr>
        <p:spPr>
          <a:xfrm>
            <a:off x="4611625" y="2714198"/>
            <a:ext cx="365760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3A7526EC-E036-2473-BA73-FC6A947C1DCF}"/>
              </a:ext>
            </a:extLst>
          </p:cNvPr>
          <p:cNvSpPr/>
          <p:nvPr/>
        </p:nvSpPr>
        <p:spPr>
          <a:xfrm>
            <a:off x="2523744" y="2697849"/>
            <a:ext cx="365760" cy="0"/>
          </a:xfrm>
          <a:prstGeom prst="line">
            <a:avLst/>
          </a:prstGeom>
          <a:noFill/>
          <a:ln w="2032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5" name="Shape 24">
            <a:extLst>
              <a:ext uri="{FF2B5EF4-FFF2-40B4-BE49-F238E27FC236}">
                <a16:creationId xmlns:a16="http://schemas.microsoft.com/office/drawing/2014/main" id="{89A38890-4BB4-7BD6-B716-4CF364C7F953}"/>
              </a:ext>
            </a:extLst>
          </p:cNvPr>
          <p:cNvSpPr/>
          <p:nvPr/>
        </p:nvSpPr>
        <p:spPr>
          <a:xfrm>
            <a:off x="5791108" y="3401568"/>
            <a:ext cx="0" cy="7511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  <a:tailEnd type="triangle" w="sm" len="med"/>
          </a:ln>
        </p:spPr>
        <p:txBody>
          <a:bodyPr/>
          <a:lstStyle/>
          <a:p>
            <a:endParaRPr lang="ru-RU" spc="-150" noProof="0" dirty="0"/>
          </a:p>
        </p:txBody>
      </p:sp>
      <p:sp>
        <p:nvSpPr>
          <p:cNvPr id="36" name="Shape 24">
            <a:extLst>
              <a:ext uri="{FF2B5EF4-FFF2-40B4-BE49-F238E27FC236}">
                <a16:creationId xmlns:a16="http://schemas.microsoft.com/office/drawing/2014/main" id="{49C50FEE-E70D-671C-7615-B903465A9418}"/>
              </a:ext>
            </a:extLst>
          </p:cNvPr>
          <p:cNvSpPr/>
          <p:nvPr/>
        </p:nvSpPr>
        <p:spPr>
          <a:xfrm>
            <a:off x="10049071" y="3401568"/>
            <a:ext cx="0" cy="7511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  <a:tailEnd type="triangle" w="sm" len="med"/>
          </a:ln>
        </p:spPr>
        <p:txBody>
          <a:bodyPr/>
          <a:lstStyle/>
          <a:p>
            <a:endParaRPr lang="ru-RU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sz="28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Применение AI-инструментов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09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7" name="Shape 5"/>
          <p:cNvSpPr/>
          <p:nvPr/>
        </p:nvSpPr>
        <p:spPr>
          <a:xfrm>
            <a:off x="813261" y="1591056"/>
            <a:ext cx="48463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Shape 6"/>
          <p:cNvSpPr/>
          <p:nvPr/>
        </p:nvSpPr>
        <p:spPr>
          <a:xfrm>
            <a:off x="813261" y="1591056"/>
            <a:ext cx="82296" cy="2286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Text 7"/>
          <p:cNvSpPr/>
          <p:nvPr/>
        </p:nvSpPr>
        <p:spPr>
          <a:xfrm>
            <a:off x="1041861" y="1755648"/>
            <a:ext cx="446227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ru-RU" sz="2000" b="1" noProof="0" dirty="0">
                <a:solidFill>
                  <a:srgbClr val="2563EB"/>
                </a:solidFill>
              </a:rPr>
              <a:t>AI ускорял</a:t>
            </a:r>
            <a:endParaRPr lang="ru-RU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1041861" y="2167128"/>
            <a:ext cx="4462272" cy="1572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noProof="0" dirty="0">
                <a:solidFill>
                  <a:srgbClr val="111827"/>
                </a:solidFill>
              </a:rPr>
              <a:t>• обсуждение архитектуры</a:t>
            </a:r>
          </a:p>
          <a:p>
            <a:pPr marL="0" indent="0">
              <a:buNone/>
            </a:pPr>
            <a:r>
              <a:rPr lang="ru-RU" noProof="0" dirty="0">
                <a:solidFill>
                  <a:srgbClr val="111827"/>
                </a:solidFill>
              </a:rPr>
              <a:t>• поиск и разбор ошибок</a:t>
            </a:r>
            <a:endParaRPr lang="ru-RU" noProof="0" dirty="0"/>
          </a:p>
          <a:p>
            <a:pPr marL="0" indent="0">
              <a:buNone/>
            </a:pPr>
            <a:r>
              <a:rPr lang="ru-RU" noProof="0" dirty="0">
                <a:solidFill>
                  <a:srgbClr val="111827"/>
                </a:solidFill>
              </a:rPr>
              <a:t>• рефакторинг и документацию</a:t>
            </a:r>
            <a:endParaRPr lang="ru-RU" noProof="0" dirty="0"/>
          </a:p>
        </p:txBody>
      </p:sp>
      <p:sp>
        <p:nvSpPr>
          <p:cNvPr id="11" name="Shape 9"/>
          <p:cNvSpPr/>
          <p:nvPr/>
        </p:nvSpPr>
        <p:spPr>
          <a:xfrm>
            <a:off x="6436821" y="1591056"/>
            <a:ext cx="48463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6436821" y="1591056"/>
            <a:ext cx="82296" cy="2286000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6665421" y="1654325"/>
            <a:ext cx="4462272" cy="40307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sz="2000" b="1" noProof="0" dirty="0">
                <a:solidFill>
                  <a:srgbClr val="F05A4F"/>
                </a:solidFill>
              </a:rPr>
              <a:t>Я отвечал за</a:t>
            </a:r>
            <a:endParaRPr lang="ru-RU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6665421" y="2167128"/>
            <a:ext cx="4462272" cy="1572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ru-RU" dirty="0">
                <a:solidFill>
                  <a:srgbClr val="111827"/>
                </a:solidFill>
              </a:rPr>
              <a:t>• концепцию и задачу</a:t>
            </a:r>
            <a:endParaRPr lang="ru-RU" noProof="0" dirty="0">
              <a:solidFill>
                <a:srgbClr val="111827"/>
              </a:solidFill>
            </a:endParaRPr>
          </a:p>
          <a:p>
            <a:pPr marL="0" indent="0">
              <a:buNone/>
            </a:pPr>
            <a:r>
              <a:rPr lang="ru-RU" noProof="0" dirty="0">
                <a:solidFill>
                  <a:srgbClr val="111827"/>
                </a:solidFill>
              </a:rPr>
              <a:t>• метрики и данные</a:t>
            </a:r>
            <a:endParaRPr lang="ru-RU" noProof="0" dirty="0"/>
          </a:p>
          <a:p>
            <a:pPr marL="0" indent="0">
              <a:buNone/>
            </a:pPr>
            <a:r>
              <a:rPr lang="ru-RU" noProof="0" dirty="0">
                <a:solidFill>
                  <a:srgbClr val="111827"/>
                </a:solidFill>
              </a:rPr>
              <a:t>• проверку качества</a:t>
            </a:r>
          </a:p>
          <a:p>
            <a:r>
              <a:rPr lang="ru-RU" dirty="0">
                <a:solidFill>
                  <a:srgbClr val="111827"/>
                </a:solidFill>
              </a:rPr>
              <a:t>• </a:t>
            </a:r>
            <a:r>
              <a:rPr lang="ru-RU" noProof="0" dirty="0">
                <a:solidFill>
                  <a:srgbClr val="111827"/>
                </a:solidFill>
              </a:rPr>
              <a:t>финальные решения</a:t>
            </a:r>
            <a:endParaRPr lang="ru-RU" noProof="0" dirty="0"/>
          </a:p>
        </p:txBody>
      </p:sp>
      <p:sp>
        <p:nvSpPr>
          <p:cNvPr id="15" name="Shape 13"/>
          <p:cNvSpPr/>
          <p:nvPr/>
        </p:nvSpPr>
        <p:spPr>
          <a:xfrm>
            <a:off x="813261" y="5029200"/>
            <a:ext cx="10469880" cy="658368"/>
          </a:xfrm>
          <a:prstGeom prst="roundRect">
            <a:avLst>
              <a:gd name="adj" fmla="val 11111"/>
            </a:avLst>
          </a:prstGeom>
          <a:noFill/>
          <a:ln w="12700">
            <a:solidFill>
              <a:srgbClr val="FEF3C7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sz="1600" b="1" dirty="0">
                <a:solidFill>
                  <a:srgbClr val="111827"/>
                </a:solidFill>
              </a:rPr>
              <a:t>Принцип: </a:t>
            </a:r>
            <a:r>
              <a:rPr lang="ru-RU" sz="1600" dirty="0">
                <a:solidFill>
                  <a:srgbClr val="111827"/>
                </a:solidFill>
              </a:rPr>
              <a:t>AI — помощник в разработке, не автор проекта.</a:t>
            </a:r>
            <a:endParaRPr lang="ru-RU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Демо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10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07899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2200" b="1" noProof="0" dirty="0">
                <a:solidFill>
                  <a:srgbClr val="111827"/>
                </a:solidFill>
              </a:rPr>
              <a:t>Один сценарий: редактор загружает поток и получает результат модели</a:t>
            </a:r>
            <a:endParaRPr lang="ru-RU" sz="2200" noProof="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57800" cy="2039112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pic>
        <p:nvPicPr>
          <p:cNvPr id="8" name="Image 0" descr="/mnt/data/snn_assets/crops_v5/im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44" y="1837944"/>
            <a:ext cx="5016473" cy="16733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566160"/>
            <a:ext cx="5102352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ru-RU" sz="1150" b="1" noProof="0" dirty="0">
                <a:solidFill>
                  <a:srgbClr val="111827"/>
                </a:solidFill>
              </a:rPr>
              <a:t>1. Загружаю CSV</a:t>
            </a:r>
            <a:endParaRPr lang="ru-RU" sz="1150" noProof="0" dirty="0"/>
          </a:p>
        </p:txBody>
      </p:sp>
      <p:sp>
        <p:nvSpPr>
          <p:cNvPr id="10" name="Shape 7"/>
          <p:cNvSpPr/>
          <p:nvPr/>
        </p:nvSpPr>
        <p:spPr>
          <a:xfrm>
            <a:off x="6217920" y="1783080"/>
            <a:ext cx="5257800" cy="2039112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pic>
        <p:nvPicPr>
          <p:cNvPr id="11" name="Image 1" descr="/mnt/data/snn_assets/crops_v5/editor_l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6352" y="1837944"/>
            <a:ext cx="3700936" cy="16733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91072" y="3566160"/>
            <a:ext cx="5102352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ru-RU" sz="1150" b="1" noProof="0" dirty="0">
                <a:solidFill>
                  <a:srgbClr val="111827"/>
                </a:solidFill>
              </a:rPr>
              <a:t>2. Запускаю модель</a:t>
            </a:r>
            <a:endParaRPr lang="ru-RU" sz="1150" noProof="0" dirty="0"/>
          </a:p>
        </p:txBody>
      </p:sp>
      <p:sp>
        <p:nvSpPr>
          <p:cNvPr id="13" name="Shape 9"/>
          <p:cNvSpPr/>
          <p:nvPr/>
        </p:nvSpPr>
        <p:spPr>
          <a:xfrm>
            <a:off x="640080" y="4023360"/>
            <a:ext cx="5257800" cy="2039112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pic>
        <p:nvPicPr>
          <p:cNvPr id="14" name="Image 2" descr="/mnt/data/snn_assets/crops_v5/news_da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0526" y="4078224"/>
            <a:ext cx="3796909" cy="16733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13232" y="5806440"/>
            <a:ext cx="5102352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ru-RU" sz="1150" b="1" noProof="0" dirty="0">
                <a:solidFill>
                  <a:srgbClr val="111827"/>
                </a:solidFill>
              </a:rPr>
              <a:t>3. Вижу сюжеты</a:t>
            </a:r>
            <a:endParaRPr lang="ru-RU" sz="1150" noProof="0" dirty="0"/>
          </a:p>
        </p:txBody>
      </p:sp>
      <p:sp>
        <p:nvSpPr>
          <p:cNvPr id="16" name="Shape 11"/>
          <p:cNvSpPr/>
          <p:nvPr/>
        </p:nvSpPr>
        <p:spPr>
          <a:xfrm>
            <a:off x="6217920" y="4023360"/>
            <a:ext cx="5257800" cy="2039112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pic>
        <p:nvPicPr>
          <p:cNvPr id="17" name="Image 3" descr="/mnt/data/snn_assets/crops_v5/search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7824" y="4078224"/>
            <a:ext cx="3897991" cy="1673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91072" y="5806440"/>
            <a:ext cx="5102352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ru-RU" sz="1150" b="1" noProof="0" dirty="0">
                <a:solidFill>
                  <a:srgbClr val="111827"/>
                </a:solidFill>
              </a:rPr>
              <a:t>4. Ищу по смыслу</a:t>
            </a:r>
            <a:endParaRPr lang="ru-RU" sz="1150" noProof="0" dirty="0"/>
          </a:p>
        </p:txBody>
      </p:sp>
      <p:sp>
        <p:nvSpPr>
          <p:cNvPr id="19" name="Text 13"/>
          <p:cNvSpPr/>
          <p:nvPr/>
        </p:nvSpPr>
        <p:spPr>
          <a:xfrm>
            <a:off x="1005840" y="6419088"/>
            <a:ext cx="101498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150" noProof="0" dirty="0">
                <a:solidFill>
                  <a:srgbClr val="64748B"/>
                </a:solidFill>
              </a:rPr>
              <a:t>Live-показ — 30–60 секунд. Комментирую каждый шаг по ходу.</a:t>
            </a:r>
            <a:endParaRPr lang="ru-RU" sz="11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Преимущества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11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325880"/>
            <a:ext cx="107899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2200" b="1" noProof="0" dirty="0">
                <a:solidFill>
                  <a:srgbClr val="111827"/>
                </a:solidFill>
              </a:rPr>
              <a:t>Не ещё одна лента, а рабочий инструмент аналитика</a:t>
            </a:r>
            <a:endParaRPr lang="ru-RU" sz="22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2057400"/>
            <a:ext cx="3337560" cy="1627909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82296" cy="1627909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Text 7"/>
          <p:cNvSpPr/>
          <p:nvPr/>
        </p:nvSpPr>
        <p:spPr>
          <a:xfrm>
            <a:off x="1005840" y="2221992"/>
            <a:ext cx="29535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b="1" noProof="0" dirty="0">
                <a:solidFill>
                  <a:srgbClr val="2563EB"/>
                </a:solidFill>
              </a:rPr>
              <a:t>Быстрый обзор</a:t>
            </a:r>
            <a:endParaRPr lang="ru-RU" noProof="0" dirty="0"/>
          </a:p>
        </p:txBody>
      </p:sp>
      <p:sp>
        <p:nvSpPr>
          <p:cNvPr id="10" name="Text 8"/>
          <p:cNvSpPr/>
          <p:nvPr/>
        </p:nvSpPr>
        <p:spPr>
          <a:xfrm>
            <a:off x="1005840" y="2721587"/>
            <a:ext cx="2953512" cy="1207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400" noProof="0" dirty="0">
                <a:solidFill>
                  <a:srgbClr val="111827"/>
                </a:solidFill>
              </a:rPr>
              <a:t>сюжеты собраны сразу</a:t>
            </a:r>
            <a:endParaRPr lang="ru-RU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4434840" y="2057400"/>
            <a:ext cx="3337560" cy="1627909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4434840" y="2057400"/>
            <a:ext cx="82296" cy="1627909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4663440" y="2221992"/>
            <a:ext cx="29535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b="1" noProof="0" dirty="0">
                <a:solidFill>
                  <a:srgbClr val="F05A4F"/>
                </a:solidFill>
              </a:rPr>
              <a:t>Меньше шума</a:t>
            </a:r>
            <a:endParaRPr lang="ru-RU" noProof="0" dirty="0"/>
          </a:p>
        </p:txBody>
      </p:sp>
      <p:sp>
        <p:nvSpPr>
          <p:cNvPr id="14" name="Text 12"/>
          <p:cNvSpPr/>
          <p:nvPr/>
        </p:nvSpPr>
        <p:spPr>
          <a:xfrm>
            <a:off x="4663440" y="2721587"/>
            <a:ext cx="2953512" cy="1207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400" noProof="0" dirty="0">
                <a:solidFill>
                  <a:srgbClr val="111827"/>
                </a:solidFill>
              </a:rPr>
              <a:t>повторы уходят на второй план</a:t>
            </a:r>
            <a:endParaRPr lang="ru-RU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8092440" y="2057400"/>
            <a:ext cx="3337560" cy="1627909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6" name="Shape 14"/>
          <p:cNvSpPr/>
          <p:nvPr/>
        </p:nvSpPr>
        <p:spPr>
          <a:xfrm>
            <a:off x="8092440" y="2057400"/>
            <a:ext cx="82296" cy="162790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7" name="Text 15"/>
          <p:cNvSpPr/>
          <p:nvPr/>
        </p:nvSpPr>
        <p:spPr>
          <a:xfrm>
            <a:off x="8321040" y="2221992"/>
            <a:ext cx="29535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b="1" dirty="0">
                <a:solidFill>
                  <a:srgbClr val="16A34A"/>
                </a:solidFill>
              </a:rPr>
              <a:t>Редакторский контроль</a:t>
            </a:r>
            <a:endParaRPr lang="ru-RU" noProof="0" dirty="0"/>
          </a:p>
        </p:txBody>
      </p:sp>
      <p:sp>
        <p:nvSpPr>
          <p:cNvPr id="18" name="Text 16"/>
          <p:cNvSpPr/>
          <p:nvPr/>
        </p:nvSpPr>
        <p:spPr>
          <a:xfrm>
            <a:off x="8321040" y="2721587"/>
            <a:ext cx="3093720" cy="1207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ru-RU" sz="1400" dirty="0"/>
              <a:t>метки можно исправить вручную</a:t>
            </a:r>
            <a:endParaRPr lang="ru-RU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1074420" y="4748877"/>
            <a:ext cx="1005840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/>
            <a:r>
              <a:rPr lang="ru-RU" sz="1600" dirty="0">
                <a:solidFill>
                  <a:srgbClr val="111827"/>
                </a:solidFill>
              </a:rPr>
              <a:t>Сервис не просто ищет новости — он превращает поток в рабочую структуру.</a:t>
            </a:r>
            <a:endParaRPr lang="ru-RU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900" b="1" noProof="0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Итоги и планы</a:t>
            </a:r>
            <a:endParaRPr lang="ru-RU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10881360" y="393192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400" b="1" noProof="0" dirty="0">
                <a:solidFill>
                  <a:srgbClr val="F05A4F"/>
                </a:solidFill>
              </a:rPr>
              <a:t>12</a:t>
            </a:r>
            <a:endParaRPr lang="ru-RU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07899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2000" b="1" noProof="0" dirty="0">
                <a:latin typeface="+mj-lt"/>
              </a:rPr>
              <a:t>Следующий шаг — пилот на реальном новостном потоке</a:t>
            </a:r>
          </a:p>
        </p:txBody>
      </p:sp>
      <p:sp>
        <p:nvSpPr>
          <p:cNvPr id="7" name="Shape 5"/>
          <p:cNvSpPr/>
          <p:nvPr/>
        </p:nvSpPr>
        <p:spPr>
          <a:xfrm>
            <a:off x="777240" y="2592323"/>
            <a:ext cx="49834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8" name="Shape 6"/>
          <p:cNvSpPr/>
          <p:nvPr/>
        </p:nvSpPr>
        <p:spPr>
          <a:xfrm>
            <a:off x="777240" y="2592323"/>
            <a:ext cx="82296" cy="2148840"/>
          </a:xfrm>
          <a:prstGeom prst="rect">
            <a:avLst/>
          </a:prstGeom>
          <a:solidFill>
            <a:srgbClr val="F05A4F"/>
          </a:solidFill>
          <a:ln w="12700">
            <a:solidFill>
              <a:srgbClr val="F05A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9" name="Text 7"/>
          <p:cNvSpPr/>
          <p:nvPr/>
        </p:nvSpPr>
        <p:spPr>
          <a:xfrm>
            <a:off x="1005840" y="2756915"/>
            <a:ext cx="45994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b="1" noProof="0" dirty="0">
                <a:solidFill>
                  <a:srgbClr val="F05A4F"/>
                </a:solidFill>
              </a:rPr>
              <a:t>Риски</a:t>
            </a:r>
            <a:endParaRPr lang="ru-RU" noProof="0" dirty="0"/>
          </a:p>
        </p:txBody>
      </p:sp>
      <p:sp>
        <p:nvSpPr>
          <p:cNvPr id="10" name="Text 8"/>
          <p:cNvSpPr/>
          <p:nvPr/>
        </p:nvSpPr>
        <p:spPr>
          <a:xfrm>
            <a:off x="1005840" y="3168395"/>
            <a:ext cx="45994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малый объём ручной разметки</a:t>
            </a:r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нет пилота с клиентом</a:t>
            </a:r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конкуренция с LLM и </a:t>
            </a:r>
            <a:r>
              <a:rPr lang="ru-RU" sz="1350" noProof="0" dirty="0" err="1">
                <a:solidFill>
                  <a:srgbClr val="111827"/>
                </a:solidFill>
              </a:rPr>
              <a:t>SaaS</a:t>
            </a:r>
            <a:endParaRPr lang="ru-RU" sz="1350" noProof="0" dirty="0"/>
          </a:p>
        </p:txBody>
      </p:sp>
      <p:sp>
        <p:nvSpPr>
          <p:cNvPr id="11" name="Shape 9"/>
          <p:cNvSpPr/>
          <p:nvPr/>
        </p:nvSpPr>
        <p:spPr>
          <a:xfrm>
            <a:off x="6400800" y="2592323"/>
            <a:ext cx="49834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2" name="Shape 10"/>
          <p:cNvSpPr/>
          <p:nvPr/>
        </p:nvSpPr>
        <p:spPr>
          <a:xfrm>
            <a:off x="6400800" y="2592323"/>
            <a:ext cx="82296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  <p:sp>
        <p:nvSpPr>
          <p:cNvPr id="13" name="Text 11"/>
          <p:cNvSpPr/>
          <p:nvPr/>
        </p:nvSpPr>
        <p:spPr>
          <a:xfrm>
            <a:off x="6629400" y="2756915"/>
            <a:ext cx="45994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ru-RU" b="1" noProof="0" dirty="0">
                <a:solidFill>
                  <a:srgbClr val="2563EB"/>
                </a:solidFill>
              </a:rPr>
              <a:t>Следующие шаги</a:t>
            </a:r>
            <a:endParaRPr lang="ru-RU" noProof="0" dirty="0"/>
          </a:p>
        </p:txBody>
      </p:sp>
      <p:sp>
        <p:nvSpPr>
          <p:cNvPr id="14" name="Text 12"/>
          <p:cNvSpPr/>
          <p:nvPr/>
        </p:nvSpPr>
        <p:spPr>
          <a:xfrm>
            <a:off x="6629400" y="3168395"/>
            <a:ext cx="45994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данные: расширить разметку</a:t>
            </a:r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ML: пакетная обработка и названия сюжетов</a:t>
            </a:r>
          </a:p>
          <a:p>
            <a:pPr marL="0" indent="0">
              <a:buNone/>
            </a:pPr>
            <a:r>
              <a:rPr lang="ru-RU" sz="1350" noProof="0" dirty="0">
                <a:solidFill>
                  <a:srgbClr val="111827"/>
                </a:solidFill>
              </a:rPr>
              <a:t>• интеграции: RSS/API и форматы импорта</a:t>
            </a:r>
          </a:p>
          <a:p>
            <a:r>
              <a:rPr lang="ru-RU" sz="1350" dirty="0">
                <a:solidFill>
                  <a:srgbClr val="111827"/>
                </a:solidFill>
              </a:rPr>
              <a:t>• пилот: проверить ценность и монетизацию</a:t>
            </a:r>
          </a:p>
          <a:p>
            <a:pPr marL="0" indent="0">
              <a:buNone/>
            </a:pPr>
            <a:endParaRPr lang="ru-RU" sz="1350" noProof="0" dirty="0">
              <a:solidFill>
                <a:srgbClr val="111827"/>
              </a:solidFill>
            </a:endParaRPr>
          </a:p>
          <a:p>
            <a:pPr marL="0" indent="0">
              <a:buNone/>
            </a:pPr>
            <a:endParaRPr lang="ru-RU" sz="13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1475720" y="28346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B4FC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23160" y="1252728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061A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Вопросы?</a:t>
            </a:r>
            <a:endParaRPr lang="en-US" sz="6200" dirty="0"/>
          </a:p>
        </p:txBody>
      </p:sp>
      <p:sp>
        <p:nvSpPr>
          <p:cNvPr id="6" name="Shape 4"/>
          <p:cNvSpPr/>
          <p:nvPr/>
        </p:nvSpPr>
        <p:spPr>
          <a:xfrm>
            <a:off x="5449824" y="2331720"/>
            <a:ext cx="1051560" cy="0"/>
          </a:xfrm>
          <a:prstGeom prst="line">
            <a:avLst/>
          </a:prstGeom>
          <a:noFill/>
          <a:ln w="50800">
            <a:solidFill>
              <a:srgbClr val="0B4FC3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108960" y="2743200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B4FC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Semantic News Novelty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645920" y="3273552"/>
            <a:ext cx="9006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ML-сервис для группировки новостей и определения значимых обновлений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3986784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F3F7FF">
              <a:alpha val="92000"/>
            </a:srgbClr>
          </a:solidFill>
          <a:ln w="12700">
            <a:solidFill>
              <a:srgbClr val="B7CB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2336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4FC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Итог: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457200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B4FC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◎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828800" y="4507992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Группировка новостей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828800" y="4828032"/>
            <a:ext cx="2267712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Объединяем похожие публикации в сюжеты по смыслу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24528" y="4343400"/>
            <a:ext cx="0" cy="1060704"/>
          </a:xfrm>
          <a:prstGeom prst="line">
            <a:avLst/>
          </a:prstGeom>
          <a:noFill/>
          <a:ln w="12700">
            <a:solidFill>
              <a:srgbClr val="D8E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457200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B4FC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⌾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394960" y="4507992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Определение новизны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394960" y="4828032"/>
            <a:ext cx="2267712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Выделяем значимые обновления внутри сюжета, фильтруем повторы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08392" y="4343400"/>
            <a:ext cx="0" cy="1060704"/>
          </a:xfrm>
          <a:prstGeom prst="line">
            <a:avLst/>
          </a:prstGeom>
          <a:noFill/>
          <a:ln w="12700">
            <a:solidFill>
              <a:srgbClr val="D8E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73568" y="4572000"/>
            <a:ext cx="713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B4FC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⚙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842248" y="4507992"/>
            <a:ext cx="2148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Готовый ML-сервис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842248" y="4828032"/>
            <a:ext cx="2267712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API, веб-интерфейс, Docker-инфраструктура, мониторинг и метрики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749040" y="5897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4FC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Спасибо за внимание!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749040" y="62362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61A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Готов ответить на вопросы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02336" y="6620256"/>
            <a:ext cx="11155680" cy="0"/>
          </a:xfrm>
          <a:prstGeom prst="line">
            <a:avLst/>
          </a:prstGeom>
          <a:noFill/>
          <a:ln w="12700">
            <a:solidFill>
              <a:srgbClr val="B7CB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30368" y="668426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0B4FC3"/>
                </a:solidFill>
              </a:rPr>
              <a:t>Константин Лебедев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192256" y="66842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B4FC3"/>
                </a:solidFill>
              </a:rPr>
              <a:t>2026</a:t>
            </a:r>
            <a:endParaRPr lang="en-US" sz="1050" dirty="0"/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0E5A2FCC-1E1F-7BD9-99A0-B7464146502F}"/>
              </a:ext>
            </a:extLst>
          </p:cNvPr>
          <p:cNvSpPr/>
          <p:nvPr/>
        </p:nvSpPr>
        <p:spPr>
          <a:xfrm>
            <a:off x="518160" y="32263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827"/>
                </a:solidFill>
                <a:latin typeface="Aptos Display" pitchFamily="34" charset="0"/>
              </a:rPr>
              <a:t>Semantic News Novelty</a:t>
            </a:r>
            <a:endParaRPr lang="ru-RU" sz="2900" noProof="0" dirty="0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0D3DB228-C5C4-24AD-7750-54CE03D24B79}"/>
              </a:ext>
            </a:extLst>
          </p:cNvPr>
          <p:cNvSpPr/>
          <p:nvPr/>
        </p:nvSpPr>
        <p:spPr>
          <a:xfrm>
            <a:off x="518160" y="1173030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1726</Words>
  <Application>Microsoft Office PowerPoint</Application>
  <PresentationFormat>Широкоэкранный</PresentationFormat>
  <Paragraphs>270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Segoe UI Symbol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Semantic News Novelty</dc:title>
  <dc:subject>Semantic News Novelty pitch</dc:subject>
  <dc:creator>OpenAI</dc:creator>
  <cp:lastModifiedBy>Константин Лебедев</cp:lastModifiedBy>
  <cp:revision>67</cp:revision>
  <dcterms:created xsi:type="dcterms:W3CDTF">2026-06-26T17:10:30Z</dcterms:created>
  <dcterms:modified xsi:type="dcterms:W3CDTF">2026-06-27T17:40:33Z</dcterms:modified>
</cp:coreProperties>
</file>