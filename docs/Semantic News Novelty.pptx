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628" autoAdjust="0"/>
  </p:normalViewPr>
  <p:slideViewPr>
    <p:cSldViewPr snapToGrid="0" snapToObjects="1">
      <p:cViewPr varScale="1">
        <p:scale>
          <a:sx n="109" d="100"/>
          <a:sy n="109" d="100"/>
        </p:scale>
        <p:origin x="1313" y="55"/>
      </p:cViewPr>
      <p:guideLst/>
    </p:cSldViewPr>
  </p:slideViewPr>
  <p:notesTextViewPr>
    <p:cViewPr>
      <p:scale>
        <a:sx n="1" d="1"/>
        <a:sy n="1" d="1"/>
      </p:scale>
      <p:origin x="0" y="-21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21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проекта началась с простой личной боли: я устал от потока похожих новостей. Одно и то же событие пересказывается десятками публикаций, заголовки отличаются, а смысл часто остаётся тем же.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Semantic</a:t>
            </a:r>
            <a:r>
              <a:rPr lang="ru-RU" dirty="0"/>
              <a:t> News </a:t>
            </a:r>
            <a:r>
              <a:rPr lang="ru-RU" dirty="0" err="1"/>
              <a:t>Novelty</a:t>
            </a:r>
            <a:r>
              <a:rPr lang="ru-RU" dirty="0"/>
              <a:t> — это сервис для снижения </a:t>
            </a:r>
            <a:r>
              <a:rPr lang="ru-RU" dirty="0" err="1"/>
              <a:t>инфошума</a:t>
            </a:r>
            <a:r>
              <a:rPr lang="ru-RU" dirty="0"/>
              <a:t> в новостном потоке. Он помогает превратить поток отдельных публикаций в понятные сюжеты и быстрее увидеть, где действительно появилось что-то новое.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обычного читателя повторяющиеся новости — это раздражение. Для аналитика это уже рабочая проблема.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аналитик готовит обзор по большому новостному потоку, ему нужно быстро увидеть основные сюжеты и не пропустить в них главное. Если этого не сделать, часы уходят на ручную вычитку, а важное обновление можно просто не заметить среди пересказов.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Непосредственный пользователь продукта — аналитик или редактор обзора. Именно он работает с новостным потоком, готовит обзоры, отслеживает сюжеты и обновления.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Заказчик — аналитическое агентство или подразделение. Для него ценность в том, чтобы быстрее выпускать обзоры и снижать ручную нагрузку команды.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Я не делаю основным фокусом крупные корпорации, которые могут купить дорогое комплексное решение или разработать узкую систему внутри. Фокус проекта — малые и средние аналитические команды без собственной ML-разработки.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рассматриваю рынок через альтернативы, с которыми реально конкурирует такой инструмент.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Самый простой вариант — ручная вычитка. Она даёт контроль качества, но плохо масштабируется и быстро превращается в рутину.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RSS, Telegram и поисковики помогают быстро собрать поток, но не дают структуру сюжетов и не выделяют смысловую новизну.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Большие </a:t>
            </a:r>
            <a:r>
              <a:rPr lang="ru-RU" dirty="0" err="1"/>
              <a:t>full-cycle</a:t>
            </a:r>
            <a:r>
              <a:rPr lang="ru-RU" dirty="0"/>
              <a:t> </a:t>
            </a:r>
            <a:r>
              <a:rPr lang="ru-RU" dirty="0" err="1"/>
              <a:t>SaaS</a:t>
            </a:r>
            <a:r>
              <a:rPr lang="ru-RU" dirty="0"/>
              <a:t> закрывают широкий мониторинг, но для части команд могут быть дорогими или избыточными.</a:t>
            </a:r>
            <a:endParaRPr lang="en-US" dirty="0"/>
          </a:p>
          <a:p>
            <a:endParaRPr lang="en-US" dirty="0"/>
          </a:p>
          <a:p>
            <a:r>
              <a:rPr lang="ru-RU" dirty="0" err="1"/>
              <a:t>Semantic</a:t>
            </a:r>
            <a:r>
              <a:rPr lang="ru-RU" dirty="0"/>
              <a:t> News </a:t>
            </a:r>
            <a:r>
              <a:rPr lang="ru-RU" dirty="0" err="1"/>
              <a:t>Novelty</a:t>
            </a:r>
            <a:r>
              <a:rPr lang="ru-RU" dirty="0"/>
              <a:t> занимает более узкую позицию: мы не заменяем сбор новостей, а превращаем уже собранный поток в рабочий материал — с сюжетами, новизной и поиском по смыслу.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продукта максимально простая: он группирует новости и показывает новое.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Сервис берёт поток публикаций, собирает похожие новости в сюжеты, оценивает смысловую новизну внутри сюжета и позволяет искать связанные материалы по смыслу.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выходе аналитик получает не плоскую ленту публикаций, а структуру для обзора: сюжеты, новизну и поиск по смыслу.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Важно: это не замена аналитика. Редактор может проверить результат модели и исправить метки. Идея в том, чтобы убрать рутину и дать человеку более удобную структуру для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MVP уже есть основные продуктовые сценарии.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Пользователь может искать новости по смыслу и по датам, а также видеть историю поиска.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Редактор может импортировать CSV, работать с черновиками и вручную корректировать результат модели.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Администратор управляет пользователями, ролями, организациями, балансом и кредитами.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Под капотом это уже не просто ноутбук с моделью, а сервис с API, базой данных, очередью задач, модельным </a:t>
            </a:r>
            <a:r>
              <a:rPr lang="ru-RU" dirty="0" err="1"/>
              <a:t>воркером</a:t>
            </a:r>
            <a:r>
              <a:rPr lang="ru-RU" dirty="0"/>
              <a:t> и мониторингом. Технологии на слайде указаны мелко, потому что главное здесь — не стек сам по себе, а то, что MVP уже поддерживает рабочие сценарии.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Метрики я выбирал не просто как стандартный набор F1 и </a:t>
            </a:r>
            <a:r>
              <a:rPr lang="ru-RU" dirty="0" err="1"/>
              <a:t>recall</a:t>
            </a:r>
            <a:r>
              <a:rPr lang="ru-RU" dirty="0"/>
              <a:t>, а под пользовательскую задачу аналитика.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аналитика важны три вещи.</a:t>
            </a:r>
          </a:p>
          <a:p>
            <a:r>
              <a:rPr lang="ru-RU" dirty="0"/>
              <a:t>Первая — меньше повторов в выдаче. В Top-10 стало на 75% меньше повторяющихся публикаций, а MRR@10 вырос с 0.91 до 0.99.</a:t>
            </a:r>
          </a:p>
          <a:p>
            <a:r>
              <a:rPr lang="ru-RU" dirty="0"/>
              <a:t>Вторая — меньше риск пропустить значимое обновление. </a:t>
            </a:r>
            <a:r>
              <a:rPr lang="ru-RU" dirty="0" err="1"/>
              <a:t>Recall</a:t>
            </a:r>
            <a:r>
              <a:rPr lang="ru-RU" dirty="0"/>
              <a:t> по значимым обновлениям вырос с 0.51 до 0.99, а F1 — с 0.63 до 0.91.</a:t>
            </a:r>
          </a:p>
          <a:p>
            <a:r>
              <a:rPr lang="ru-RU" dirty="0"/>
              <a:t>Третья — лучше собранные сюжеты. </a:t>
            </a:r>
            <a:r>
              <a:rPr lang="ru-RU" dirty="0" err="1"/>
              <a:t>Пайплайн</a:t>
            </a:r>
            <a:r>
              <a:rPr lang="ru-RU" dirty="0"/>
              <a:t> находит 83% правильных связей внутри сюжетов, а F1 группировки вырос с 0.77 до 0.90.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Все эти значения сравниваются с моим собственным </a:t>
            </a:r>
            <a:r>
              <a:rPr lang="ru-RU" dirty="0" err="1"/>
              <a:t>бейзлайном</a:t>
            </a:r>
            <a:r>
              <a:rPr lang="ru-RU" dirty="0"/>
              <a:t>. Улучшения получены за счёт финального </a:t>
            </a:r>
            <a:r>
              <a:rPr lang="ru-RU" dirty="0" err="1"/>
              <a:t>пайплайна</a:t>
            </a:r>
            <a:r>
              <a:rPr lang="ru-RU" dirty="0"/>
              <a:t>: BGE-M3 </a:t>
            </a:r>
            <a:r>
              <a:rPr lang="ru-RU" dirty="0" err="1"/>
              <a:t>эмбеддингов</a:t>
            </a:r>
            <a:r>
              <a:rPr lang="ru-RU" dirty="0"/>
              <a:t>, настройки кластеризации и модели значимости.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Архитектура построена как сервис, а не как одиночный скрипт.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Пользователь работает через UI. Запросы идут в API. Тяжёлая обработка новостей уходит в очередь задач, чтобы интерфейс не блокировался.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ML-</a:t>
            </a:r>
            <a:r>
              <a:rPr lang="ru-RU" dirty="0" err="1"/>
              <a:t>воркер</a:t>
            </a:r>
            <a:r>
              <a:rPr lang="ru-RU" dirty="0"/>
              <a:t> считает эмбеддинги, собирает новости в кластеры и определяет новизну. Данные и векторы хранятся в </a:t>
            </a:r>
            <a:r>
              <a:rPr lang="ru-RU" dirty="0" err="1"/>
              <a:t>PostgreSQL</a:t>
            </a:r>
            <a:r>
              <a:rPr lang="ru-RU" dirty="0"/>
              <a:t> с </a:t>
            </a:r>
            <a:r>
              <a:rPr lang="ru-RU" dirty="0" err="1"/>
              <a:t>pgvector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Отдельно есть мониторинг через </a:t>
            </a:r>
            <a:r>
              <a:rPr lang="ru-RU" dirty="0" err="1"/>
              <a:t>Prometheus</a:t>
            </a:r>
            <a:r>
              <a:rPr lang="ru-RU" dirty="0"/>
              <a:t> и </a:t>
            </a:r>
            <a:r>
              <a:rPr lang="ru-RU" dirty="0" err="1"/>
              <a:t>Grafana</a:t>
            </a:r>
            <a:r>
              <a:rPr lang="ru-RU" dirty="0"/>
              <a:t>: можно видеть очередь, скорость обработки, ошибки и потребление ресурсов.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Такая схема позволяет масштабировать обработку: например, запускать несколько </a:t>
            </a:r>
            <a:r>
              <a:rPr lang="ru-RU" dirty="0" err="1"/>
              <a:t>воркеров</a:t>
            </a:r>
            <a:r>
              <a:rPr lang="ru-RU" dirty="0"/>
              <a:t> и использовать CPU или GPU-режимы.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AI-инструменты я использовал как формат совместной работы.</a:t>
            </a:r>
          </a:p>
          <a:p>
            <a:r>
              <a:rPr lang="ru-RU" dirty="0"/>
              <a:t>Они помогали обсуждать архитектуру, находить слабые места, разбирать ошибки и ускорять рутинные задачи: рефакторинг, документацию, подготовку вариантов формулировок.</a:t>
            </a:r>
          </a:p>
          <a:p>
            <a:r>
              <a:rPr lang="ru-RU" dirty="0"/>
              <a:t>Но AI не выбирал за меня метрики, не проверял качество вместо меня и не принимал финальные решения по архитектуре и продукту.</a:t>
            </a:r>
          </a:p>
          <a:p>
            <a:r>
              <a:rPr lang="ru-RU" dirty="0"/>
              <a:t>Мой принцип такой: AI — помощник в разработке и обдумывании задач, но не автор проекта. Решения всегда за человеком, как и ответственность за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демо я не буду показывать весь продукт. Я покажу один основной сценарий.</a:t>
            </a:r>
          </a:p>
          <a:p>
            <a:r>
              <a:rPr lang="ru-RU" dirty="0"/>
              <a:t>Сначала редактор загружает заранее подготовленный CSV с новостями. Затем новости попадают в черновики, отправляются в модель и получают результат обработки.</a:t>
            </a:r>
          </a:p>
          <a:p>
            <a:r>
              <a:rPr lang="ru-RU" dirty="0"/>
              <a:t>После этого я покажу, как можно перейти к сюжетам или найти связанные материалы по смыслу.</a:t>
            </a:r>
          </a:p>
          <a:p>
            <a:r>
              <a:rPr lang="ru-RU" dirty="0"/>
              <a:t>Я буду комментировать каждый шаг по ходу. Типы аккаунтов, админка и </a:t>
            </a:r>
            <a:r>
              <a:rPr lang="ru-RU" dirty="0" err="1"/>
              <a:t>Grafana</a:t>
            </a:r>
            <a:r>
              <a:rPr lang="ru-RU" dirty="0"/>
              <a:t> тоже есть в MVP, но в коротком питче они не должны становиться центром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Преимущество продукта не в том, что он просто показывает новости. Новостных лент и поисковиков уже много.\</a:t>
            </a:r>
          </a:p>
          <a:p>
            <a:endParaRPr lang="ru-RU" dirty="0"/>
          </a:p>
          <a:p>
            <a:r>
              <a:rPr lang="ru-RU" dirty="0"/>
              <a:t>Сильная сторона — в постобработке потока. Аналитик быстрее получает структуру обзора, видит меньше повторов и меньше рискует пропустить значимое обновление.</a:t>
            </a:r>
          </a:p>
          <a:p>
            <a:endParaRPr lang="ru-RU" dirty="0"/>
          </a:p>
          <a:p>
            <a:r>
              <a:rPr lang="ru-RU" dirty="0"/>
              <a:t>Ещё одно важное преимущество — редакторский контроль. Модель предлагает метки, но человек может их исправить вручную. Поэтому продукт не превращается в чёрный ящик.</a:t>
            </a:r>
          </a:p>
          <a:p>
            <a:endParaRPr lang="ru-RU" dirty="0"/>
          </a:p>
          <a:p>
            <a:r>
              <a:rPr lang="ru-RU" dirty="0"/>
              <a:t>Итоговая идея простая: сервис не просто ищет новости — он превращает поток в рабочую 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честно разделяю техническую и продуктовую проверку.</a:t>
            </a:r>
          </a:p>
          <a:p>
            <a:endParaRPr lang="ru-RU" dirty="0"/>
          </a:p>
          <a:p>
            <a:r>
              <a:rPr lang="ru-RU" dirty="0"/>
              <a:t>В рамках проекта я проверил техническую гипотезу: можно ли собрать новости в сюжеты, выделить значимые обновления и обернуть это в работающий сервис.</a:t>
            </a:r>
          </a:p>
          <a:p>
            <a:endParaRPr lang="ru-RU" dirty="0"/>
          </a:p>
          <a:p>
            <a:r>
              <a:rPr lang="ru-RU" dirty="0"/>
              <a:t>Основные риски тоже понятны. </a:t>
            </a:r>
          </a:p>
          <a:p>
            <a:r>
              <a:rPr lang="ru-RU" dirty="0"/>
              <a:t>Во-первых, пока малый объём ручной разметки. </a:t>
            </a:r>
          </a:p>
          <a:p>
            <a:r>
              <a:rPr lang="ru-RU" dirty="0"/>
              <a:t>Во-вторых, ещё нет пилота с клиентом. </a:t>
            </a:r>
          </a:p>
          <a:p>
            <a:r>
              <a:rPr lang="ru-RU" dirty="0"/>
              <a:t>В-третьих, нужно учитывать конкуренцию с LLM-инструментами и крупными </a:t>
            </a:r>
            <a:r>
              <a:rPr lang="ru-RU" dirty="0" err="1"/>
              <a:t>SaaS</a:t>
            </a:r>
            <a:r>
              <a:rPr lang="ru-RU" dirty="0"/>
              <a:t>-решениями.</a:t>
            </a:r>
          </a:p>
          <a:p>
            <a:endParaRPr lang="ru-RU" dirty="0"/>
          </a:p>
          <a:p>
            <a:r>
              <a:rPr lang="ru-RU" dirty="0"/>
              <a:t>Следующие шаги — расширить ручную разметку, доработать ML-</a:t>
            </a:r>
            <a:r>
              <a:rPr lang="ru-RU" dirty="0" err="1"/>
              <a:t>пайплайн</a:t>
            </a:r>
            <a:r>
              <a:rPr lang="ru-RU" dirty="0"/>
              <a:t>, добавить пакетную обработку больших импортов, LLM-названия сюжетов и больше форматов интеграции, например RSS и API.</a:t>
            </a:r>
          </a:p>
          <a:p>
            <a:r>
              <a:rPr lang="ru-RU" dirty="0"/>
              <a:t>Отдельный продуктовый шаг — пилот на реальном новостном потоке, чтобы проверить ценность и монетизацию. Гипотеза монетизации — B2B-подписка или лицензия.</a:t>
            </a:r>
          </a:p>
          <a:p>
            <a:r>
              <a:rPr lang="ru-RU" dirty="0"/>
              <a:t>На этом всё. Спасибо,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118872" cy="507492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 2"/>
          <p:cNvSpPr/>
          <p:nvPr/>
        </p:nvSpPr>
        <p:spPr>
          <a:xfrm>
            <a:off x="868680" y="713232"/>
            <a:ext cx="585216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4200" b="1" noProof="0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</a:t>
            </a:r>
            <a:endParaRPr lang="ru-RU" sz="4200" noProof="0" dirty="0"/>
          </a:p>
          <a:p>
            <a:pPr marL="0" indent="0">
              <a:buNone/>
            </a:pPr>
            <a:r>
              <a:rPr lang="ru-RU" sz="42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News</a:t>
            </a:r>
            <a:endParaRPr lang="ru-RU" sz="4200" noProof="0" dirty="0"/>
          </a:p>
          <a:p>
            <a:pPr marL="0" indent="0">
              <a:buNone/>
            </a:pPr>
            <a:r>
              <a:rPr lang="ru-RU" sz="4200" b="1" noProof="0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Novelty</a:t>
            </a:r>
            <a:endParaRPr lang="ru-RU" sz="4200" noProof="0" dirty="0"/>
          </a:p>
        </p:txBody>
      </p:sp>
      <p:sp>
        <p:nvSpPr>
          <p:cNvPr id="5" name="Text 3"/>
          <p:cNvSpPr/>
          <p:nvPr/>
        </p:nvSpPr>
        <p:spPr>
          <a:xfrm>
            <a:off x="896112" y="2852928"/>
            <a:ext cx="6309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500" b="1" noProof="0" dirty="0">
                <a:solidFill>
                  <a:srgbClr val="F05A4F"/>
                </a:solidFill>
              </a:rPr>
              <a:t>Сервис для снижения</a:t>
            </a:r>
            <a:endParaRPr lang="ru-RU" sz="2500" noProof="0" dirty="0"/>
          </a:p>
          <a:p>
            <a:pPr marL="0" indent="0">
              <a:buNone/>
            </a:pPr>
            <a:r>
              <a:rPr lang="ru-RU" sz="2500" b="1" noProof="0" dirty="0" err="1">
                <a:solidFill>
                  <a:srgbClr val="F05A4F"/>
                </a:solidFill>
              </a:rPr>
              <a:t>инфошума</a:t>
            </a:r>
            <a:r>
              <a:rPr lang="ru-RU" sz="2500" b="1" noProof="0" dirty="0">
                <a:solidFill>
                  <a:srgbClr val="F05A4F"/>
                </a:solidFill>
              </a:rPr>
              <a:t> в новостном потоке</a:t>
            </a:r>
            <a:endParaRPr lang="ru-RU" sz="2500" noProof="0" dirty="0"/>
          </a:p>
        </p:txBody>
      </p:sp>
      <p:sp>
        <p:nvSpPr>
          <p:cNvPr id="6" name="Text 4"/>
          <p:cNvSpPr/>
          <p:nvPr/>
        </p:nvSpPr>
        <p:spPr>
          <a:xfrm>
            <a:off x="7818120" y="6062472"/>
            <a:ext cx="3703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ru-RU" sz="1800" b="1" noProof="0" dirty="0">
                <a:solidFill>
                  <a:srgbClr val="111827"/>
                </a:solidFill>
              </a:rPr>
              <a:t>Константин Лебедев</a:t>
            </a:r>
            <a:endParaRPr lang="ru-RU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7452360" y="1005840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 6"/>
          <p:cNvSpPr/>
          <p:nvPr/>
        </p:nvSpPr>
        <p:spPr>
          <a:xfrm>
            <a:off x="7616952" y="1261872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64748B"/>
                </a:solidFill>
              </a:rPr>
              <a:t>поток публикаций</a:t>
            </a:r>
            <a:endParaRPr lang="ru-RU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8887968" y="1883664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noProof="0" dirty="0">
                <a:solidFill>
                  <a:srgbClr val="F05A4F"/>
                </a:solidFill>
              </a:rPr>
              <a:t>↓</a:t>
            </a:r>
            <a:endParaRPr lang="ru-RU" sz="2600" noProof="0" dirty="0"/>
          </a:p>
        </p:txBody>
      </p:sp>
      <p:sp>
        <p:nvSpPr>
          <p:cNvPr id="10" name="Shape 8"/>
          <p:cNvSpPr/>
          <p:nvPr/>
        </p:nvSpPr>
        <p:spPr>
          <a:xfrm>
            <a:off x="7452360" y="2670048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Text 9"/>
          <p:cNvSpPr/>
          <p:nvPr/>
        </p:nvSpPr>
        <p:spPr>
          <a:xfrm>
            <a:off x="7616952" y="2926080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понятные сюжеты</a:t>
            </a:r>
            <a:endParaRPr lang="ru-RU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8887968" y="3547872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noProof="0" dirty="0">
                <a:solidFill>
                  <a:srgbClr val="F05A4F"/>
                </a:solidFill>
              </a:rPr>
              <a:t>↓</a:t>
            </a:r>
            <a:endParaRPr lang="ru-RU" sz="2600" noProof="0" dirty="0"/>
          </a:p>
        </p:txBody>
      </p:sp>
      <p:sp>
        <p:nvSpPr>
          <p:cNvPr id="13" name="Shape 11"/>
          <p:cNvSpPr/>
          <p:nvPr/>
        </p:nvSpPr>
        <p:spPr>
          <a:xfrm>
            <a:off x="7452360" y="4334256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7616952" y="4590288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16A34A"/>
                </a:solidFill>
              </a:rPr>
              <a:t>что действительно новое?</a:t>
            </a:r>
            <a:endParaRPr lang="ru-RU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02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3000" b="1" noProof="0" dirty="0">
                <a:solidFill>
                  <a:srgbClr val="111827"/>
                </a:solidFill>
              </a:rPr>
              <a:t>Новостей больше, чем нового смысла</a:t>
            </a:r>
            <a:endParaRPr lang="ru-RU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2395728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1143000" y="256946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Когда</a:t>
            </a:r>
            <a:endParaRPr lang="ru-RU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2880360" y="2615184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готовлю обзор по большому новостному потоку</a:t>
            </a:r>
            <a:endParaRPr lang="ru-RU" sz="205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1143000" y="355701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1143000" y="3639312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Хочу</a:t>
            </a:r>
            <a:endParaRPr lang="ru-RU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2880360" y="3602736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быстро увидеть сюжеты и главное в них</a:t>
            </a:r>
            <a:endParaRPr lang="ru-RU" sz="205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4370832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1143000" y="45445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1143000" y="462686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Чтобы</a:t>
            </a:r>
            <a:endParaRPr lang="ru-RU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2880360" y="4590288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не тратить часы на ручную вычитку</a:t>
            </a:r>
            <a:endParaRPr lang="ru-RU" sz="20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Целевая аудитория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03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107192"/>
            <a:ext cx="4800600" cy="179597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4196" y="2147952"/>
            <a:ext cx="45719" cy="17332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990602" y="2396098"/>
            <a:ext cx="4416552" cy="2006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Пользователь</a:t>
            </a:r>
            <a:endParaRPr lang="ru-RU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990602" y="2807578"/>
            <a:ext cx="4416552" cy="9544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b="1" dirty="0"/>
              <a:t>Аналитик или редактор обзора</a:t>
            </a:r>
          </a:p>
          <a:p>
            <a:endParaRPr lang="ru-RU" sz="1400" dirty="0"/>
          </a:p>
          <a:p>
            <a:r>
              <a:rPr lang="ru-RU" sz="1400" noProof="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готовит обзор по новостному потоку </a:t>
            </a:r>
          </a:p>
          <a:p>
            <a:r>
              <a:rPr lang="ru-RU" sz="1400" noProof="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отслеживает сюжеты и обновления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0" y="2147952"/>
            <a:ext cx="4800600" cy="179597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0" y="2169892"/>
            <a:ext cx="45719" cy="1733275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14162" y="2396098"/>
            <a:ext cx="4416552" cy="2006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Заказчик</a:t>
            </a:r>
            <a:endParaRPr lang="ru-RU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6614162" y="2807578"/>
            <a:ext cx="4416552" cy="9041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b="1" dirty="0"/>
              <a:t>Аналитическое агентство или подразделение</a:t>
            </a:r>
          </a:p>
          <a:p>
            <a:endParaRPr lang="ru-RU" sz="1400" dirty="0"/>
          </a:p>
          <a:p>
            <a:r>
              <a:rPr lang="ru-RU" sz="140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выпускает обзоры быстрее </a:t>
            </a:r>
          </a:p>
          <a:p>
            <a:r>
              <a:rPr lang="ru-RU" sz="1400" dirty="0">
                <a:solidFill>
                  <a:srgbClr val="111827"/>
                </a:solidFill>
              </a:rPr>
              <a:t>• </a:t>
            </a:r>
            <a:r>
              <a:rPr lang="ru-RU" sz="1400" dirty="0"/>
              <a:t>снижает ручную нагрузку</a:t>
            </a:r>
          </a:p>
          <a:p>
            <a:pPr marL="0" indent="0">
              <a:buNone/>
            </a:pPr>
            <a:endParaRPr lang="ru-RU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777240" y="5768108"/>
            <a:ext cx="10424160" cy="427285"/>
          </a:xfrm>
          <a:prstGeom prst="roundRect">
            <a:avLst>
              <a:gd name="adj" fmla="val 888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 tIns="252000" anchor="ctr">
            <a:noAutofit/>
          </a:bodyPr>
          <a:lstStyle/>
          <a:p>
            <a:pPr algn="ctr"/>
            <a:r>
              <a:rPr lang="ru-RU" sz="1600" b="1" noProof="0" dirty="0"/>
              <a:t>Фокус:</a:t>
            </a:r>
            <a:r>
              <a:rPr lang="ru-RU" sz="1600" noProof="0" dirty="0"/>
              <a:t> малые и средние аналитические команды без собственной ML-разработки.</a:t>
            </a:r>
          </a:p>
          <a:p>
            <a:pPr algn="ctr"/>
            <a:endParaRPr lang="ru-RU" sz="16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Рынок и альтернативы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04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Где возникает ценность </a:t>
            </a:r>
            <a:r>
              <a:rPr lang="ru-RU" sz="2200" b="1" noProof="0" dirty="0" err="1">
                <a:solidFill>
                  <a:srgbClr val="111827"/>
                </a:solidFill>
              </a:rPr>
              <a:t>Semantic</a:t>
            </a:r>
            <a:r>
              <a:rPr lang="ru-RU" sz="2200" b="1" noProof="0" dirty="0">
                <a:solidFill>
                  <a:srgbClr val="111827"/>
                </a:solidFill>
              </a:rPr>
              <a:t> News </a:t>
            </a:r>
            <a:r>
              <a:rPr lang="ru-RU" sz="2200" b="1" noProof="0" dirty="0" err="1">
                <a:solidFill>
                  <a:srgbClr val="111827"/>
                </a:solidFill>
              </a:rPr>
              <a:t>Novelty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>
                <a:solidFill>
                  <a:srgbClr val="111827"/>
                </a:solidFill>
              </a:rPr>
              <a:t>Ручная вычитка</a:t>
            </a:r>
            <a:endParaRPr lang="ru-RU" sz="1520" noProof="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контроль качества</a:t>
            </a:r>
            <a:endParaRPr lang="ru-RU" sz="1220" noProof="0" dirty="0"/>
          </a:p>
        </p:txBody>
      </p:sp>
      <p:sp>
        <p:nvSpPr>
          <p:cNvPr id="10" name="Shape 8"/>
          <p:cNvSpPr/>
          <p:nvPr/>
        </p:nvSpPr>
        <p:spPr>
          <a:xfrm>
            <a:off x="105156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Text 9"/>
          <p:cNvSpPr/>
          <p:nvPr/>
        </p:nvSpPr>
        <p:spPr>
          <a:xfrm>
            <a:off x="84124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− медленно и рутинно</a:t>
            </a:r>
            <a:endParaRPr lang="ru-RU" sz="1320" noProof="0" dirty="0"/>
          </a:p>
        </p:txBody>
      </p:sp>
      <p:sp>
        <p:nvSpPr>
          <p:cNvPr id="12" name="Shape 10"/>
          <p:cNvSpPr/>
          <p:nvPr/>
        </p:nvSpPr>
        <p:spPr>
          <a:xfrm>
            <a:off x="342900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359359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>
                <a:solidFill>
                  <a:srgbClr val="111827"/>
                </a:solidFill>
              </a:rPr>
              <a:t>RSS / Telegram / поиск</a:t>
            </a:r>
            <a:endParaRPr lang="ru-RU" sz="1520" noProof="0" dirty="0"/>
          </a:p>
        </p:txBody>
      </p:sp>
      <p:sp>
        <p:nvSpPr>
          <p:cNvPr id="14" name="Text 12"/>
          <p:cNvSpPr/>
          <p:nvPr/>
        </p:nvSpPr>
        <p:spPr>
          <a:xfrm>
            <a:off x="363016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быстро собрать поток</a:t>
            </a:r>
            <a:endParaRPr lang="ru-RU" sz="1220" noProof="0" dirty="0"/>
          </a:p>
        </p:txBody>
      </p:sp>
      <p:sp>
        <p:nvSpPr>
          <p:cNvPr id="15" name="Shape 13"/>
          <p:cNvSpPr/>
          <p:nvPr/>
        </p:nvSpPr>
        <p:spPr>
          <a:xfrm>
            <a:off x="384048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Text 14"/>
          <p:cNvSpPr/>
          <p:nvPr/>
        </p:nvSpPr>
        <p:spPr>
          <a:xfrm>
            <a:off x="363016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− нет структуры сюжетов</a:t>
            </a:r>
          </a:p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- нет выделения новизны</a:t>
            </a:r>
            <a:endParaRPr lang="ru-RU" sz="1320" noProof="0" dirty="0"/>
          </a:p>
        </p:txBody>
      </p:sp>
      <p:sp>
        <p:nvSpPr>
          <p:cNvPr id="17" name="Shape 15"/>
          <p:cNvSpPr/>
          <p:nvPr/>
        </p:nvSpPr>
        <p:spPr>
          <a:xfrm>
            <a:off x="621792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638251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>
                <a:solidFill>
                  <a:srgbClr val="111827"/>
                </a:solidFill>
              </a:rPr>
              <a:t>Full-</a:t>
            </a:r>
            <a:r>
              <a:rPr lang="ru-RU" sz="1520" b="1" noProof="0" dirty="0" err="1">
                <a:solidFill>
                  <a:srgbClr val="111827"/>
                </a:solidFill>
              </a:rPr>
              <a:t>cycle</a:t>
            </a:r>
            <a:r>
              <a:rPr lang="ru-RU" sz="1520" b="1" noProof="0" dirty="0">
                <a:solidFill>
                  <a:srgbClr val="111827"/>
                </a:solidFill>
              </a:rPr>
              <a:t> </a:t>
            </a:r>
            <a:r>
              <a:rPr lang="ru-RU" sz="1520" b="1" noProof="0" dirty="0" err="1">
                <a:solidFill>
                  <a:srgbClr val="111827"/>
                </a:solidFill>
              </a:rPr>
              <a:t>SaaS</a:t>
            </a:r>
            <a:endParaRPr lang="ru-RU" sz="1520" noProof="0" dirty="0"/>
          </a:p>
        </p:txBody>
      </p:sp>
      <p:sp>
        <p:nvSpPr>
          <p:cNvPr id="19" name="Text 17"/>
          <p:cNvSpPr/>
          <p:nvPr/>
        </p:nvSpPr>
        <p:spPr>
          <a:xfrm>
            <a:off x="641908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широкий мониторинг</a:t>
            </a:r>
            <a:endParaRPr lang="ru-RU" sz="1220" noProof="0" dirty="0"/>
          </a:p>
        </p:txBody>
      </p:sp>
      <p:sp>
        <p:nvSpPr>
          <p:cNvPr id="20" name="Shape 18"/>
          <p:cNvSpPr/>
          <p:nvPr/>
        </p:nvSpPr>
        <p:spPr>
          <a:xfrm>
            <a:off x="662940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641908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noProof="0" dirty="0">
                <a:solidFill>
                  <a:srgbClr val="F05A4F"/>
                </a:solidFill>
              </a:rPr>
              <a:t>− дорого или избыточно</a:t>
            </a:r>
            <a:endParaRPr lang="ru-RU" sz="1320" noProof="0" dirty="0"/>
          </a:p>
        </p:txBody>
      </p:sp>
      <p:sp>
        <p:nvSpPr>
          <p:cNvPr id="22" name="Shape 20"/>
          <p:cNvSpPr/>
          <p:nvPr/>
        </p:nvSpPr>
        <p:spPr>
          <a:xfrm>
            <a:off x="9006840" y="1993392"/>
            <a:ext cx="2423160" cy="2743200"/>
          </a:xfrm>
          <a:prstGeom prst="roundRect">
            <a:avLst>
              <a:gd name="adj" fmla="val 3774"/>
            </a:avLst>
          </a:prstGeom>
          <a:solidFill>
            <a:srgbClr val="DCFCE7"/>
          </a:solidFill>
          <a:ln w="279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Text 21"/>
          <p:cNvSpPr/>
          <p:nvPr/>
        </p:nvSpPr>
        <p:spPr>
          <a:xfrm>
            <a:off x="9171432" y="2240280"/>
            <a:ext cx="2093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20" b="1" noProof="0" dirty="0" err="1">
                <a:solidFill>
                  <a:srgbClr val="16A34A"/>
                </a:solidFill>
              </a:rPr>
              <a:t>Semantic</a:t>
            </a:r>
            <a:r>
              <a:rPr lang="ru-RU" sz="1520" b="1" noProof="0" dirty="0">
                <a:solidFill>
                  <a:srgbClr val="16A34A"/>
                </a:solidFill>
              </a:rPr>
              <a:t> News </a:t>
            </a:r>
            <a:r>
              <a:rPr lang="ru-RU" sz="1520" b="1" noProof="0" dirty="0" err="1">
                <a:solidFill>
                  <a:srgbClr val="16A34A"/>
                </a:solidFill>
              </a:rPr>
              <a:t>Novelty</a:t>
            </a:r>
            <a:endParaRPr lang="ru-RU" sz="1520" noProof="0" dirty="0"/>
          </a:p>
        </p:txBody>
      </p:sp>
      <p:sp>
        <p:nvSpPr>
          <p:cNvPr id="24" name="Text 22"/>
          <p:cNvSpPr/>
          <p:nvPr/>
        </p:nvSpPr>
        <p:spPr>
          <a:xfrm>
            <a:off x="9208008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220" noProof="0" dirty="0">
                <a:solidFill>
                  <a:srgbClr val="111827"/>
                </a:solidFill>
              </a:rPr>
              <a:t>+ постобработка потока</a:t>
            </a:r>
            <a:endParaRPr lang="ru-RU" sz="1220" noProof="0" dirty="0"/>
          </a:p>
        </p:txBody>
      </p:sp>
      <p:sp>
        <p:nvSpPr>
          <p:cNvPr id="25" name="Shape 23"/>
          <p:cNvSpPr/>
          <p:nvPr/>
        </p:nvSpPr>
        <p:spPr>
          <a:xfrm>
            <a:off x="9418320" y="3520440"/>
            <a:ext cx="16002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Text 24"/>
          <p:cNvSpPr/>
          <p:nvPr/>
        </p:nvSpPr>
        <p:spPr>
          <a:xfrm>
            <a:off x="9208008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320" b="1" noProof="0" dirty="0">
                <a:solidFill>
                  <a:srgbClr val="16A34A"/>
                </a:solidFill>
              </a:rPr>
              <a:t>✓ сюжеты + новизна + поиск</a:t>
            </a:r>
            <a:endParaRPr lang="ru-RU" sz="1320" noProof="0" dirty="0"/>
          </a:p>
        </p:txBody>
      </p:sp>
      <p:sp>
        <p:nvSpPr>
          <p:cNvPr id="27" name="Shape 25"/>
          <p:cNvSpPr/>
          <p:nvPr/>
        </p:nvSpPr>
        <p:spPr>
          <a:xfrm>
            <a:off x="640080" y="5380182"/>
            <a:ext cx="10789920" cy="563418"/>
          </a:xfrm>
          <a:prstGeom prst="roundRect">
            <a:avLst>
              <a:gd name="adj" fmla="val 10256"/>
            </a:avLst>
          </a:prstGeom>
          <a:noFill/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noProof="0" dirty="0">
                <a:solidFill>
                  <a:srgbClr val="111827"/>
                </a:solidFill>
              </a:rPr>
              <a:t>Не заменяем сбор новостей — превращаем собранный поток в рабочий материал.</a:t>
            </a:r>
            <a:endParaRPr lang="ru-RU" sz="16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Продукт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05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16736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 err="1">
                <a:solidFill>
                  <a:srgbClr val="111827"/>
                </a:solidFill>
              </a:rPr>
              <a:t>Semantic</a:t>
            </a:r>
            <a:r>
              <a:rPr lang="ru-RU" sz="2200" b="1" noProof="0" dirty="0">
                <a:solidFill>
                  <a:srgbClr val="111827"/>
                </a:solidFill>
              </a:rPr>
              <a:t> News </a:t>
            </a:r>
            <a:r>
              <a:rPr lang="ru-RU" sz="2200" b="1" noProof="0" dirty="0" err="1">
                <a:solidFill>
                  <a:srgbClr val="111827"/>
                </a:solidFill>
              </a:rPr>
              <a:t>Novelty</a:t>
            </a:r>
            <a:r>
              <a:rPr lang="ru-RU" sz="2200" b="1" noProof="0" dirty="0">
                <a:solidFill>
                  <a:srgbClr val="111827"/>
                </a:solidFill>
              </a:rPr>
              <a:t>: от новостной ленты к структуре обзора</a:t>
            </a:r>
            <a:endParaRPr lang="ru-RU" sz="2200" noProof="0" dirty="0"/>
          </a:p>
        </p:txBody>
      </p:sp>
      <p:sp>
        <p:nvSpPr>
          <p:cNvPr id="11" name="Shape 9"/>
          <p:cNvSpPr/>
          <p:nvPr/>
        </p:nvSpPr>
        <p:spPr>
          <a:xfrm>
            <a:off x="8488219" y="3322136"/>
            <a:ext cx="631093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777241" y="2673604"/>
            <a:ext cx="2169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dirty="0">
                <a:solidFill>
                  <a:srgbClr val="64748B"/>
                </a:solidFill>
              </a:rPr>
              <a:t>Поток</a:t>
            </a:r>
            <a:endParaRPr lang="ru-RU" dirty="0"/>
          </a:p>
          <a:p>
            <a:pPr algn="ctr"/>
            <a:r>
              <a:rPr lang="ru-RU" b="1" dirty="0">
                <a:solidFill>
                  <a:srgbClr val="64748B"/>
                </a:solidFill>
              </a:rPr>
              <a:t>новостей</a:t>
            </a:r>
            <a:endParaRPr lang="ru-RU" noProof="0" dirty="0"/>
          </a:p>
        </p:txBody>
      </p:sp>
      <p:sp>
        <p:nvSpPr>
          <p:cNvPr id="14" name="Shape 12"/>
          <p:cNvSpPr/>
          <p:nvPr/>
        </p:nvSpPr>
        <p:spPr>
          <a:xfrm>
            <a:off x="3552801" y="2673604"/>
            <a:ext cx="212780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dirty="0">
                <a:solidFill>
                  <a:srgbClr val="2563EB"/>
                </a:solidFill>
              </a:rPr>
              <a:t>Группируем</a:t>
            </a:r>
            <a:endParaRPr lang="ru-RU" dirty="0"/>
          </a:p>
          <a:p>
            <a:pPr algn="ctr"/>
            <a:r>
              <a:rPr lang="ru-RU" b="1" dirty="0">
                <a:solidFill>
                  <a:srgbClr val="2563EB"/>
                </a:solidFill>
              </a:rPr>
              <a:t>в сюжеты</a:t>
            </a:r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6328360" y="2672912"/>
            <a:ext cx="2169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F05A4F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noProof="0" dirty="0">
                <a:solidFill>
                  <a:srgbClr val="F05A4F"/>
                </a:solidFill>
              </a:rPr>
              <a:t>Оцениваем</a:t>
            </a:r>
            <a:endParaRPr lang="ru-RU" noProof="0" dirty="0"/>
          </a:p>
          <a:p>
            <a:pPr algn="ctr"/>
            <a:r>
              <a:rPr lang="ru-RU" b="1" noProof="0" dirty="0">
                <a:solidFill>
                  <a:srgbClr val="F05A4F"/>
                </a:solidFill>
              </a:rPr>
              <a:t>новизну</a:t>
            </a:r>
            <a:endParaRPr lang="ru-RU" noProof="0" dirty="0"/>
          </a:p>
        </p:txBody>
      </p:sp>
      <p:sp>
        <p:nvSpPr>
          <p:cNvPr id="18" name="Shape 16"/>
          <p:cNvSpPr/>
          <p:nvPr/>
        </p:nvSpPr>
        <p:spPr>
          <a:xfrm>
            <a:off x="9119312" y="2672912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16A34A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noProof="0" dirty="0">
                <a:solidFill>
                  <a:srgbClr val="16A34A"/>
                </a:solidFill>
              </a:rPr>
              <a:t>Ищем</a:t>
            </a:r>
            <a:endParaRPr lang="ru-RU" noProof="0" dirty="0"/>
          </a:p>
          <a:p>
            <a:pPr algn="ctr"/>
            <a:r>
              <a:rPr lang="ru-RU" b="1" noProof="0" dirty="0">
                <a:solidFill>
                  <a:srgbClr val="16A34A"/>
                </a:solidFill>
              </a:rPr>
              <a:t>по смыслу</a:t>
            </a:r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ru-RU" b="1" dirty="0"/>
              <a:t>На выходе:</a:t>
            </a:r>
            <a:r>
              <a:rPr lang="ru-RU" dirty="0"/>
              <a:t> сюжеты, новизна и поиск по смыслу.</a:t>
            </a:r>
            <a:endParaRPr lang="ru-RU" noProof="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4F02C73-BBB9-A11F-560E-BC6010B5E8C9}"/>
              </a:ext>
            </a:extLst>
          </p:cNvPr>
          <p:cNvSpPr/>
          <p:nvPr/>
        </p:nvSpPr>
        <p:spPr>
          <a:xfrm>
            <a:off x="5696634" y="3282558"/>
            <a:ext cx="631093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E884F3D3-C295-1C81-36AD-2E5C48E629BD}"/>
              </a:ext>
            </a:extLst>
          </p:cNvPr>
          <p:cNvSpPr/>
          <p:nvPr/>
        </p:nvSpPr>
        <p:spPr>
          <a:xfrm>
            <a:off x="2946402" y="3290824"/>
            <a:ext cx="606400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900" b="1" dirty="0">
                <a:latin typeface="+mj-lt"/>
              </a:rPr>
              <a:t>MVP: от модели к рабочему сервису</a:t>
            </a:r>
            <a:endParaRPr lang="ru-RU" sz="2900" b="1" noProof="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06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8229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Пользователь</a:t>
            </a:r>
            <a:endParaRPr lang="ru-RU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семантический поиск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новости по датам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история поиска</a:t>
            </a:r>
            <a:endParaRPr lang="ru-RU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82296" cy="214884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Редактор</a:t>
            </a:r>
            <a:endParaRPr lang="ru-RU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импорт CSV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черновики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ручная правка меток</a:t>
            </a:r>
            <a:endParaRPr lang="ru-RU" sz="1350" noProof="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82296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836676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16A34A"/>
                </a:solidFill>
              </a:rPr>
              <a:t>Администратор</a:t>
            </a:r>
            <a:endParaRPr lang="ru-RU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36676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пользователи и роли</a:t>
            </a:r>
          </a:p>
          <a:p>
            <a:pPr marL="0" indent="0">
              <a:buNone/>
            </a:pPr>
            <a:r>
              <a:rPr lang="ru-RU" sz="1350" dirty="0">
                <a:solidFill>
                  <a:srgbClr val="111827"/>
                </a:solidFill>
              </a:rPr>
              <a:t>• организации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баланс и кредиты</a:t>
            </a:r>
            <a:endParaRPr lang="ru-RU" sz="1350" noProof="0" dirty="0"/>
          </a:p>
        </p:txBody>
      </p:sp>
      <p:sp>
        <p:nvSpPr>
          <p:cNvPr id="19" name="Shape 17"/>
          <p:cNvSpPr/>
          <p:nvPr/>
        </p:nvSpPr>
        <p:spPr>
          <a:xfrm>
            <a:off x="914400" y="5093206"/>
            <a:ext cx="10332720" cy="438913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Стек: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FastAPI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· PostgreSQL/pgvector · RabbitMQ/Celery · BGE-M3 · Prometheus/Grafana · Docker Compose</a:t>
            </a:r>
            <a:endParaRPr lang="ru-RU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19" y="320040"/>
            <a:ext cx="10128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Метрики: польза для аналитика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07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Shape 15"/>
          <p:cNvSpPr/>
          <p:nvPr/>
        </p:nvSpPr>
        <p:spPr>
          <a:xfrm>
            <a:off x="685800" y="2600798"/>
            <a:ext cx="3154680" cy="240531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Shape 16"/>
          <p:cNvSpPr/>
          <p:nvPr/>
        </p:nvSpPr>
        <p:spPr>
          <a:xfrm>
            <a:off x="685800" y="2600798"/>
            <a:ext cx="82296" cy="240531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2765391"/>
            <a:ext cx="27706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Меньше повторов</a:t>
            </a:r>
            <a:endParaRPr lang="ru-RU" sz="1550" noProof="0" dirty="0"/>
          </a:p>
        </p:txBody>
      </p:sp>
      <p:sp>
        <p:nvSpPr>
          <p:cNvPr id="20" name="Text 18"/>
          <p:cNvSpPr/>
          <p:nvPr/>
        </p:nvSpPr>
        <p:spPr>
          <a:xfrm>
            <a:off x="914400" y="3513856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1000" dirty="0">
                <a:solidFill>
                  <a:srgbClr val="111827"/>
                </a:solidFill>
              </a:rPr>
              <a:t>повторов</a:t>
            </a:r>
            <a:r>
              <a:rPr lang="ru-RU" sz="1000" noProof="0" dirty="0">
                <a:solidFill>
                  <a:srgbClr val="111827"/>
                </a:solidFill>
              </a:rPr>
              <a:t> в </a:t>
            </a:r>
            <a:r>
              <a:rPr lang="en-US" sz="1000" noProof="0" dirty="0">
                <a:solidFill>
                  <a:srgbClr val="111827"/>
                </a:solidFill>
              </a:rPr>
              <a:t>Top-10 </a:t>
            </a:r>
            <a:r>
              <a:rPr lang="ru-RU" sz="1000" noProof="0" dirty="0">
                <a:solidFill>
                  <a:srgbClr val="111827"/>
                </a:solidFill>
              </a:rPr>
              <a:t>выдаче</a:t>
            </a:r>
            <a:endParaRPr lang="ru-RU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4229515" y="2600797"/>
            <a:ext cx="3154680" cy="240531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Shape 20"/>
          <p:cNvSpPr/>
          <p:nvPr/>
        </p:nvSpPr>
        <p:spPr>
          <a:xfrm>
            <a:off x="4229515" y="2600797"/>
            <a:ext cx="82296" cy="2405312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Text 21"/>
          <p:cNvSpPr/>
          <p:nvPr/>
        </p:nvSpPr>
        <p:spPr>
          <a:xfrm>
            <a:off x="4425880" y="2765391"/>
            <a:ext cx="2770632" cy="2719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Меньше пропусков</a:t>
            </a:r>
            <a:endParaRPr lang="ru-RU" sz="1550" noProof="0" dirty="0"/>
          </a:p>
        </p:txBody>
      </p:sp>
      <p:sp>
        <p:nvSpPr>
          <p:cNvPr id="25" name="Shape 23"/>
          <p:cNvSpPr/>
          <p:nvPr/>
        </p:nvSpPr>
        <p:spPr>
          <a:xfrm>
            <a:off x="7690934" y="2600799"/>
            <a:ext cx="3154680" cy="240531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Shape 24"/>
          <p:cNvSpPr/>
          <p:nvPr/>
        </p:nvSpPr>
        <p:spPr>
          <a:xfrm>
            <a:off x="7690934" y="2600799"/>
            <a:ext cx="82296" cy="240531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Text 25"/>
          <p:cNvSpPr/>
          <p:nvPr/>
        </p:nvSpPr>
        <p:spPr>
          <a:xfrm>
            <a:off x="7919534" y="2765391"/>
            <a:ext cx="27706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16A34A"/>
                </a:solidFill>
              </a:rPr>
              <a:t>Лучше собраны сюжеты</a:t>
            </a:r>
            <a:endParaRPr lang="ru-RU" sz="1550" noProof="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3B144D4D-5BC8-1F79-8D98-FE53CCE712AB}"/>
              </a:ext>
            </a:extLst>
          </p:cNvPr>
          <p:cNvSpPr/>
          <p:nvPr/>
        </p:nvSpPr>
        <p:spPr>
          <a:xfrm>
            <a:off x="914400" y="3037356"/>
            <a:ext cx="1096356" cy="4419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111827"/>
                </a:solidFill>
              </a:rPr>
              <a:t>-75%</a:t>
            </a:r>
            <a:endParaRPr lang="ru-RU" sz="3200" b="1" noProof="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27C299C2-CAAE-A259-F5BA-B2E6E7D820D2}"/>
              </a:ext>
            </a:extLst>
          </p:cNvPr>
          <p:cNvSpPr/>
          <p:nvPr/>
        </p:nvSpPr>
        <p:spPr>
          <a:xfrm>
            <a:off x="932687" y="4014527"/>
            <a:ext cx="2803883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2580C28-2A9D-AFE2-CBE9-C5FF6849704C}"/>
              </a:ext>
            </a:extLst>
          </p:cNvPr>
          <p:cNvSpPr/>
          <p:nvPr/>
        </p:nvSpPr>
        <p:spPr>
          <a:xfrm>
            <a:off x="932687" y="4208980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MRR@10: 0.9</a:t>
            </a: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0.99</a:t>
            </a:r>
            <a:endParaRPr lang="ru-RU" sz="10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4A6CB324-3782-2E75-95EB-3DD983B56AB1}"/>
              </a:ext>
            </a:extLst>
          </p:cNvPr>
          <p:cNvSpPr/>
          <p:nvPr/>
        </p:nvSpPr>
        <p:spPr>
          <a:xfrm>
            <a:off x="4425880" y="3513856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ru-RU" sz="1000" dirty="0"/>
              <a:t>значимых обновлений найдено</a:t>
            </a:r>
            <a:endParaRPr lang="ru-RU" sz="1000" noProof="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3F24BDA-5F1C-9209-5D67-80FB06FDF9B9}"/>
              </a:ext>
            </a:extLst>
          </p:cNvPr>
          <p:cNvSpPr/>
          <p:nvPr/>
        </p:nvSpPr>
        <p:spPr>
          <a:xfrm>
            <a:off x="4425880" y="3037356"/>
            <a:ext cx="1096356" cy="4419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3200" b="1" noProof="0" dirty="0">
                <a:solidFill>
                  <a:srgbClr val="111827"/>
                </a:solidFill>
              </a:rPr>
              <a:t>99</a:t>
            </a:r>
            <a:r>
              <a:rPr lang="en-US" sz="3200" b="1" noProof="0" dirty="0">
                <a:solidFill>
                  <a:srgbClr val="111827"/>
                </a:solidFill>
              </a:rPr>
              <a:t>%</a:t>
            </a:r>
            <a:endParaRPr lang="ru-RU" sz="3200" b="1" noProof="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B35DA26D-21DF-0B9C-335B-B19D22A7C10E}"/>
              </a:ext>
            </a:extLst>
          </p:cNvPr>
          <p:cNvSpPr/>
          <p:nvPr/>
        </p:nvSpPr>
        <p:spPr>
          <a:xfrm>
            <a:off x="4444167" y="4014526"/>
            <a:ext cx="2803883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4F4D3F7C-000F-323C-5D69-BCA04F7DC0F8}"/>
              </a:ext>
            </a:extLst>
          </p:cNvPr>
          <p:cNvSpPr/>
          <p:nvPr/>
        </p:nvSpPr>
        <p:spPr>
          <a:xfrm>
            <a:off x="4444167" y="4208980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 </a:t>
            </a: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обновлений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0.51 → 0.99</a:t>
            </a:r>
            <a:endParaRPr lang="ru-RU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F1 </a:t>
            </a: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обновлений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0.63 → 0.91</a:t>
            </a:r>
            <a:endParaRPr lang="ru-RU" sz="10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AFCFBDA4-EF8D-4766-6289-8265B8F2C858}"/>
              </a:ext>
            </a:extLst>
          </p:cNvPr>
          <p:cNvSpPr/>
          <p:nvPr/>
        </p:nvSpPr>
        <p:spPr>
          <a:xfrm>
            <a:off x="7934839" y="3513857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ru-RU" sz="1000" dirty="0"/>
              <a:t>связей внутри сюжетов найдено</a:t>
            </a:r>
            <a:endParaRPr lang="ru-RU" sz="1000" noProof="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E4D255CA-A0A6-4673-5EAC-9D06FAA1505D}"/>
              </a:ext>
            </a:extLst>
          </p:cNvPr>
          <p:cNvSpPr/>
          <p:nvPr/>
        </p:nvSpPr>
        <p:spPr>
          <a:xfrm>
            <a:off x="7934839" y="3037357"/>
            <a:ext cx="1096356" cy="4419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111827"/>
                </a:solidFill>
              </a:rPr>
              <a:t>8</a:t>
            </a:r>
            <a:r>
              <a:rPr lang="en-US" sz="3200" b="1" noProof="0" dirty="0">
                <a:solidFill>
                  <a:srgbClr val="111827"/>
                </a:solidFill>
              </a:rPr>
              <a:t>3%</a:t>
            </a:r>
            <a:endParaRPr lang="ru-RU" sz="3200" b="1" noProof="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5A58D288-86EE-1073-E2F7-DDD8CFAC8DF8}"/>
              </a:ext>
            </a:extLst>
          </p:cNvPr>
          <p:cNvSpPr/>
          <p:nvPr/>
        </p:nvSpPr>
        <p:spPr>
          <a:xfrm>
            <a:off x="7953126" y="4014526"/>
            <a:ext cx="2803883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05253F96-B381-7B64-7B59-BD60F9A93A8D}"/>
              </a:ext>
            </a:extLst>
          </p:cNvPr>
          <p:cNvSpPr/>
          <p:nvPr/>
        </p:nvSpPr>
        <p:spPr>
          <a:xfrm>
            <a:off x="7953126" y="4208981"/>
            <a:ext cx="2770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 сюжетов: 0.63 → 0.83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F1 сюжетов: 0.77 → 0.90</a:t>
            </a:r>
            <a:endParaRPr lang="ru-RU" sz="10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A74208C0-BE88-950A-E373-1CB8006F6A9D}"/>
              </a:ext>
            </a:extLst>
          </p:cNvPr>
          <p:cNvSpPr/>
          <p:nvPr/>
        </p:nvSpPr>
        <p:spPr>
          <a:xfrm>
            <a:off x="68580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1600" noProof="0" dirty="0">
                <a:solidFill>
                  <a:srgbClr val="111827"/>
                </a:solidFill>
              </a:rPr>
              <a:t>Собственный бейзлайн → финальный пайплайн</a:t>
            </a:r>
            <a:endParaRPr lang="ru-RU" sz="16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>
                <a:alpha val="0"/>
              </a:srgbClr>
            </a:solidFill>
            <a:prstDash val="solid"/>
            <a:tailEnd w="sm" len="me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Схема сервиса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08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Shape 7"/>
          <p:cNvSpPr/>
          <p:nvPr/>
        </p:nvSpPr>
        <p:spPr>
          <a:xfrm>
            <a:off x="6656832" y="2716692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Shape 9"/>
          <p:cNvSpPr/>
          <p:nvPr/>
        </p:nvSpPr>
        <p:spPr>
          <a:xfrm>
            <a:off x="786384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Text 10"/>
          <p:cNvSpPr/>
          <p:nvPr/>
        </p:nvSpPr>
        <p:spPr>
          <a:xfrm>
            <a:off x="896112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UI</a:t>
            </a:r>
            <a:endParaRPr lang="ru-RU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905256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Streamlit</a:t>
            </a:r>
            <a:endParaRPr lang="ru-RU" sz="1120" noProof="0" dirty="0"/>
          </a:p>
        </p:txBody>
      </p:sp>
      <p:sp>
        <p:nvSpPr>
          <p:cNvPr id="14" name="Shape 12"/>
          <p:cNvSpPr/>
          <p:nvPr/>
        </p:nvSpPr>
        <p:spPr>
          <a:xfrm>
            <a:off x="2874265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Text 13"/>
          <p:cNvSpPr/>
          <p:nvPr/>
        </p:nvSpPr>
        <p:spPr>
          <a:xfrm>
            <a:off x="2983993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API</a:t>
            </a:r>
            <a:endParaRPr lang="ru-RU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2993137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FastAPI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nginx</a:t>
            </a:r>
            <a:endParaRPr lang="ru-RU" sz="1120" noProof="0" dirty="0"/>
          </a:p>
        </p:txBody>
      </p:sp>
      <p:sp>
        <p:nvSpPr>
          <p:cNvPr id="17" name="Shape 15"/>
          <p:cNvSpPr/>
          <p:nvPr/>
        </p:nvSpPr>
        <p:spPr>
          <a:xfrm>
            <a:off x="4977385" y="1989189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05A4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5087113" y="2190357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Очередь</a:t>
            </a:r>
          </a:p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задач</a:t>
            </a:r>
            <a:endParaRPr lang="ru-RU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5096257" y="2647557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RabbitMQ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Celery</a:t>
            </a:r>
            <a:endParaRPr lang="ru-RU" sz="1120" noProof="0" dirty="0"/>
          </a:p>
        </p:txBody>
      </p:sp>
      <p:sp>
        <p:nvSpPr>
          <p:cNvPr id="20" name="Shape 18"/>
          <p:cNvSpPr/>
          <p:nvPr/>
        </p:nvSpPr>
        <p:spPr>
          <a:xfrm>
            <a:off x="7022592" y="19888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05A4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7132320" y="2189988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ML</a:t>
            </a:r>
            <a:r>
              <a:rPr lang="en-US" sz="2000" b="1" noProof="0" dirty="0">
                <a:solidFill>
                  <a:srgbClr val="F05A4F"/>
                </a:solidFill>
              </a:rPr>
              <a:t>-</a:t>
            </a:r>
            <a:r>
              <a:rPr lang="ru-RU" sz="2000" b="1" noProof="0" dirty="0" err="1">
                <a:solidFill>
                  <a:srgbClr val="F05A4F"/>
                </a:solidFill>
              </a:rPr>
              <a:t>воркер</a:t>
            </a:r>
            <a:endParaRPr lang="ru-RU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7141464" y="2647188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эмбеддинги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кластеры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новизна</a:t>
            </a:r>
            <a:endParaRPr lang="ru-RU" sz="1120" noProof="0" dirty="0"/>
          </a:p>
        </p:txBody>
      </p:sp>
      <p:sp>
        <p:nvSpPr>
          <p:cNvPr id="23" name="Shape 21"/>
          <p:cNvSpPr/>
          <p:nvPr/>
        </p:nvSpPr>
        <p:spPr>
          <a:xfrm>
            <a:off x="9144000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Text 22"/>
          <p:cNvSpPr/>
          <p:nvPr/>
        </p:nvSpPr>
        <p:spPr>
          <a:xfrm>
            <a:off x="9253728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16A34A"/>
                </a:solidFill>
              </a:rPr>
              <a:t>БД + векторы</a:t>
            </a:r>
            <a:endParaRPr lang="ru-RU" sz="2000" noProof="0" dirty="0"/>
          </a:p>
        </p:txBody>
      </p:sp>
      <p:sp>
        <p:nvSpPr>
          <p:cNvPr id="25" name="Text 23"/>
          <p:cNvSpPr/>
          <p:nvPr/>
        </p:nvSpPr>
        <p:spPr>
          <a:xfrm>
            <a:off x="9262872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PostgreSQL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pgvector</a:t>
            </a:r>
            <a:endParaRPr lang="ru-RU" sz="1120" noProof="0" dirty="0"/>
          </a:p>
        </p:txBody>
      </p:sp>
      <p:sp>
        <p:nvSpPr>
          <p:cNvPr id="26" name="Shape 24"/>
          <p:cNvSpPr/>
          <p:nvPr/>
        </p:nvSpPr>
        <p:spPr>
          <a:xfrm>
            <a:off x="7896999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Shape 25"/>
          <p:cNvSpPr/>
          <p:nvPr/>
        </p:nvSpPr>
        <p:spPr>
          <a:xfrm>
            <a:off x="4977385" y="4152668"/>
            <a:ext cx="590397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algn="ctr"/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05984" y="4327694"/>
            <a:ext cx="5556501" cy="2913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50" b="1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Мониторинг</a:t>
            </a:r>
            <a:endParaRPr lang="ru-RU" sz="1550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05985" y="4673875"/>
            <a:ext cx="5556500" cy="3763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ru-RU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Prometheus</a:t>
            </a:r>
            <a:r>
              <a:rPr lang="ru-RU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</a:t>
            </a:r>
            <a:r>
              <a:rPr lang="ru-RU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Grafana</a:t>
            </a:r>
            <a:endParaRPr lang="ru-RU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очередь · скорость · ошибки · ресурсы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B4EEA35-77D9-007C-0EA1-6CD1594B57E0}"/>
              </a:ext>
            </a:extLst>
          </p:cNvPr>
          <p:cNvSpPr/>
          <p:nvPr/>
        </p:nvSpPr>
        <p:spPr>
          <a:xfrm>
            <a:off x="8769096" y="2719186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7CD1ACC0-AC91-724D-5B06-70F231714D6B}"/>
              </a:ext>
            </a:extLst>
          </p:cNvPr>
          <p:cNvSpPr/>
          <p:nvPr/>
        </p:nvSpPr>
        <p:spPr>
          <a:xfrm>
            <a:off x="4611625" y="2714198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3A7526EC-E036-2473-BA73-FC6A947C1DCF}"/>
              </a:ext>
            </a:extLst>
          </p:cNvPr>
          <p:cNvSpPr/>
          <p:nvPr/>
        </p:nvSpPr>
        <p:spPr>
          <a:xfrm>
            <a:off x="2523744" y="2697849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89A38890-4BB4-7BD6-B716-4CF364C7F953}"/>
              </a:ext>
            </a:extLst>
          </p:cNvPr>
          <p:cNvSpPr/>
          <p:nvPr/>
        </p:nvSpPr>
        <p:spPr>
          <a:xfrm>
            <a:off x="5791108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spc="-150" noProof="0" dirty="0"/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49C50FEE-E70D-671C-7615-B903465A9418}"/>
              </a:ext>
            </a:extLst>
          </p:cNvPr>
          <p:cNvSpPr/>
          <p:nvPr/>
        </p:nvSpPr>
        <p:spPr>
          <a:xfrm>
            <a:off x="10049071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Применение AI-инструментов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09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813261" y="1591056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813261" y="1591056"/>
            <a:ext cx="82296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41861" y="1755648"/>
            <a:ext cx="4462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AI ускорял</a:t>
            </a:r>
            <a:endParaRPr lang="ru-RU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041861" y="2167128"/>
            <a:ext cx="446227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обсуждение архитектуры</a:t>
            </a:r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поиск и разбор ошибок</a:t>
            </a:r>
            <a:endParaRPr lang="ru-RU" noProof="0" dirty="0"/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рефакторинг и документацию</a:t>
            </a:r>
            <a:endParaRPr lang="ru-RU" noProof="0" dirty="0"/>
          </a:p>
        </p:txBody>
      </p:sp>
      <p:sp>
        <p:nvSpPr>
          <p:cNvPr id="11" name="Shape 9"/>
          <p:cNvSpPr/>
          <p:nvPr/>
        </p:nvSpPr>
        <p:spPr>
          <a:xfrm>
            <a:off x="6436821" y="1591056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36821" y="1591056"/>
            <a:ext cx="82296" cy="228600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65421" y="1654325"/>
            <a:ext cx="4462272" cy="4030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Я отвечал за</a:t>
            </a:r>
            <a:endParaRPr lang="ru-RU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6665421" y="2167128"/>
            <a:ext cx="446227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rgbClr val="111827"/>
                </a:solidFill>
              </a:rPr>
              <a:t>• концепцию и задачу</a:t>
            </a:r>
            <a:endParaRPr lang="ru-RU" noProof="0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метрики и данные</a:t>
            </a:r>
            <a:endParaRPr lang="ru-RU" noProof="0" dirty="0"/>
          </a:p>
          <a:p>
            <a:pPr marL="0" indent="0">
              <a:buNone/>
            </a:pPr>
            <a:r>
              <a:rPr lang="ru-RU" noProof="0" dirty="0">
                <a:solidFill>
                  <a:srgbClr val="111827"/>
                </a:solidFill>
              </a:rPr>
              <a:t>• проверку качества</a:t>
            </a:r>
          </a:p>
          <a:p>
            <a:r>
              <a:rPr lang="ru-RU" dirty="0">
                <a:solidFill>
                  <a:srgbClr val="111827"/>
                </a:solidFill>
              </a:rPr>
              <a:t>• </a:t>
            </a:r>
            <a:r>
              <a:rPr lang="ru-RU" noProof="0" dirty="0">
                <a:solidFill>
                  <a:srgbClr val="111827"/>
                </a:solidFill>
              </a:rPr>
              <a:t>финальные решения</a:t>
            </a:r>
            <a:endParaRPr lang="ru-RU" noProof="0" dirty="0"/>
          </a:p>
        </p:txBody>
      </p:sp>
      <p:sp>
        <p:nvSpPr>
          <p:cNvPr id="15" name="Shape 13"/>
          <p:cNvSpPr/>
          <p:nvPr/>
        </p:nvSpPr>
        <p:spPr>
          <a:xfrm>
            <a:off x="813261" y="5029200"/>
            <a:ext cx="10469880" cy="658368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b="1" dirty="0">
                <a:solidFill>
                  <a:srgbClr val="111827"/>
                </a:solidFill>
              </a:rPr>
              <a:t>Принцип: </a:t>
            </a:r>
            <a:r>
              <a:rPr lang="ru-RU" sz="1600" dirty="0">
                <a:solidFill>
                  <a:srgbClr val="111827"/>
                </a:solidFill>
              </a:rPr>
              <a:t>AI — помощник в разработке, не автор проекта.</a:t>
            </a:r>
            <a:endParaRPr lang="ru-RU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10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Один сценарий: редактор загружает поток и получает результат модели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8" name="Image 0" descr="/mnt/data/snn_assets/crops_v5/im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4" y="1837944"/>
            <a:ext cx="5016473" cy="1673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56616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1. Загружаю CSV</a:t>
            </a:r>
            <a:endParaRPr lang="ru-RU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1" name="Image 1" descr="/mnt/data/snn_assets/crops_v5/editor_l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352" y="1837944"/>
            <a:ext cx="3700936" cy="1673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1072" y="356616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2. Запускаю модель</a:t>
            </a:r>
            <a:endParaRPr lang="ru-RU" sz="1150" noProof="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4" name="Image 2" descr="/mnt/data/snn_assets/crops_v5/news_da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526" y="4078224"/>
            <a:ext cx="3796909" cy="1673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580644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3. Вижу сюжеты</a:t>
            </a:r>
            <a:endParaRPr lang="ru-RU" sz="1150" noProof="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7" name="Image 3" descr="/mnt/data/snn_assets/crops_v5/searc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824" y="4078224"/>
            <a:ext cx="3897991" cy="1673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1072" y="580644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4. Ищу по смыслу</a:t>
            </a:r>
            <a:endParaRPr lang="ru-RU" sz="1150" noProof="0" dirty="0"/>
          </a:p>
        </p:txBody>
      </p:sp>
      <p:sp>
        <p:nvSpPr>
          <p:cNvPr id="19" name="Text 13"/>
          <p:cNvSpPr/>
          <p:nvPr/>
        </p:nvSpPr>
        <p:spPr>
          <a:xfrm>
            <a:off x="1005840" y="6419088"/>
            <a:ext cx="10149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150" noProof="0" dirty="0">
                <a:solidFill>
                  <a:srgbClr val="64748B"/>
                </a:solidFill>
              </a:rPr>
              <a:t>Live-показ — 30–60 секунд. Комментирую каждый шаг по ходу.</a:t>
            </a:r>
            <a:endParaRPr lang="ru-RU" sz="11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Преимущества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11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Не ещё одна лента, а рабочий инструмент аналитика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82296" cy="16279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2563EB"/>
                </a:solidFill>
              </a:rPr>
              <a:t>Быстрый обзор</a:t>
            </a:r>
            <a:endParaRPr lang="ru-RU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2721587"/>
            <a:ext cx="295351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сюжеты собраны сразу</a:t>
            </a:r>
            <a:endParaRPr lang="ru-RU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82296" cy="1627909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F05A4F"/>
                </a:solidFill>
              </a:rPr>
              <a:t>Меньше шума</a:t>
            </a:r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721587"/>
            <a:ext cx="295351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повторы уходят на второй план</a:t>
            </a:r>
            <a:endParaRPr lang="ru-RU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82296" cy="162790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83210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16A34A"/>
                </a:solidFill>
              </a:rPr>
              <a:t>Редакторский контроль</a:t>
            </a:r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8321040" y="2721587"/>
            <a:ext cx="309372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dirty="0"/>
              <a:t>метки можно исправить вручную</a:t>
            </a:r>
            <a:endParaRPr lang="ru-RU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1074420" y="4748877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dirty="0">
                <a:solidFill>
                  <a:srgbClr val="111827"/>
                </a:solidFill>
              </a:rPr>
              <a:t>Сервис не просто ищет новости — он превращает поток в рабочую структуру.</a:t>
            </a:r>
            <a:endParaRPr lang="ru-RU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 и планы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12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000" b="1" noProof="0" dirty="0">
                <a:latin typeface="+mj-lt"/>
              </a:rPr>
              <a:t>Следующий шаг — пилот на реальном новостном потоке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2592323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592323"/>
            <a:ext cx="82296" cy="214884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756915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F05A4F"/>
                </a:solidFill>
              </a:rPr>
              <a:t>Риски</a:t>
            </a:r>
            <a:endParaRPr lang="ru-RU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5"/>
            <a:ext cx="45994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малый объём ручной разметки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нет пилота с клиентом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конкуренция с LLM и </a:t>
            </a:r>
            <a:r>
              <a:rPr lang="ru-RU" sz="1350" noProof="0" dirty="0" err="1">
                <a:solidFill>
                  <a:srgbClr val="111827"/>
                </a:solidFill>
              </a:rPr>
              <a:t>SaaS</a:t>
            </a:r>
            <a:endParaRPr lang="ru-RU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0" y="2592323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0" y="2592323"/>
            <a:ext cx="8229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29400" y="2756915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2563EB"/>
                </a:solidFill>
              </a:rPr>
              <a:t>Следующие шаги</a:t>
            </a:r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6629400" y="3168395"/>
            <a:ext cx="45994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данные: расширить разметку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ML: пакетная обработка и названия сюжетов</a:t>
            </a:r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интеграции: RSS/API и форматы импорта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 пилот: проверить ценность и монетизацию</a:t>
            </a:r>
          </a:p>
          <a:p>
            <a:pPr marL="0" indent="0">
              <a:buNone/>
            </a:pPr>
            <a:endParaRPr lang="ru-RU" sz="1350" noProof="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ru-RU" sz="13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1662</Words>
  <Application>Microsoft Office PowerPoint</Application>
  <PresentationFormat>Широкоэкранный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News Novelty</dc:title>
  <dc:subject>Semantic News Novelty pitch</dc:subject>
  <dc:creator>OpenAI</dc:creator>
  <cp:lastModifiedBy>Константин Лебедев</cp:lastModifiedBy>
  <cp:revision>66</cp:revision>
  <dcterms:created xsi:type="dcterms:W3CDTF">2026-06-26T17:10:30Z</dcterms:created>
  <dcterms:modified xsi:type="dcterms:W3CDTF">2026-06-27T16:16:31Z</dcterms:modified>
</cp:coreProperties>
</file>